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6035040"/>
          </a:xfrm>
          <a:prstGeom prst="rect">
            <a:avLst/>
          </a:prstGeom>
          <a:solidFill>
            <a:srgbClr val="131A2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502920"/>
            <a:ext cx="1188720" cy="118872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3504" y="5029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020824" y="384048"/>
            <a:ext cx="1828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ReviewIQ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2020824" y="1298448"/>
            <a:ext cx="2194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Product Review Intelligence &amp; Consumer Insight System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2020824" y="1847088"/>
            <a:ext cx="2057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multi-model NLP &amp; machine learning pipeline for e-commerce review analytics, built on the Amazon Reviews 2023 dataset (McAuley Lab) — Electronics category.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1442680" y="4572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Name]</a:t>
            </a:r>
            <a:endParaRPr lang="en-US" sz="18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[Institution / University]</a:t>
            </a:r>
            <a:endParaRPr lang="en-US" sz="18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[Course / Program • 2026]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79845" y="3017520"/>
            <a:ext cx="24916094" cy="0"/>
          </a:xfrm>
          <a:prstGeom prst="line">
            <a:avLst/>
          </a:prstGeom>
          <a:noFill/>
          <a:ln w="25400">
            <a:solidFill>
              <a:srgbClr val="3C4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68365" y="2606040"/>
            <a:ext cx="822960" cy="822960"/>
          </a:xfrm>
          <a:prstGeom prst="ellipse">
            <a:avLst/>
          </a:prstGeom>
          <a:solidFill>
            <a:srgbClr val="EB6834"/>
          </a:solidFill>
          <a:ln w="25400">
            <a:solidFill>
              <a:srgbClr val="131A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68365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" y="3538728"/>
            <a:ext cx="4006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EDA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21047" y="2606040"/>
            <a:ext cx="822960" cy="822960"/>
          </a:xfrm>
          <a:prstGeom prst="ellipse">
            <a:avLst/>
          </a:prstGeom>
          <a:solidFill>
            <a:srgbClr val="EB6834"/>
          </a:solidFill>
          <a:ln w="25400">
            <a:solidFill>
              <a:srgbClr val="131A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21047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829338" y="3538728"/>
            <a:ext cx="4006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573730" y="2606040"/>
            <a:ext cx="822960" cy="822960"/>
          </a:xfrm>
          <a:prstGeom prst="ellipse">
            <a:avLst/>
          </a:prstGeom>
          <a:solidFill>
            <a:srgbClr val="EB6834"/>
          </a:solidFill>
          <a:ln w="25400">
            <a:solidFill>
              <a:srgbClr val="131A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7373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982021" y="3538728"/>
            <a:ext cx="4006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ABSA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4726412" y="2606040"/>
            <a:ext cx="822960" cy="822960"/>
          </a:xfrm>
          <a:prstGeom prst="ellipse">
            <a:avLst/>
          </a:prstGeom>
          <a:solidFill>
            <a:srgbClr val="EB6834"/>
          </a:solidFill>
          <a:ln w="25400">
            <a:solidFill>
              <a:srgbClr val="131A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726412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13134703" y="3538728"/>
            <a:ext cx="4006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(BERT)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879094" y="2606040"/>
            <a:ext cx="822960" cy="822960"/>
          </a:xfrm>
          <a:prstGeom prst="ellipse">
            <a:avLst/>
          </a:prstGeom>
          <a:solidFill>
            <a:srgbClr val="EB6834"/>
          </a:solidFill>
          <a:ln w="25400">
            <a:solidFill>
              <a:srgbClr val="131A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8879094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17287385" y="3538728"/>
            <a:ext cx="4006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(XGBoost/KMeans)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031777" y="2606040"/>
            <a:ext cx="822960" cy="822960"/>
          </a:xfrm>
          <a:prstGeom prst="ellipse">
            <a:avLst/>
          </a:prstGeom>
          <a:solidFill>
            <a:srgbClr val="EB6834"/>
          </a:solidFill>
          <a:ln w="25400">
            <a:solidFill>
              <a:srgbClr val="131A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031777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21440067" y="3538728"/>
            <a:ext cx="4006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184459" y="2606040"/>
            <a:ext cx="822960" cy="822960"/>
          </a:xfrm>
          <a:prstGeom prst="ellipse">
            <a:avLst/>
          </a:prstGeom>
          <a:solidFill>
            <a:srgbClr val="EB6834"/>
          </a:solidFill>
          <a:ln w="25400">
            <a:solidFill>
              <a:srgbClr val="131A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184459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5592750" y="3538728"/>
            <a:ext cx="4006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3504" y="4617720"/>
            <a:ext cx="7027164" cy="1188720"/>
          </a:xfrm>
          <a:prstGeom prst="roundRect">
            <a:avLst>
              <a:gd name="adj" fmla="val 6923"/>
            </a:avLst>
          </a:prstGeom>
          <a:solidFill>
            <a:srgbClr val="1F2A4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03504" y="4709160"/>
            <a:ext cx="7027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34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" y="5367528"/>
            <a:ext cx="68442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Analyzed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7950708" y="4617720"/>
            <a:ext cx="7027164" cy="1188720"/>
          </a:xfrm>
          <a:prstGeom prst="roundRect">
            <a:avLst>
              <a:gd name="adj" fmla="val 6923"/>
            </a:avLst>
          </a:prstGeom>
          <a:solidFill>
            <a:srgbClr val="1F2A4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950708" y="4709160"/>
            <a:ext cx="7027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36" name="Text 34"/>
          <p:cNvSpPr txBox="1"/>
          <p:nvPr/>
        </p:nvSpPr>
        <p:spPr>
          <a:xfrm>
            <a:off x="8042148" y="5367528"/>
            <a:ext cx="68442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NLP Techniques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15297912" y="4617720"/>
            <a:ext cx="7027164" cy="1188720"/>
          </a:xfrm>
          <a:prstGeom prst="roundRect">
            <a:avLst>
              <a:gd name="adj" fmla="val 6923"/>
            </a:avLst>
          </a:prstGeom>
          <a:solidFill>
            <a:srgbClr val="1F2A4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5297912" y="4709160"/>
            <a:ext cx="7027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39" name="Text 37"/>
          <p:cNvSpPr txBox="1"/>
          <p:nvPr/>
        </p:nvSpPr>
        <p:spPr>
          <a:xfrm>
            <a:off x="15389352" y="5367528"/>
            <a:ext cx="68442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Aspects Tracked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22645116" y="4617720"/>
            <a:ext cx="7027164" cy="1188720"/>
          </a:xfrm>
          <a:prstGeom prst="roundRect">
            <a:avLst>
              <a:gd name="adj" fmla="val 6923"/>
            </a:avLst>
          </a:prstGeom>
          <a:solidFill>
            <a:srgbClr val="1F2A4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2645116" y="4709160"/>
            <a:ext cx="7027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42" name="Text 40"/>
          <p:cNvSpPr txBox="1"/>
          <p:nvPr/>
        </p:nvSpPr>
        <p:spPr>
          <a:xfrm>
            <a:off x="22736556" y="5367528"/>
            <a:ext cx="68442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Topics Found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03504" y="6592824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87552" y="6483096"/>
            <a:ext cx="5195621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5000" dirty="0"/>
          </a:p>
        </p:txBody>
      </p:sp>
      <p:sp>
        <p:nvSpPr>
          <p:cNvPr id="45" name="Text 43"/>
          <p:cNvSpPr txBox="1"/>
          <p:nvPr/>
        </p:nvSpPr>
        <p:spPr>
          <a:xfrm>
            <a:off x="603504" y="7653020"/>
            <a:ext cx="5579669" cy="187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face thousands of reviews per product, while companies drown in unstructured feedback. This project builds an end-to-end AI system that reads Amazon Electronics reviews and answers two practical questions: for a buyer — should I buy this? — and for a company — what should we improve?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03504" y="10314940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87552" y="10205212"/>
            <a:ext cx="5195621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Preprocessing</a:t>
            </a:r>
            <a:endParaRPr lang="en-US" sz="5000" dirty="0"/>
          </a:p>
        </p:txBody>
      </p:sp>
      <p:sp>
        <p:nvSpPr>
          <p:cNvPr id="48" name="Text 46"/>
          <p:cNvSpPr txBox="1"/>
          <p:nvPr/>
        </p:nvSpPr>
        <p:spPr>
          <a:xfrm>
            <a:off x="603504" y="12124436"/>
            <a:ext cx="5579669" cy="187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McAuley-Lab Amazon Reviews 2023 (Hugging Face), Electronics category. 65,552 raw reviews were retrieved, cleaned (URLs/HTML stripped, duplicates and reviews under 3 words removed), sentiment-labeled from star ratings (≥ 4 positive, = 3 neutral, ≤ 2 negative), and stratified-sampled to a final 50,000-review analysis set.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03504" y="14274292"/>
            <a:ext cx="1774546" cy="2011680"/>
          </a:xfrm>
          <a:prstGeom prst="roundRect">
            <a:avLst>
              <a:gd name="adj" fmla="val 4122"/>
            </a:avLst>
          </a:prstGeom>
          <a:solidFill>
            <a:srgbClr val="EFF2F8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03504" y="14347444"/>
            <a:ext cx="177454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CA3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80.4%</a:t>
            </a:r>
            <a:endParaRPr lang="en-US" sz="44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15441066"/>
            <a:ext cx="16648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</a:t>
            </a:r>
            <a:endParaRPr lang="en-US" sz="1550" dirty="0"/>
          </a:p>
        </p:txBody>
      </p:sp>
      <p:sp>
        <p:nvSpPr>
          <p:cNvPr id="52" name="Shape 50"/>
          <p:cNvSpPr/>
          <p:nvPr/>
        </p:nvSpPr>
        <p:spPr>
          <a:xfrm>
            <a:off x="2506066" y="14274292"/>
            <a:ext cx="1774546" cy="2011680"/>
          </a:xfrm>
          <a:prstGeom prst="roundRect">
            <a:avLst>
              <a:gd name="adj" fmla="val 4122"/>
            </a:avLst>
          </a:prstGeom>
          <a:solidFill>
            <a:srgbClr val="EFF2F8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2506066" y="14347444"/>
            <a:ext cx="177454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0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12.6%</a:t>
            </a:r>
            <a:endParaRPr lang="en-US" sz="4400" dirty="0"/>
          </a:p>
        </p:txBody>
      </p:sp>
      <p:sp>
        <p:nvSpPr>
          <p:cNvPr id="54" name="Text 52"/>
          <p:cNvSpPr txBox="1"/>
          <p:nvPr/>
        </p:nvSpPr>
        <p:spPr>
          <a:xfrm>
            <a:off x="2560930" y="15441066"/>
            <a:ext cx="16648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</a:t>
            </a:r>
            <a:endParaRPr lang="en-US" sz="1550" dirty="0"/>
          </a:p>
        </p:txBody>
      </p:sp>
      <p:sp>
        <p:nvSpPr>
          <p:cNvPr id="55" name="Shape 53"/>
          <p:cNvSpPr/>
          <p:nvPr/>
        </p:nvSpPr>
        <p:spPr>
          <a:xfrm>
            <a:off x="4408627" y="14274292"/>
            <a:ext cx="1774546" cy="2011680"/>
          </a:xfrm>
          <a:prstGeom prst="roundRect">
            <a:avLst>
              <a:gd name="adj" fmla="val 4122"/>
            </a:avLst>
          </a:prstGeom>
          <a:solidFill>
            <a:srgbClr val="EFF2F8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408627" y="14347444"/>
            <a:ext cx="177454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8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7.0%</a:t>
            </a:r>
            <a:endParaRPr lang="en-US" sz="4400" dirty="0"/>
          </a:p>
        </p:txBody>
      </p:sp>
      <p:sp>
        <p:nvSpPr>
          <p:cNvPr id="57" name="Text 55"/>
          <p:cNvSpPr txBox="1"/>
          <p:nvPr/>
        </p:nvSpPr>
        <p:spPr>
          <a:xfrm>
            <a:off x="4463491" y="15441066"/>
            <a:ext cx="16648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reviews</a:t>
            </a:r>
            <a:endParaRPr lang="en-US" sz="1550" dirty="0"/>
          </a:p>
        </p:txBody>
      </p:sp>
      <p:pic>
        <p:nvPicPr>
          <p:cNvPr id="58" name="Image 0" descr="/home/claude/poster/img/reviews_over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6615156"/>
            <a:ext cx="5579669" cy="2789834"/>
          </a:xfrm>
          <a:prstGeom prst="rect">
            <a:avLst/>
          </a:prstGeom>
        </p:spPr>
      </p:pic>
      <p:sp>
        <p:nvSpPr>
          <p:cNvPr id="59" name="Text 56"/>
          <p:cNvSpPr txBox="1"/>
          <p:nvPr/>
        </p:nvSpPr>
        <p:spPr>
          <a:xfrm>
            <a:off x="603504" y="19459854"/>
            <a:ext cx="5579669" cy="663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volume in the sampled corpus over time.</a:t>
            </a:r>
            <a:endParaRPr lang="en-US" sz="1900" dirty="0"/>
          </a:p>
        </p:txBody>
      </p:sp>
      <p:sp>
        <p:nvSpPr>
          <p:cNvPr id="60" name="Shape 57"/>
          <p:cNvSpPr/>
          <p:nvPr/>
        </p:nvSpPr>
        <p:spPr>
          <a:xfrm>
            <a:off x="603504" y="21001126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987552" y="20891398"/>
            <a:ext cx="5195621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5000" dirty="0"/>
          </a:p>
        </p:txBody>
      </p:sp>
      <p:sp>
        <p:nvSpPr>
          <p:cNvPr id="62" name="Text 59"/>
          <p:cNvSpPr txBox="1"/>
          <p:nvPr/>
        </p:nvSpPr>
        <p:spPr>
          <a:xfrm>
            <a:off x="603504" y="22061322"/>
            <a:ext cx="5579669" cy="7280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sentiment with classical ML and a fine-tuned transformer</a:t>
            </a:r>
            <a:endParaRPr lang="en-US" sz="2900" dirty="0"/>
          </a:p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latent topics and aspect-level opinions automatically</a:t>
            </a:r>
            <a:endParaRPr lang="en-US" sz="2900" dirty="0"/>
          </a:p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which reviews readers will find helpful</a:t>
            </a:r>
            <a:endParaRPr lang="en-US" sz="2900" dirty="0"/>
          </a:p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natural-language product Q&amp;A via semantic search + RAG</a:t>
            </a:r>
            <a:endParaRPr lang="en-US" sz="2900" dirty="0"/>
          </a:p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one dashboard with both a buyer view and a company view</a:t>
            </a:r>
            <a:endParaRPr lang="en-US" sz="2900" dirty="0"/>
          </a:p>
        </p:txBody>
      </p:sp>
      <p:sp>
        <p:nvSpPr>
          <p:cNvPr id="63" name="Shape 60"/>
          <p:cNvSpPr/>
          <p:nvPr/>
        </p:nvSpPr>
        <p:spPr>
          <a:xfrm>
            <a:off x="603504" y="30082896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987552" y="29973168"/>
            <a:ext cx="5195621" cy="233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lang="en-US" sz="5000" dirty="0"/>
          </a:p>
        </p:txBody>
      </p:sp>
      <p:sp>
        <p:nvSpPr>
          <p:cNvPr id="65" name="Text 62"/>
          <p:cNvSpPr txBox="1"/>
          <p:nvPr/>
        </p:nvSpPr>
        <p:spPr>
          <a:xfrm>
            <a:off x="603504" y="32641692"/>
            <a:ext cx="5579669" cy="6240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URLs, HTML tags, and excess whitespace from raw review text</a:t>
            </a:r>
            <a:endParaRPr lang="en-US" sz="2900" dirty="0"/>
          </a:p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reviews under 3 words long and exact duplicates</a:t>
            </a:r>
            <a:endParaRPr lang="en-US" sz="2900" dirty="0"/>
          </a:p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 sentiment label from the star rating (weak supervision)</a:t>
            </a:r>
            <a:endParaRPr lang="en-US" sz="2900" dirty="0"/>
          </a:p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Stratify-sample by sentiment class down to 50,000 reviews</a:t>
            </a:r>
            <a:endParaRPr lang="en-US" sz="2900" dirty="0"/>
          </a:p>
        </p:txBody>
      </p:sp>
      <p:sp>
        <p:nvSpPr>
          <p:cNvPr id="66" name="Shape 63"/>
          <p:cNvSpPr/>
          <p:nvPr/>
        </p:nvSpPr>
        <p:spPr>
          <a:xfrm>
            <a:off x="6475781" y="6592824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6859829" y="6483096"/>
            <a:ext cx="5195621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</a:t>
            </a:r>
            <a:endParaRPr lang="en-US" sz="5000" dirty="0"/>
          </a:p>
        </p:txBody>
      </p:sp>
      <p:sp>
        <p:nvSpPr>
          <p:cNvPr id="68" name="Text 65"/>
          <p:cNvSpPr txBox="1"/>
          <p:nvPr/>
        </p:nvSpPr>
        <p:spPr>
          <a:xfrm>
            <a:off x="6475781" y="8402320"/>
            <a:ext cx="5579669" cy="161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approaches were benchmarked on an identical held-out test split of 10,000 reviews: a rule-based VADER baseline, classical TF-IDF + Logistic Regression / Linear SVM (class-balanced, 1-2 grams, 30K features), and a fine-tuned DistilBERT transformer.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5781" y="10255504"/>
          <a:ext cx="5579669" cy="914400"/>
        </p:xfrm>
        <a:graphic>
          <a:graphicData uri="http://schemas.openxmlformats.org/drawingml/2006/table">
            <a:tbl>
              <a:tblPr/>
              <a:tblGrid>
                <a:gridCol w="2901428"/>
                <a:gridCol w="1339121"/>
                <a:gridCol w="1339121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Macro F1</a:t>
                      </a:r>
                      <a:endParaRPr lang="en-US" sz="13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</a:rPr>
                        <a:t>VADER (rule-based)</a:t>
                      </a:r>
                      <a:endParaRPr lang="en-US" sz="13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</a:rPr>
                        <a:t>81.6%</a:t>
                      </a:r>
                      <a:endParaRPr lang="en-US" sz="13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</a:rPr>
                        <a:t>0.519</a:t>
                      </a:r>
                      <a:endParaRPr lang="en-US" sz="13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</a:rPr>
                        <a:t>TF-IDF + Logistic Reg.</a:t>
                      </a:r>
                      <a:endParaRPr lang="en-US" sz="13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</a:rPr>
                        <a:t>85.9%</a:t>
                      </a:r>
                      <a:endParaRPr lang="en-US" sz="13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</a:rPr>
                        <a:t>0.689</a:t>
                      </a:r>
                      <a:endParaRPr lang="en-US" sz="13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</a:rPr>
                        <a:t>TF-IDF + Linear SVM</a:t>
                      </a:r>
                      <a:endParaRPr lang="en-US" sz="13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</a:rPr>
                        <a:t>88.8%</a:t>
                      </a:r>
                      <a:endParaRPr lang="en-US" sz="13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</a:rPr>
                        <a:t>0.693</a:t>
                      </a:r>
                      <a:endParaRPr lang="en-US" sz="13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1A2B"/>
                          </a:solidFill>
                        </a:rPr>
                        <a:t>DistilBERT (fine-tuned)</a:t>
                      </a:r>
                      <a:endParaRPr lang="en-US" sz="13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1A2B"/>
                          </a:solidFill>
                        </a:rPr>
                        <a:t>89.9%</a:t>
                      </a:r>
                      <a:endParaRPr lang="en-US" sz="13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1A2B"/>
                          </a:solidFill>
                        </a:rPr>
                        <a:t>0.702</a:t>
                      </a:r>
                      <a:endParaRPr lang="en-US" sz="130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</a:tr>
            </a:tbl>
          </a:graphicData>
        </a:graphic>
      </p:graphicFrame>
      <p:pic>
        <p:nvPicPr>
          <p:cNvPr id="70" name="Image 1" descr="/home/claude/poster/img/sentiment_model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781" y="13455904"/>
            <a:ext cx="5579669" cy="2405030"/>
          </a:xfrm>
          <a:prstGeom prst="rect">
            <a:avLst/>
          </a:prstGeom>
        </p:spPr>
      </p:pic>
      <p:sp>
        <p:nvSpPr>
          <p:cNvPr id="71" name="Text 66"/>
          <p:cNvSpPr txBox="1"/>
          <p:nvPr/>
        </p:nvSpPr>
        <p:spPr>
          <a:xfrm>
            <a:off x="6475781" y="15915798"/>
            <a:ext cx="5579669" cy="663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macro-F1 across all four sentiment models.</a:t>
            </a:r>
            <a:endParaRPr lang="en-US" sz="1900" dirty="0"/>
          </a:p>
        </p:txBody>
      </p:sp>
      <p:sp>
        <p:nvSpPr>
          <p:cNvPr id="72" name="Shape 67"/>
          <p:cNvSpPr/>
          <p:nvPr/>
        </p:nvSpPr>
        <p:spPr>
          <a:xfrm>
            <a:off x="6475781" y="17402206"/>
            <a:ext cx="5579669" cy="1920240"/>
          </a:xfrm>
          <a:prstGeom prst="roundRect">
            <a:avLst>
              <a:gd name="adj" fmla="val 4762"/>
            </a:avLst>
          </a:prstGeom>
          <a:solidFill>
            <a:srgbClr val="EFF2F8"/>
          </a:solidFill>
          <a:ln/>
        </p:spPr>
      </p:sp>
      <p:sp>
        <p:nvSpPr>
          <p:cNvPr id="73" name="Text 68"/>
          <p:cNvSpPr txBox="1"/>
          <p:nvPr/>
        </p:nvSpPr>
        <p:spPr>
          <a:xfrm>
            <a:off x="6676949" y="17511934"/>
            <a:ext cx="517733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fine-tuned BERT gives the best overall accuracy and macro-F1, most notably lifting recall on the harder minority classes (negative, neutral) that TF-IDF models under-predict.</a:t>
            </a:r>
            <a:endParaRPr lang="en-US" sz="1800" dirty="0"/>
          </a:p>
        </p:txBody>
      </p:sp>
      <p:sp>
        <p:nvSpPr>
          <p:cNvPr id="74" name="Text 69"/>
          <p:cNvSpPr txBox="1"/>
          <p:nvPr/>
        </p:nvSpPr>
        <p:spPr>
          <a:xfrm>
            <a:off x="6475781" y="20053966"/>
            <a:ext cx="5579669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macro-F1? 80% of reviews are positive, so raw accuracy is misleading on its own — macro-F1 weights all three classes equally, making it the more honest measure of real-world usefulness, which is why both metrics are reported side by side throughout this project.</a:t>
            </a:r>
            <a:endParaRPr lang="en-US" sz="1650" dirty="0"/>
          </a:p>
        </p:txBody>
      </p:sp>
      <p:sp>
        <p:nvSpPr>
          <p:cNvPr id="75" name="Shape 70"/>
          <p:cNvSpPr/>
          <p:nvPr/>
        </p:nvSpPr>
        <p:spPr>
          <a:xfrm>
            <a:off x="6475781" y="22449694"/>
            <a:ext cx="2725826" cy="2011680"/>
          </a:xfrm>
          <a:prstGeom prst="roundRect">
            <a:avLst>
              <a:gd name="adj" fmla="val 3636"/>
            </a:avLst>
          </a:prstGeom>
          <a:solidFill>
            <a:srgbClr val="EFF2F8"/>
          </a:solidFill>
          <a:ln/>
        </p:spPr>
      </p:sp>
      <p:sp>
        <p:nvSpPr>
          <p:cNvPr id="76" name="Text 71"/>
          <p:cNvSpPr txBox="1"/>
          <p:nvPr/>
        </p:nvSpPr>
        <p:spPr>
          <a:xfrm>
            <a:off x="6475781" y="22522846"/>
            <a:ext cx="27258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0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87.3%</a:t>
            </a:r>
            <a:endParaRPr lang="en-US" sz="4400" dirty="0"/>
          </a:p>
        </p:txBody>
      </p:sp>
      <p:sp>
        <p:nvSpPr>
          <p:cNvPr id="77" name="Text 72"/>
          <p:cNvSpPr txBox="1"/>
          <p:nvPr/>
        </p:nvSpPr>
        <p:spPr>
          <a:xfrm>
            <a:off x="6530645" y="23616468"/>
            <a:ext cx="261609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recall on negative reviews</a:t>
            </a:r>
            <a:endParaRPr lang="en-US" sz="1550" dirty="0"/>
          </a:p>
        </p:txBody>
      </p:sp>
      <p:sp>
        <p:nvSpPr>
          <p:cNvPr id="78" name="Shape 73"/>
          <p:cNvSpPr/>
          <p:nvPr/>
        </p:nvSpPr>
        <p:spPr>
          <a:xfrm>
            <a:off x="9329623" y="22449694"/>
            <a:ext cx="2725826" cy="2011680"/>
          </a:xfrm>
          <a:prstGeom prst="roundRect">
            <a:avLst>
              <a:gd name="adj" fmla="val 3636"/>
            </a:avLst>
          </a:prstGeom>
          <a:solidFill>
            <a:srgbClr val="EFF2F8"/>
          </a:solidFill>
          <a:ln/>
        </p:spPr>
      </p:sp>
      <p:sp>
        <p:nvSpPr>
          <p:cNvPr id="79" name="Text 74"/>
          <p:cNvSpPr txBox="1"/>
          <p:nvPr/>
        </p:nvSpPr>
        <p:spPr>
          <a:xfrm>
            <a:off x="9329623" y="22522846"/>
            <a:ext cx="272582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53.3%</a:t>
            </a:r>
            <a:endParaRPr lang="en-US" sz="4400" dirty="0"/>
          </a:p>
        </p:txBody>
      </p:sp>
      <p:sp>
        <p:nvSpPr>
          <p:cNvPr id="80" name="Text 75"/>
          <p:cNvSpPr txBox="1"/>
          <p:nvPr/>
        </p:nvSpPr>
        <p:spPr>
          <a:xfrm>
            <a:off x="9384487" y="23616468"/>
            <a:ext cx="261609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recall, same class</a:t>
            </a:r>
            <a:endParaRPr lang="en-US" sz="1550" dirty="0"/>
          </a:p>
        </p:txBody>
      </p:sp>
      <p:sp>
        <p:nvSpPr>
          <p:cNvPr id="81" name="Shape 76"/>
          <p:cNvSpPr/>
          <p:nvPr/>
        </p:nvSpPr>
        <p:spPr>
          <a:xfrm>
            <a:off x="6475781" y="24790558"/>
            <a:ext cx="5579669" cy="1737360"/>
          </a:xfrm>
          <a:prstGeom prst="roundRect">
            <a:avLst>
              <a:gd name="adj" fmla="val 5263"/>
            </a:avLst>
          </a:prstGeom>
          <a:solidFill>
            <a:srgbClr val="EFF2F8"/>
          </a:solidFill>
          <a:ln/>
        </p:spPr>
      </p:sp>
      <p:sp>
        <p:nvSpPr>
          <p:cNvPr id="82" name="Text 77"/>
          <p:cNvSpPr txBox="1"/>
          <p:nvPr/>
        </p:nvSpPr>
        <p:spPr>
          <a:xfrm>
            <a:off x="6676949" y="24900286"/>
            <a:ext cx="517733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BERT's negative-review recall (87.3%) is a large jump over TF-IDF + SVM (74.9%) and the VADER baseline (53.3%) — the class a business can least afford to miss.</a:t>
            </a:r>
            <a:endParaRPr lang="en-US" sz="1700" dirty="0"/>
          </a:p>
        </p:txBody>
      </p:sp>
      <p:sp>
        <p:nvSpPr>
          <p:cNvPr id="83" name="Shape 78"/>
          <p:cNvSpPr/>
          <p:nvPr/>
        </p:nvSpPr>
        <p:spPr>
          <a:xfrm>
            <a:off x="6475781" y="27314302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84" name="Text 79"/>
          <p:cNvSpPr txBox="1"/>
          <p:nvPr/>
        </p:nvSpPr>
        <p:spPr>
          <a:xfrm>
            <a:off x="6859829" y="27204574"/>
            <a:ext cx="5195621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Configuration</a:t>
            </a:r>
            <a:endParaRPr lang="en-US" sz="5000" dirty="0"/>
          </a:p>
        </p:txBody>
      </p:sp>
      <p:sp>
        <p:nvSpPr>
          <p:cNvPr id="85" name="Text 80"/>
          <p:cNvSpPr txBox="1"/>
          <p:nvPr/>
        </p:nvSpPr>
        <p:spPr>
          <a:xfrm>
            <a:off x="6475781" y="29123798"/>
            <a:ext cx="5579669" cy="6240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unigrams + bigrams, 30,000 features, sublinear term weighting</a:t>
            </a:r>
            <a:endParaRPr lang="en-US" sz="2900" dirty="0"/>
          </a:p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Class-balanced loss to counter the 80% / 13% / 7% label skew</a:t>
            </a:r>
            <a:endParaRPr lang="en-US" sz="2900" dirty="0"/>
          </a:p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fine-tuned for 2 epochs, max sequence length 128 tokens</a:t>
            </a:r>
            <a:endParaRPr lang="en-US" sz="2900" dirty="0"/>
          </a:p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identical 80/20 stratified split reused across every model</a:t>
            </a:r>
            <a:endParaRPr lang="en-US" sz="2900" dirty="0"/>
          </a:p>
        </p:txBody>
      </p:sp>
      <p:sp>
        <p:nvSpPr>
          <p:cNvPr id="86" name="Shape 81"/>
          <p:cNvSpPr/>
          <p:nvPr/>
        </p:nvSpPr>
        <p:spPr>
          <a:xfrm>
            <a:off x="12348058" y="6592824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87" name="Text 82"/>
          <p:cNvSpPr txBox="1"/>
          <p:nvPr/>
        </p:nvSpPr>
        <p:spPr>
          <a:xfrm>
            <a:off x="12732106" y="6483096"/>
            <a:ext cx="5195621" cy="233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Modeling (LDA)</a:t>
            </a:r>
            <a:endParaRPr lang="en-US" sz="5000" dirty="0"/>
          </a:p>
        </p:txBody>
      </p:sp>
      <p:sp>
        <p:nvSpPr>
          <p:cNvPr id="88" name="Text 83"/>
          <p:cNvSpPr txBox="1"/>
          <p:nvPr/>
        </p:nvSpPr>
        <p:spPr>
          <a:xfrm>
            <a:off x="12348058" y="9151620"/>
            <a:ext cx="5579669" cy="2135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Dirichlet Allocation (8 topics, 1-2 gram count vectors, fit on an 8,000-review subsample and applied to the full corpus) surfaces what reviewers actually discuss: sound &amp; headphones · memory cards &amp; tablets · general praise &amp; value · USB &amp; power accessories · cameras &amp; TVs · cases &amp; fit · phones &amp; headphones · cables, routers &amp; Wi-Fi.</a:t>
            </a:r>
            <a:endParaRPr lang="en-US" sz="1600" dirty="0"/>
          </a:p>
        </p:txBody>
      </p:sp>
      <p:pic>
        <p:nvPicPr>
          <p:cNvPr id="89" name="Image 2" descr="/home/claude/poster/img/lda_top_wor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8058" y="11524996"/>
            <a:ext cx="5579669" cy="2231868"/>
          </a:xfrm>
          <a:prstGeom prst="rect">
            <a:avLst/>
          </a:prstGeom>
        </p:spPr>
      </p:pic>
      <p:sp>
        <p:nvSpPr>
          <p:cNvPr id="90" name="Text 84"/>
          <p:cNvSpPr txBox="1"/>
          <p:nvPr/>
        </p:nvSpPr>
        <p:spPr>
          <a:xfrm>
            <a:off x="12348058" y="13811728"/>
            <a:ext cx="5579669" cy="663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words per topic across the 8 discovered LDA topics.</a:t>
            </a:r>
            <a:endParaRPr lang="en-US" sz="1900" dirty="0"/>
          </a:p>
        </p:txBody>
      </p:sp>
      <p:sp>
        <p:nvSpPr>
          <p:cNvPr id="91" name="Shape 85"/>
          <p:cNvSpPr/>
          <p:nvPr/>
        </p:nvSpPr>
        <p:spPr>
          <a:xfrm>
            <a:off x="12348058" y="15353000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92" name="Text 86"/>
          <p:cNvSpPr txBox="1"/>
          <p:nvPr/>
        </p:nvSpPr>
        <p:spPr>
          <a:xfrm>
            <a:off x="12732106" y="15243272"/>
            <a:ext cx="5195621" cy="233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Aspect-Based Sentiment (ABSA)</a:t>
            </a:r>
            <a:endParaRPr lang="en-US" sz="5000" dirty="0"/>
          </a:p>
        </p:txBody>
      </p:sp>
      <p:sp>
        <p:nvSpPr>
          <p:cNvPr id="93" name="Text 87"/>
          <p:cNvSpPr txBox="1"/>
          <p:nvPr/>
        </p:nvSpPr>
        <p:spPr>
          <a:xfrm>
            <a:off x="12348058" y="17911796"/>
            <a:ext cx="5579669" cy="161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are split into sentences and matched against 10 product aspects (battery, camera, display, sound, performance, build quality, price, connectivity, size/comfort, customer service); VADER scores each matched sentence — 64,134 aspect mentions across 33,257 reviews.</a:t>
            </a:r>
            <a:endParaRPr lang="en-US" sz="1600" dirty="0"/>
          </a:p>
        </p:txBody>
      </p:sp>
      <p:pic>
        <p:nvPicPr>
          <p:cNvPr id="94" name="Image 3" descr="/home/claude/poster/img/aspect_sentiment_stack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8058" y="19764980"/>
            <a:ext cx="5579669" cy="3719779"/>
          </a:xfrm>
          <a:prstGeom prst="rect">
            <a:avLst/>
          </a:prstGeom>
        </p:spPr>
      </p:pic>
      <p:sp>
        <p:nvSpPr>
          <p:cNvPr id="95" name="Text 88"/>
          <p:cNvSpPr txBox="1"/>
          <p:nvPr/>
        </p:nvSpPr>
        <p:spPr>
          <a:xfrm>
            <a:off x="12348058" y="23539623"/>
            <a:ext cx="5579669" cy="663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neutral / negative share of mentions, by aspect.</a:t>
            </a:r>
            <a:endParaRPr lang="en-US" sz="1900" dirty="0"/>
          </a:p>
        </p:txBody>
      </p:sp>
      <p:sp>
        <p:nvSpPr>
          <p:cNvPr id="96" name="Shape 89"/>
          <p:cNvSpPr/>
          <p:nvPr/>
        </p:nvSpPr>
        <p:spPr>
          <a:xfrm>
            <a:off x="12348058" y="25026031"/>
            <a:ext cx="5579669" cy="1188720"/>
          </a:xfrm>
          <a:prstGeom prst="roundRect">
            <a:avLst>
              <a:gd name="adj" fmla="val 7692"/>
            </a:avLst>
          </a:prstGeom>
          <a:solidFill>
            <a:srgbClr val="FBE3D6"/>
          </a:solidFill>
          <a:ln/>
        </p:spPr>
      </p:sp>
      <p:sp>
        <p:nvSpPr>
          <p:cNvPr id="97" name="Text 90"/>
          <p:cNvSpPr txBox="1"/>
          <p:nvPr/>
        </p:nvSpPr>
        <p:spPr>
          <a:xfrm>
            <a:off x="12549226" y="25135759"/>
            <a:ext cx="517733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20.2% negative — Battery is the #1 complaint area company-wide.</a:t>
            </a:r>
            <a:endParaRPr lang="en-US" sz="1550" dirty="0"/>
          </a:p>
        </p:txBody>
      </p:sp>
      <p:sp>
        <p:nvSpPr>
          <p:cNvPr id="98" name="Text 91"/>
          <p:cNvSpPr txBox="1"/>
          <p:nvPr/>
        </p:nvSpPr>
        <p:spPr>
          <a:xfrm>
            <a:off x="12549226" y="25830703"/>
            <a:ext cx="51773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Aspect-based sentiment, sorted by highest negative share.</a:t>
            </a:r>
            <a:endParaRPr lang="en-US" sz="1600" dirty="0"/>
          </a:p>
        </p:txBody>
      </p:sp>
      <p:sp>
        <p:nvSpPr>
          <p:cNvPr id="99" name="Shape 92"/>
          <p:cNvSpPr/>
          <p:nvPr/>
        </p:nvSpPr>
        <p:spPr>
          <a:xfrm>
            <a:off x="12348058" y="26946271"/>
            <a:ext cx="1774546" cy="2011680"/>
          </a:xfrm>
          <a:prstGeom prst="roundRect">
            <a:avLst>
              <a:gd name="adj" fmla="val 4122"/>
            </a:avLst>
          </a:prstGeom>
          <a:solidFill>
            <a:srgbClr val="EFF2F8"/>
          </a:solidFill>
          <a:ln/>
        </p:spPr>
      </p:sp>
      <p:sp>
        <p:nvSpPr>
          <p:cNvPr id="100" name="Text 93"/>
          <p:cNvSpPr txBox="1"/>
          <p:nvPr/>
        </p:nvSpPr>
        <p:spPr>
          <a:xfrm>
            <a:off x="12348058" y="27019423"/>
            <a:ext cx="177454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11,070</a:t>
            </a:r>
            <a:endParaRPr lang="en-US" sz="4400" dirty="0"/>
          </a:p>
        </p:txBody>
      </p:sp>
      <p:sp>
        <p:nvSpPr>
          <p:cNvPr id="101" name="Text 94"/>
          <p:cNvSpPr txBox="1"/>
          <p:nvPr/>
        </p:nvSpPr>
        <p:spPr>
          <a:xfrm>
            <a:off x="12402922" y="28113045"/>
            <a:ext cx="16648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Price/value mentions</a:t>
            </a:r>
            <a:endParaRPr lang="en-US" sz="1550" dirty="0"/>
          </a:p>
        </p:txBody>
      </p:sp>
      <p:sp>
        <p:nvSpPr>
          <p:cNvPr id="102" name="Shape 95"/>
          <p:cNvSpPr/>
          <p:nvPr/>
        </p:nvSpPr>
        <p:spPr>
          <a:xfrm>
            <a:off x="14250619" y="26946271"/>
            <a:ext cx="1774546" cy="2011680"/>
          </a:xfrm>
          <a:prstGeom prst="roundRect">
            <a:avLst>
              <a:gd name="adj" fmla="val 4122"/>
            </a:avLst>
          </a:prstGeom>
          <a:solidFill>
            <a:srgbClr val="EFF2F8"/>
          </a:solidFill>
          <a:ln/>
        </p:spPr>
      </p:sp>
      <p:sp>
        <p:nvSpPr>
          <p:cNvPr id="103" name="Text 96"/>
          <p:cNvSpPr txBox="1"/>
          <p:nvPr/>
        </p:nvSpPr>
        <p:spPr>
          <a:xfrm>
            <a:off x="14250619" y="27019423"/>
            <a:ext cx="177454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10,752</a:t>
            </a:r>
            <a:endParaRPr lang="en-US" sz="4400" dirty="0"/>
          </a:p>
        </p:txBody>
      </p:sp>
      <p:sp>
        <p:nvSpPr>
          <p:cNvPr id="104" name="Text 97"/>
          <p:cNvSpPr txBox="1"/>
          <p:nvPr/>
        </p:nvSpPr>
        <p:spPr>
          <a:xfrm>
            <a:off x="14305483" y="28113045"/>
            <a:ext cx="16648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Size/comfort mentions</a:t>
            </a:r>
            <a:endParaRPr lang="en-US" sz="1550" dirty="0"/>
          </a:p>
        </p:txBody>
      </p:sp>
      <p:sp>
        <p:nvSpPr>
          <p:cNvPr id="105" name="Shape 98"/>
          <p:cNvSpPr/>
          <p:nvPr/>
        </p:nvSpPr>
        <p:spPr>
          <a:xfrm>
            <a:off x="16153181" y="26946271"/>
            <a:ext cx="1774546" cy="2011680"/>
          </a:xfrm>
          <a:prstGeom prst="roundRect">
            <a:avLst>
              <a:gd name="adj" fmla="val 4122"/>
            </a:avLst>
          </a:prstGeom>
          <a:solidFill>
            <a:srgbClr val="EFF2F8"/>
          </a:solidFill>
          <a:ln/>
        </p:spPr>
      </p:sp>
      <p:sp>
        <p:nvSpPr>
          <p:cNvPr id="106" name="Text 99"/>
          <p:cNvSpPr txBox="1"/>
          <p:nvPr/>
        </p:nvSpPr>
        <p:spPr>
          <a:xfrm>
            <a:off x="16153181" y="27019423"/>
            <a:ext cx="177454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8,327</a:t>
            </a:r>
            <a:endParaRPr lang="en-US" sz="4400" dirty="0"/>
          </a:p>
        </p:txBody>
      </p:sp>
      <p:sp>
        <p:nvSpPr>
          <p:cNvPr id="107" name="Text 100"/>
          <p:cNvSpPr txBox="1"/>
          <p:nvPr/>
        </p:nvSpPr>
        <p:spPr>
          <a:xfrm>
            <a:off x="16208045" y="28113045"/>
            <a:ext cx="16648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mentions</a:t>
            </a:r>
            <a:endParaRPr lang="en-US" sz="1550" dirty="0"/>
          </a:p>
        </p:txBody>
      </p:sp>
      <p:sp>
        <p:nvSpPr>
          <p:cNvPr id="108" name="Shape 101"/>
          <p:cNvSpPr/>
          <p:nvPr/>
        </p:nvSpPr>
        <p:spPr>
          <a:xfrm>
            <a:off x="12348058" y="29341999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09" name="Text 102"/>
          <p:cNvSpPr txBox="1"/>
          <p:nvPr/>
        </p:nvSpPr>
        <p:spPr>
          <a:xfrm>
            <a:off x="12732106" y="29232271"/>
            <a:ext cx="5195621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Aspects Tracked</a:t>
            </a:r>
            <a:endParaRPr lang="en-US" sz="5000" dirty="0"/>
          </a:p>
        </p:txBody>
      </p:sp>
      <p:sp>
        <p:nvSpPr>
          <p:cNvPr id="110" name="Text 103"/>
          <p:cNvSpPr txBox="1"/>
          <p:nvPr/>
        </p:nvSpPr>
        <p:spPr>
          <a:xfrm>
            <a:off x="12348058" y="31151495"/>
            <a:ext cx="5579669" cy="321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Battery, camera, display, sound, performance</a:t>
            </a:r>
            <a:endParaRPr lang="en-US" sz="2900" dirty="0"/>
          </a:p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quality, price/value, connectivity</a:t>
            </a:r>
            <a:endParaRPr lang="en-US" sz="2900" dirty="0"/>
          </a:p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Size/comfort, customer service</a:t>
            </a:r>
            <a:endParaRPr lang="en-US" sz="2900" dirty="0"/>
          </a:p>
        </p:txBody>
      </p:sp>
      <p:sp>
        <p:nvSpPr>
          <p:cNvPr id="111" name="Shape 104"/>
          <p:cNvSpPr/>
          <p:nvPr/>
        </p:nvSpPr>
        <p:spPr>
          <a:xfrm>
            <a:off x="12348058" y="35103989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12" name="Text 105"/>
          <p:cNvSpPr txBox="1"/>
          <p:nvPr/>
        </p:nvSpPr>
        <p:spPr>
          <a:xfrm>
            <a:off x="12732106" y="34994261"/>
            <a:ext cx="5195621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5000" dirty="0"/>
          </a:p>
        </p:txBody>
      </p:sp>
      <p:sp>
        <p:nvSpPr>
          <p:cNvPr id="113" name="Text 106"/>
          <p:cNvSpPr txBox="1"/>
          <p:nvPr/>
        </p:nvSpPr>
        <p:spPr>
          <a:xfrm>
            <a:off x="12348058" y="36164185"/>
            <a:ext cx="5579669" cy="161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topics are driven by frequent product nouns rather than deep semantics, and keyword-matched ABSA can miss aspects described in unusual phrasing. Both are reasonable trade-offs for fast, interpretable unsupervised analysis at 50,000-review scale.</a:t>
            </a:r>
            <a:endParaRPr lang="en-US" sz="1600" dirty="0"/>
          </a:p>
        </p:txBody>
      </p:sp>
      <p:sp>
        <p:nvSpPr>
          <p:cNvPr id="114" name="Shape 107"/>
          <p:cNvSpPr/>
          <p:nvPr/>
        </p:nvSpPr>
        <p:spPr>
          <a:xfrm>
            <a:off x="18220334" y="6592824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15" name="Text 108"/>
          <p:cNvSpPr txBox="1"/>
          <p:nvPr/>
        </p:nvSpPr>
        <p:spPr>
          <a:xfrm>
            <a:off x="18604382" y="6483096"/>
            <a:ext cx="5195621" cy="233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Helpfulness (XGBoost)</a:t>
            </a:r>
            <a:endParaRPr lang="en-US" sz="5000" dirty="0"/>
          </a:p>
        </p:txBody>
      </p:sp>
      <p:sp>
        <p:nvSpPr>
          <p:cNvPr id="116" name="Text 109"/>
          <p:cNvSpPr txBox="1"/>
          <p:nvPr/>
        </p:nvSpPr>
        <p:spPr>
          <a:xfrm>
            <a:off x="18220334" y="9151620"/>
            <a:ext cx="5579669" cy="161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XGBoost classifier (tuned via randomized search over 15 configurations) predicts whether a review will be marked helpful, from engineered features: review age, title length, verified-purchase flag, punctuation counts, VADER compound score, and number of aspects mentioned.</a:t>
            </a:r>
            <a:endParaRPr lang="en-US" sz="1600" dirty="0"/>
          </a:p>
        </p:txBody>
      </p:sp>
      <p:sp>
        <p:nvSpPr>
          <p:cNvPr id="117" name="Shape 110"/>
          <p:cNvSpPr/>
          <p:nvPr/>
        </p:nvSpPr>
        <p:spPr>
          <a:xfrm>
            <a:off x="18220334" y="10949940"/>
            <a:ext cx="1774546" cy="2011680"/>
          </a:xfrm>
          <a:prstGeom prst="roundRect">
            <a:avLst>
              <a:gd name="adj" fmla="val 4122"/>
            </a:avLst>
          </a:prstGeom>
          <a:solidFill>
            <a:srgbClr val="EFF2F8"/>
          </a:solidFill>
          <a:ln/>
        </p:spPr>
      </p:sp>
      <p:sp>
        <p:nvSpPr>
          <p:cNvPr id="118" name="Text 111"/>
          <p:cNvSpPr txBox="1"/>
          <p:nvPr/>
        </p:nvSpPr>
        <p:spPr>
          <a:xfrm>
            <a:off x="18220334" y="11023092"/>
            <a:ext cx="177454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59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70.5%</a:t>
            </a:r>
            <a:endParaRPr lang="en-US" sz="4400" dirty="0"/>
          </a:p>
        </p:txBody>
      </p:sp>
      <p:sp>
        <p:nvSpPr>
          <p:cNvPr id="119" name="Text 112"/>
          <p:cNvSpPr txBox="1"/>
          <p:nvPr/>
        </p:nvSpPr>
        <p:spPr>
          <a:xfrm>
            <a:off x="18275198" y="12116714"/>
            <a:ext cx="16648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50" dirty="0"/>
          </a:p>
        </p:txBody>
      </p:sp>
      <p:sp>
        <p:nvSpPr>
          <p:cNvPr id="120" name="Shape 113"/>
          <p:cNvSpPr/>
          <p:nvPr/>
        </p:nvSpPr>
        <p:spPr>
          <a:xfrm>
            <a:off x="20122896" y="10949940"/>
            <a:ext cx="1774546" cy="2011680"/>
          </a:xfrm>
          <a:prstGeom prst="roundRect">
            <a:avLst>
              <a:gd name="adj" fmla="val 4122"/>
            </a:avLst>
          </a:prstGeom>
          <a:solidFill>
            <a:srgbClr val="EFF2F8"/>
          </a:solidFill>
          <a:ln/>
        </p:spPr>
      </p:sp>
      <p:sp>
        <p:nvSpPr>
          <p:cNvPr id="121" name="Text 114"/>
          <p:cNvSpPr txBox="1"/>
          <p:nvPr/>
        </p:nvSpPr>
        <p:spPr>
          <a:xfrm>
            <a:off x="20122896" y="11023092"/>
            <a:ext cx="177454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59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0.555</a:t>
            </a:r>
            <a:endParaRPr lang="en-US" sz="4400" dirty="0"/>
          </a:p>
        </p:txBody>
      </p:sp>
      <p:sp>
        <p:nvSpPr>
          <p:cNvPr id="122" name="Text 115"/>
          <p:cNvSpPr txBox="1"/>
          <p:nvPr/>
        </p:nvSpPr>
        <p:spPr>
          <a:xfrm>
            <a:off x="20177760" y="12116714"/>
            <a:ext cx="16648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Helpful-class F1</a:t>
            </a:r>
            <a:endParaRPr lang="en-US" sz="1550" dirty="0"/>
          </a:p>
        </p:txBody>
      </p:sp>
      <p:sp>
        <p:nvSpPr>
          <p:cNvPr id="123" name="Shape 116"/>
          <p:cNvSpPr/>
          <p:nvPr/>
        </p:nvSpPr>
        <p:spPr>
          <a:xfrm>
            <a:off x="22025458" y="10949940"/>
            <a:ext cx="1774546" cy="2011680"/>
          </a:xfrm>
          <a:prstGeom prst="roundRect">
            <a:avLst>
              <a:gd name="adj" fmla="val 4122"/>
            </a:avLst>
          </a:prstGeom>
          <a:solidFill>
            <a:srgbClr val="EFF2F8"/>
          </a:solidFill>
          <a:ln/>
        </p:spPr>
      </p:sp>
      <p:sp>
        <p:nvSpPr>
          <p:cNvPr id="124" name="Text 117"/>
          <p:cNvSpPr txBox="1"/>
          <p:nvPr/>
        </p:nvSpPr>
        <p:spPr>
          <a:xfrm>
            <a:off x="22025458" y="11023092"/>
            <a:ext cx="177454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59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70.2%</a:t>
            </a:r>
            <a:endParaRPr lang="en-US" sz="4400" dirty="0"/>
          </a:p>
        </p:txBody>
      </p:sp>
      <p:sp>
        <p:nvSpPr>
          <p:cNvPr id="125" name="Text 118"/>
          <p:cNvSpPr txBox="1"/>
          <p:nvPr/>
        </p:nvSpPr>
        <p:spPr>
          <a:xfrm>
            <a:off x="22080322" y="12116714"/>
            <a:ext cx="16648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recall</a:t>
            </a:r>
            <a:endParaRPr lang="en-US" sz="1550" dirty="0"/>
          </a:p>
        </p:txBody>
      </p:sp>
      <p:pic>
        <p:nvPicPr>
          <p:cNvPr id="126" name="Image 4" descr="/home/claude/poster/img/xgboost_feature_import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20334" y="13290804"/>
            <a:ext cx="5579669" cy="3487293"/>
          </a:xfrm>
          <a:prstGeom prst="rect">
            <a:avLst/>
          </a:prstGeom>
        </p:spPr>
      </p:pic>
      <p:sp>
        <p:nvSpPr>
          <p:cNvPr id="127" name="Text 119"/>
          <p:cNvSpPr txBox="1"/>
          <p:nvPr/>
        </p:nvSpPr>
        <p:spPr>
          <a:xfrm>
            <a:off x="18220334" y="16832961"/>
            <a:ext cx="5579669" cy="663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for predicting review helpfulness.</a:t>
            </a:r>
            <a:endParaRPr lang="en-US" sz="1900" dirty="0"/>
          </a:p>
        </p:txBody>
      </p:sp>
      <p:sp>
        <p:nvSpPr>
          <p:cNvPr id="128" name="Shape 120"/>
          <p:cNvSpPr/>
          <p:nvPr/>
        </p:nvSpPr>
        <p:spPr>
          <a:xfrm>
            <a:off x="18220334" y="18374233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29" name="Text 121"/>
          <p:cNvSpPr txBox="1"/>
          <p:nvPr/>
        </p:nvSpPr>
        <p:spPr>
          <a:xfrm>
            <a:off x="18604382" y="18264505"/>
            <a:ext cx="5195621" cy="233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Clustering (KMeans)</a:t>
            </a:r>
            <a:endParaRPr lang="en-US" sz="5000" dirty="0"/>
          </a:p>
        </p:txBody>
      </p:sp>
      <p:sp>
        <p:nvSpPr>
          <p:cNvPr id="130" name="Text 122"/>
          <p:cNvSpPr txBox="1"/>
          <p:nvPr/>
        </p:nvSpPr>
        <p:spPr>
          <a:xfrm>
            <a:off x="18220334" y="20933029"/>
            <a:ext cx="5579669" cy="187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MiniBatchKMeans (k = 6) on a dedicated stopword-filtered TF-IDF space groups reviews by theme. Two clusters are clearly topical (sound/headphones; laptop bags &amp; cases); the rest are dominated by generic praise language — a known limitation of clustering short, repetitive review text.</a:t>
            </a:r>
            <a:endParaRPr lang="en-US" sz="1600" dirty="0"/>
          </a:p>
        </p:txBody>
      </p:sp>
      <p:pic>
        <p:nvPicPr>
          <p:cNvPr id="131" name="Image 5" descr="/home/claude/poster/img/kmeans_clust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20334" y="23046309"/>
            <a:ext cx="5579669" cy="3099816"/>
          </a:xfrm>
          <a:prstGeom prst="rect">
            <a:avLst/>
          </a:prstGeom>
        </p:spPr>
      </p:pic>
      <p:sp>
        <p:nvSpPr>
          <p:cNvPr id="132" name="Text 123"/>
          <p:cNvSpPr txBox="1"/>
          <p:nvPr/>
        </p:nvSpPr>
        <p:spPr>
          <a:xfrm>
            <a:off x="18220334" y="26200989"/>
            <a:ext cx="5579669" cy="663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review clusters, sized by review count.</a:t>
            </a:r>
            <a:endParaRPr lang="en-US" sz="1900" dirty="0"/>
          </a:p>
        </p:txBody>
      </p:sp>
      <p:sp>
        <p:nvSpPr>
          <p:cNvPr id="133" name="Shape 124"/>
          <p:cNvSpPr/>
          <p:nvPr/>
        </p:nvSpPr>
        <p:spPr>
          <a:xfrm>
            <a:off x="18220334" y="27742261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34" name="Text 125"/>
          <p:cNvSpPr txBox="1"/>
          <p:nvPr/>
        </p:nvSpPr>
        <p:spPr>
          <a:xfrm>
            <a:off x="18604382" y="27632533"/>
            <a:ext cx="5195621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Features</a:t>
            </a:r>
            <a:endParaRPr lang="en-US" sz="5000" dirty="0"/>
          </a:p>
        </p:txBody>
      </p:sp>
      <p:sp>
        <p:nvSpPr>
          <p:cNvPr id="135" name="Text 126"/>
          <p:cNvSpPr txBox="1"/>
          <p:nvPr/>
        </p:nvSpPr>
        <p:spPr>
          <a:xfrm>
            <a:off x="18220334" y="29551757"/>
            <a:ext cx="5579669" cy="524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age (days since the newest review in the corpus)</a:t>
            </a:r>
            <a:endParaRPr lang="en-US" sz="2900" dirty="0"/>
          </a:p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length, exclamation &amp; question mark counts</a:t>
            </a:r>
            <a:endParaRPr lang="en-US" sz="2900" dirty="0"/>
          </a:p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Verified-purchase flag and capital-letter ratio</a:t>
            </a:r>
            <a:endParaRPr lang="en-US" sz="2900" dirty="0"/>
          </a:p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compound score and number of aspects mentioned</a:t>
            </a:r>
            <a:endParaRPr lang="en-US" sz="2900" dirty="0"/>
          </a:p>
        </p:txBody>
      </p:sp>
      <p:sp>
        <p:nvSpPr>
          <p:cNvPr id="136" name="Shape 127"/>
          <p:cNvSpPr/>
          <p:nvPr/>
        </p:nvSpPr>
        <p:spPr>
          <a:xfrm>
            <a:off x="18220334" y="35538791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37" name="Text 128"/>
          <p:cNvSpPr txBox="1"/>
          <p:nvPr/>
        </p:nvSpPr>
        <p:spPr>
          <a:xfrm>
            <a:off x="18604382" y="35429063"/>
            <a:ext cx="5195621" cy="233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Search</a:t>
            </a:r>
            <a:endParaRPr lang="en-US" sz="5000" dirty="0"/>
          </a:p>
        </p:txBody>
      </p:sp>
      <p:sp>
        <p:nvSpPr>
          <p:cNvPr id="138" name="Text 129"/>
          <p:cNvSpPr txBox="1"/>
          <p:nvPr/>
        </p:nvSpPr>
        <p:spPr>
          <a:xfrm>
            <a:off x="18220334" y="38097587"/>
            <a:ext cx="5579669" cy="135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XGBoost configuration (of 15 randomly sampled, chosen by 3-fold cross-validated F1 on the minority 'helpful' class): 200 trees, max depth 6, learning rate 0.01, 70% row and column subsampling per tree.</a:t>
            </a:r>
            <a:endParaRPr lang="en-US" sz="1600" dirty="0"/>
          </a:p>
        </p:txBody>
      </p:sp>
      <p:sp>
        <p:nvSpPr>
          <p:cNvPr id="139" name="Shape 130"/>
          <p:cNvSpPr/>
          <p:nvPr/>
        </p:nvSpPr>
        <p:spPr>
          <a:xfrm>
            <a:off x="24092611" y="6592824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40" name="Text 131"/>
          <p:cNvSpPr txBox="1"/>
          <p:nvPr/>
        </p:nvSpPr>
        <p:spPr>
          <a:xfrm>
            <a:off x="24476659" y="6483096"/>
            <a:ext cx="5195621" cy="233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Search &amp; RAG Chatbot</a:t>
            </a:r>
            <a:endParaRPr lang="en-US" sz="5000" dirty="0"/>
          </a:p>
        </p:txBody>
      </p:sp>
      <p:sp>
        <p:nvSpPr>
          <p:cNvPr id="141" name="Text 132"/>
          <p:cNvSpPr txBox="1"/>
          <p:nvPr/>
        </p:nvSpPr>
        <p:spPr>
          <a:xfrm>
            <a:off x="24092611" y="9151620"/>
            <a:ext cx="5579669" cy="187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 is embedded with Sentence-Transformers (all-MiniLM-L6-v2, 384-dim, cosine similarity via normalized dot product) for instant nearest-review lookup. A retrieval-augmented chatbot then grounds a local flan-t5-small model in the top-5 retrieved reviews — no external API key required.</a:t>
            </a:r>
            <a:endParaRPr lang="en-US" sz="1600" dirty="0"/>
          </a:p>
        </p:txBody>
      </p:sp>
      <p:sp>
        <p:nvSpPr>
          <p:cNvPr id="142" name="Shape 133"/>
          <p:cNvSpPr/>
          <p:nvPr/>
        </p:nvSpPr>
        <p:spPr>
          <a:xfrm>
            <a:off x="24092611" y="11283188"/>
            <a:ext cx="5579669" cy="1691640"/>
          </a:xfrm>
          <a:prstGeom prst="roundRect">
            <a:avLst>
              <a:gd name="adj" fmla="val 5405"/>
            </a:avLst>
          </a:prstGeom>
          <a:solidFill>
            <a:srgbClr val="EFF2F8"/>
          </a:solidFill>
          <a:ln/>
        </p:spPr>
      </p:sp>
      <p:sp>
        <p:nvSpPr>
          <p:cNvPr id="143" name="Text 134"/>
          <p:cNvSpPr txBox="1"/>
          <p:nvPr/>
        </p:nvSpPr>
        <p:spPr>
          <a:xfrm>
            <a:off x="24293779" y="11392916"/>
            <a:ext cx="517733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"Is the battery life good on this streaming device?"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3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Answer generated from 5 retrieved reviews for ASIN B00ZV9RDKK (175 reviews, 4.41★ avg).</a:t>
            </a:r>
            <a:endParaRPr lang="en-US" sz="1400" dirty="0"/>
          </a:p>
        </p:txBody>
      </p:sp>
      <p:sp>
        <p:nvSpPr>
          <p:cNvPr id="144" name="Text 135"/>
          <p:cNvSpPr txBox="1"/>
          <p:nvPr/>
        </p:nvSpPr>
        <p:spPr>
          <a:xfrm>
            <a:off x="24293779" y="12590780"/>
            <a:ext cx="51773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grounded RAG chatbot exchange.</a:t>
            </a:r>
            <a:endParaRPr lang="en-US" sz="1600" dirty="0"/>
          </a:p>
        </p:txBody>
      </p:sp>
      <p:sp>
        <p:nvSpPr>
          <p:cNvPr id="145" name="Shape 136"/>
          <p:cNvSpPr/>
          <p:nvPr/>
        </p:nvSpPr>
        <p:spPr>
          <a:xfrm>
            <a:off x="24092611" y="13358876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46" name="Text 137"/>
          <p:cNvSpPr txBox="1"/>
          <p:nvPr/>
        </p:nvSpPr>
        <p:spPr>
          <a:xfrm>
            <a:off x="24476659" y="13249148"/>
            <a:ext cx="5195621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5000" dirty="0"/>
          </a:p>
        </p:txBody>
      </p:sp>
      <p:sp>
        <p:nvSpPr>
          <p:cNvPr id="147" name="Text 138"/>
          <p:cNvSpPr txBox="1"/>
          <p:nvPr/>
        </p:nvSpPr>
        <p:spPr>
          <a:xfrm>
            <a:off x="24092611" y="15168372"/>
            <a:ext cx="5579669" cy="161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application unifies every milestone into two audiences: a Buyer View (product overview, strengths/weaknesses, aspect chart, product comparison, chatbot Q&amp;A) and a Company View (corpus-wide complaint ranking, all model results, per-product deep dive).</a:t>
            </a:r>
            <a:endParaRPr lang="en-US" sz="1600" dirty="0"/>
          </a:p>
        </p:txBody>
      </p:sp>
      <p:sp>
        <p:nvSpPr>
          <p:cNvPr id="148" name="Shape 139"/>
          <p:cNvSpPr/>
          <p:nvPr/>
        </p:nvSpPr>
        <p:spPr>
          <a:xfrm>
            <a:off x="24092611" y="17039844"/>
            <a:ext cx="5579669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5875">
            <a:solidFill>
              <a:srgbClr val="E1E0D9"/>
            </a:solidFill>
            <a:prstDash val="solid"/>
          </a:ln>
        </p:spPr>
      </p:sp>
      <p:sp>
        <p:nvSpPr>
          <p:cNvPr id="149" name="Shape 140"/>
          <p:cNvSpPr/>
          <p:nvPr/>
        </p:nvSpPr>
        <p:spPr>
          <a:xfrm>
            <a:off x="24092611" y="17039844"/>
            <a:ext cx="5579669" cy="685800"/>
          </a:xfrm>
          <a:prstGeom prst="roundRect">
            <a:avLst>
              <a:gd name="adj" fmla="val 8000"/>
            </a:avLst>
          </a:prstGeom>
          <a:solidFill>
            <a:srgbClr val="131A2B"/>
          </a:solidFill>
          <a:ln/>
        </p:spPr>
      </p:sp>
      <p:sp>
        <p:nvSpPr>
          <p:cNvPr id="150" name="Shape 141"/>
          <p:cNvSpPr/>
          <p:nvPr/>
        </p:nvSpPr>
        <p:spPr>
          <a:xfrm>
            <a:off x="24092611" y="17382744"/>
            <a:ext cx="5579669" cy="342900"/>
          </a:xfrm>
          <a:prstGeom prst="rect">
            <a:avLst/>
          </a:prstGeom>
          <a:solidFill>
            <a:srgbClr val="131A2B"/>
          </a:solidFill>
          <a:ln/>
        </p:spPr>
      </p:sp>
      <p:sp>
        <p:nvSpPr>
          <p:cNvPr id="151" name="Shape 142"/>
          <p:cNvSpPr/>
          <p:nvPr/>
        </p:nvSpPr>
        <p:spPr>
          <a:xfrm>
            <a:off x="24092611" y="17039844"/>
            <a:ext cx="2789834" cy="6858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52" name="Text 143"/>
          <p:cNvSpPr txBox="1"/>
          <p:nvPr/>
        </p:nvSpPr>
        <p:spPr>
          <a:xfrm>
            <a:off x="24092611" y="17039844"/>
            <a:ext cx="27898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View</a:t>
            </a:r>
            <a:endParaRPr lang="en-US" sz="1700" dirty="0"/>
          </a:p>
        </p:txBody>
      </p:sp>
      <p:sp>
        <p:nvSpPr>
          <p:cNvPr id="153" name="Text 144"/>
          <p:cNvSpPr txBox="1"/>
          <p:nvPr/>
        </p:nvSpPr>
        <p:spPr>
          <a:xfrm>
            <a:off x="26882446" y="17039844"/>
            <a:ext cx="27898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View</a:t>
            </a:r>
            <a:endParaRPr lang="en-US" sz="1700" dirty="0"/>
          </a:p>
        </p:txBody>
      </p:sp>
      <p:sp>
        <p:nvSpPr>
          <p:cNvPr id="154" name="Shape 145"/>
          <p:cNvSpPr/>
          <p:nvPr/>
        </p:nvSpPr>
        <p:spPr>
          <a:xfrm>
            <a:off x="24348643" y="17981676"/>
            <a:ext cx="1591666" cy="914400"/>
          </a:xfrm>
          <a:prstGeom prst="roundRect">
            <a:avLst>
              <a:gd name="adj" fmla="val 5000"/>
            </a:avLst>
          </a:prstGeom>
          <a:solidFill>
            <a:srgbClr val="EFF2F8"/>
          </a:solidFill>
          <a:ln/>
        </p:spPr>
      </p:sp>
      <p:sp>
        <p:nvSpPr>
          <p:cNvPr id="155" name="Shape 146"/>
          <p:cNvSpPr/>
          <p:nvPr/>
        </p:nvSpPr>
        <p:spPr>
          <a:xfrm>
            <a:off x="26086613" y="17981676"/>
            <a:ext cx="1591666" cy="914400"/>
          </a:xfrm>
          <a:prstGeom prst="roundRect">
            <a:avLst>
              <a:gd name="adj" fmla="val 5000"/>
            </a:avLst>
          </a:prstGeom>
          <a:solidFill>
            <a:srgbClr val="EFF2F8"/>
          </a:solidFill>
          <a:ln/>
        </p:spPr>
      </p:sp>
      <p:sp>
        <p:nvSpPr>
          <p:cNvPr id="156" name="Shape 147"/>
          <p:cNvSpPr/>
          <p:nvPr/>
        </p:nvSpPr>
        <p:spPr>
          <a:xfrm>
            <a:off x="27824582" y="17981676"/>
            <a:ext cx="1591666" cy="914400"/>
          </a:xfrm>
          <a:prstGeom prst="roundRect">
            <a:avLst>
              <a:gd name="adj" fmla="val 5000"/>
            </a:avLst>
          </a:prstGeom>
          <a:solidFill>
            <a:srgbClr val="EFF2F8"/>
          </a:solidFill>
          <a:ln/>
        </p:spPr>
      </p:sp>
      <p:sp>
        <p:nvSpPr>
          <p:cNvPr id="157" name="Shape 148"/>
          <p:cNvSpPr/>
          <p:nvPr/>
        </p:nvSpPr>
        <p:spPr>
          <a:xfrm>
            <a:off x="24458371" y="19243548"/>
            <a:ext cx="658368" cy="1143000"/>
          </a:xfrm>
          <a:prstGeom prst="rect">
            <a:avLst/>
          </a:prstGeom>
          <a:solidFill>
            <a:srgbClr val="0CA30C"/>
          </a:solidFill>
          <a:ln/>
        </p:spPr>
      </p:sp>
      <p:sp>
        <p:nvSpPr>
          <p:cNvPr id="158" name="Shape 149"/>
          <p:cNvSpPr/>
          <p:nvPr/>
        </p:nvSpPr>
        <p:spPr>
          <a:xfrm>
            <a:off x="25391059" y="19673316"/>
            <a:ext cx="658368" cy="713232"/>
          </a:xfrm>
          <a:prstGeom prst="rect">
            <a:avLst/>
          </a:prstGeom>
          <a:solidFill>
            <a:srgbClr val="C98500"/>
          </a:solidFill>
          <a:ln/>
        </p:spPr>
      </p:sp>
      <p:sp>
        <p:nvSpPr>
          <p:cNvPr id="159" name="Shape 150"/>
          <p:cNvSpPr/>
          <p:nvPr/>
        </p:nvSpPr>
        <p:spPr>
          <a:xfrm>
            <a:off x="26323747" y="19929348"/>
            <a:ext cx="658368" cy="457200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160" name="Text 151"/>
          <p:cNvSpPr txBox="1"/>
          <p:nvPr/>
        </p:nvSpPr>
        <p:spPr>
          <a:xfrm>
            <a:off x="27393595" y="19563588"/>
            <a:ext cx="18672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sentiment (illustrative)</a:t>
            </a:r>
            <a:endParaRPr lang="en-US" sz="1400" dirty="0"/>
          </a:p>
        </p:txBody>
      </p:sp>
      <p:sp>
        <p:nvSpPr>
          <p:cNvPr id="161" name="Shape 152"/>
          <p:cNvSpPr/>
          <p:nvPr/>
        </p:nvSpPr>
        <p:spPr>
          <a:xfrm>
            <a:off x="24092611" y="21438108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62" name="Text 153"/>
          <p:cNvSpPr txBox="1"/>
          <p:nvPr/>
        </p:nvSpPr>
        <p:spPr>
          <a:xfrm>
            <a:off x="24476659" y="21328380"/>
            <a:ext cx="5195621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5000" dirty="0"/>
          </a:p>
        </p:txBody>
      </p:sp>
      <p:sp>
        <p:nvSpPr>
          <p:cNvPr id="163" name="Text 154"/>
          <p:cNvSpPr txBox="1"/>
          <p:nvPr/>
        </p:nvSpPr>
        <p:spPr>
          <a:xfrm>
            <a:off x="24092611" y="23247604"/>
            <a:ext cx="5579669" cy="135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milestone's outputs — sentiment labels, topics, aspects, embeddings — are cached to disk and loaded lazily by the dashboard, so the buyer and company views stay fast even though five separate models run underneath.</a:t>
            </a:r>
            <a:endParaRPr lang="en-US" sz="1600" dirty="0"/>
          </a:p>
        </p:txBody>
      </p:sp>
      <p:sp>
        <p:nvSpPr>
          <p:cNvPr id="164" name="Shape 155"/>
          <p:cNvSpPr/>
          <p:nvPr/>
        </p:nvSpPr>
        <p:spPr>
          <a:xfrm>
            <a:off x="24092611" y="25389332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65" name="Text 156"/>
          <p:cNvSpPr txBox="1"/>
          <p:nvPr/>
        </p:nvSpPr>
        <p:spPr>
          <a:xfrm>
            <a:off x="24476659" y="25279604"/>
            <a:ext cx="5195621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5000" dirty="0"/>
          </a:p>
        </p:txBody>
      </p:sp>
      <p:sp>
        <p:nvSpPr>
          <p:cNvPr id="166" name="Text 157"/>
          <p:cNvSpPr txBox="1"/>
          <p:nvPr/>
        </p:nvSpPr>
        <p:spPr>
          <a:xfrm>
            <a:off x="24092611" y="27198828"/>
            <a:ext cx="5579669" cy="187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shows that combining classical ML, deep learning, topic modeling, and retrieval-augmented generation gives both buyers and companies a fuller picture than star ratings alone. Future work: generalize beyond Electronics, scale BERT fine-tuning on GPU, and retrain models continuously as new reviews arrive.</a:t>
            </a:r>
            <a:endParaRPr lang="en-US" sz="1600" dirty="0"/>
          </a:p>
        </p:txBody>
      </p:sp>
      <p:sp>
        <p:nvSpPr>
          <p:cNvPr id="167" name="Shape 158"/>
          <p:cNvSpPr/>
          <p:nvPr/>
        </p:nvSpPr>
        <p:spPr>
          <a:xfrm>
            <a:off x="24092611" y="29403548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68" name="Text 159"/>
          <p:cNvSpPr txBox="1"/>
          <p:nvPr/>
        </p:nvSpPr>
        <p:spPr>
          <a:xfrm>
            <a:off x="24476659" y="29293820"/>
            <a:ext cx="5195621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5000" dirty="0"/>
          </a:p>
        </p:txBody>
      </p:sp>
      <p:sp>
        <p:nvSpPr>
          <p:cNvPr id="169" name="Text 160"/>
          <p:cNvSpPr txBox="1"/>
          <p:nvPr/>
        </p:nvSpPr>
        <p:spPr>
          <a:xfrm>
            <a:off x="24092611" y="31213044"/>
            <a:ext cx="5579669" cy="4703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milestone is a standalone, runnable Python script</a:t>
            </a:r>
            <a:endParaRPr lang="en-US" sz="2900" dirty="0"/>
          </a:p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dependencies in requirements.txt for each project stage</a:t>
            </a:r>
            <a:endParaRPr lang="en-US" sz="2900" dirty="0"/>
          </a:p>
          <a:p>
            <a:pPr algn="l" marL="228600" indent="-228600">
              <a:spcAft>
                <a:spcPts val="800"/>
              </a:spcAft>
              <a:buSzPct val="100000"/>
              <a:buChar char="●"/>
            </a:pPr>
            <a:r>
              <a:rPr lang="en-US" sz="2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→ cleaned data → models → dashboard, one command apart</a:t>
            </a:r>
            <a:endParaRPr lang="en-US" sz="2900" dirty="0"/>
          </a:p>
        </p:txBody>
      </p:sp>
      <p:sp>
        <p:nvSpPr>
          <p:cNvPr id="170" name="Shape 161"/>
          <p:cNvSpPr/>
          <p:nvPr/>
        </p:nvSpPr>
        <p:spPr>
          <a:xfrm>
            <a:off x="24092611" y="36657153"/>
            <a:ext cx="256032" cy="25603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71" name="Text 162"/>
          <p:cNvSpPr txBox="1"/>
          <p:nvPr/>
        </p:nvSpPr>
        <p:spPr>
          <a:xfrm>
            <a:off x="24476659" y="36547425"/>
            <a:ext cx="5195621" cy="111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References</a:t>
            </a:r>
            <a:endParaRPr lang="en-US" sz="3400" dirty="0"/>
          </a:p>
        </p:txBody>
      </p:sp>
      <p:sp>
        <p:nvSpPr>
          <p:cNvPr id="172" name="Text 163"/>
          <p:cNvSpPr txBox="1"/>
          <p:nvPr/>
        </p:nvSpPr>
        <p:spPr>
          <a:xfrm>
            <a:off x="24092611" y="37987097"/>
            <a:ext cx="5579669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scikit-learn · PyTorch / Transformers · XGBoost · Sentence-Transformers · Streamlit · VADER Sentiment</a:t>
            </a:r>
            <a:endParaRPr lang="en-US" sz="1700" dirty="0"/>
          </a:p>
        </p:txBody>
      </p:sp>
      <p:sp>
        <p:nvSpPr>
          <p:cNvPr id="173" name="Text 164"/>
          <p:cNvSpPr txBox="1"/>
          <p:nvPr/>
        </p:nvSpPr>
        <p:spPr>
          <a:xfrm>
            <a:off x="24092611" y="39072185"/>
            <a:ext cx="5579669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Hou et al., “Bridging Language and Items for Retrieval and Recommendation” (McAuley Lab, Amazon Reviews 2023). huggingface.co/datasets/McAuley-Lab/Amazon-Reviews-2023</a:t>
            </a:r>
            <a:endParaRPr lang="en-US" sz="1500" dirty="0"/>
          </a:p>
        </p:txBody>
      </p:sp>
      <p:sp>
        <p:nvSpPr>
          <p:cNvPr id="174" name="Shape 165"/>
          <p:cNvSpPr/>
          <p:nvPr/>
        </p:nvSpPr>
        <p:spPr>
          <a:xfrm>
            <a:off x="0" y="39602664"/>
            <a:ext cx="30275784" cy="3200400"/>
          </a:xfrm>
          <a:prstGeom prst="rect">
            <a:avLst/>
          </a:prstGeom>
          <a:solidFill>
            <a:srgbClr val="131A2B"/>
          </a:solidFill>
          <a:ln/>
        </p:spPr>
      </p:sp>
      <p:sp>
        <p:nvSpPr>
          <p:cNvPr id="175" name="Text 166"/>
          <p:cNvSpPr txBox="1"/>
          <p:nvPr/>
        </p:nvSpPr>
        <p:spPr>
          <a:xfrm>
            <a:off x="603504" y="40105584"/>
            <a:ext cx="9384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[author.email@example.com]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[github.com/your-username/amazon-review-intelligence]</a:t>
            </a:r>
            <a:endParaRPr lang="en-US" sz="2000" dirty="0"/>
          </a:p>
        </p:txBody>
      </p:sp>
      <p:sp>
        <p:nvSpPr>
          <p:cNvPr id="176" name="Text 167"/>
          <p:cNvSpPr txBox="1"/>
          <p:nvPr/>
        </p:nvSpPr>
        <p:spPr>
          <a:xfrm>
            <a:off x="10445496" y="40105584"/>
            <a:ext cx="9384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Acknowledgments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independently as an academic machine learning &amp; NLP project, exploring the full pipeline from raw review data to a production-style analytics dashboard.</a:t>
            </a:r>
            <a:endParaRPr lang="en-US" sz="2000" dirty="0"/>
          </a:p>
        </p:txBody>
      </p:sp>
      <p:sp>
        <p:nvSpPr>
          <p:cNvPr id="177" name="Shape 168"/>
          <p:cNvSpPr/>
          <p:nvPr/>
        </p:nvSpPr>
        <p:spPr>
          <a:xfrm>
            <a:off x="28849320" y="40105584"/>
            <a:ext cx="822960" cy="82296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78" name="Text 169"/>
          <p:cNvSpPr txBox="1"/>
          <p:nvPr/>
        </p:nvSpPr>
        <p:spPr>
          <a:xfrm>
            <a:off x="28849320" y="4010558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200" dirty="0"/>
          </a:p>
        </p:txBody>
      </p:sp>
      <p:sp>
        <p:nvSpPr>
          <p:cNvPr id="179" name="Text 170"/>
          <p:cNvSpPr txBox="1"/>
          <p:nvPr/>
        </p:nvSpPr>
        <p:spPr>
          <a:xfrm>
            <a:off x="20287488" y="41065704"/>
            <a:ext cx="938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ReviewIQ —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2026-08-29T09:32:30Z</dcterms:created>
  <dcterms:modified xsi:type="dcterms:W3CDTF">2026-08-29T09:32:30Z</dcterms:modified>
</cp:coreProperties>
</file>