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3625" cy="302799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21383625" cy="30279975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hape"/>
          <p:cNvSpPr/>
          <p:nvPr/>
        </p:nvSpPr>
        <p:spPr>
          <a:xfrm>
            <a:off x="0" y="0"/>
            <a:ext cx="21383625" cy="2933700"/>
          </a:xfrm>
          <a:prstGeom prst="rect">
            <a:avLst/>
          </a:prstGeom>
          <a:gradFill rotWithShape="1">
            <a:gsLst>
              <a:gs pos="0">
                <a:srgbClr val="131A2B"/>
              </a:gs>
              <a:gs pos="100000">
                <a:srgbClr val="1F2A44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hape"/>
          <p:cNvSpPr/>
          <p:nvPr/>
        </p:nvSpPr>
        <p:spPr>
          <a:xfrm>
            <a:off x="0" y="2838450"/>
            <a:ext cx="21383625" cy="95250"/>
          </a:xfrm>
          <a:prstGeom prst="rect">
            <a:avLst/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"/>
          <p:cNvSpPr txBox="1"/>
          <p:nvPr/>
        </p:nvSpPr>
        <p:spPr>
          <a:xfrm>
            <a:off x="533400" y="352425"/>
            <a:ext cx="1387792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1" i="0" spc="225">
                <a:solidFill>
                  <a:srgbClr val="C8D2E6"/>
                </a:solidFill>
                <a:latin typeface="Arial"/>
              </a:rPr>
              <a:t>VIDYALANKAR INSTITUTE OF TECHNOLOGY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33400" y="641896"/>
            <a:ext cx="13877925" cy="1266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sz="7800" b="1" i="0" spc="-150">
                <a:solidFill>
                  <a:srgbClr val="FFFFFF"/>
                </a:solidFill>
                <a:latin typeface="Arial"/>
              </a:rPr>
              <a:t>Review</a:t>
            </a:r>
            <a:r>
              <a:rPr sz="7800" b="1" i="0" spc="-150">
                <a:solidFill>
                  <a:srgbClr val="E8622C"/>
                </a:solidFill>
                <a:latin typeface="Arial"/>
              </a:rPr>
              <a:t>IQ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533400" y="1861096"/>
            <a:ext cx="13877925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33"/>
              </a:lnSpc>
            </a:pPr>
            <a:r>
              <a:rPr sz="2850" b="0" i="0">
                <a:solidFill>
                  <a:srgbClr val="DBE3F3"/>
                </a:solidFill>
                <a:latin typeface="Arial"/>
              </a:rPr>
              <a:t>AI-Based Product Review Intelligence and Consumer Insight System</a:t>
            </a:r>
          </a:p>
        </p:txBody>
      </p:sp>
      <p:sp>
        <p:nvSpPr>
          <p:cNvPr id="8" name="Shape"/>
          <p:cNvSpPr/>
          <p:nvPr/>
        </p:nvSpPr>
        <p:spPr>
          <a:xfrm>
            <a:off x="533400" y="2474863"/>
            <a:ext cx="714375" cy="391567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666750" y="2522488"/>
            <a:ext cx="485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sz="1800" b="1" i="0">
                <a:solidFill>
                  <a:srgbClr val="1E40AF"/>
                </a:solidFill>
                <a:latin typeface="Arial"/>
              </a:rPr>
              <a:t>NLP</a:t>
            </a:r>
          </a:p>
        </p:txBody>
      </p:sp>
      <p:sp>
        <p:nvSpPr>
          <p:cNvPr id="10" name="Shape"/>
          <p:cNvSpPr/>
          <p:nvPr/>
        </p:nvSpPr>
        <p:spPr>
          <a:xfrm>
            <a:off x="1362075" y="2474863"/>
            <a:ext cx="1876425" cy="391567"/>
          </a:xfrm>
          <a:prstGeom prst="roundRect">
            <a:avLst>
              <a:gd name="adj" fmla="val 50000"/>
            </a:avLst>
          </a:prstGeom>
          <a:solidFill>
            <a:srgbClr val="FFE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1495425" y="2522488"/>
            <a:ext cx="164782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sz="1800" b="1" i="0">
                <a:solidFill>
                  <a:srgbClr val="9A3412"/>
                </a:solidFill>
                <a:latin typeface="Arial"/>
              </a:rPr>
              <a:t>Deep Learning</a:t>
            </a:r>
          </a:p>
        </p:txBody>
      </p:sp>
      <p:sp>
        <p:nvSpPr>
          <p:cNvPr id="12" name="Shape"/>
          <p:cNvSpPr/>
          <p:nvPr/>
        </p:nvSpPr>
        <p:spPr>
          <a:xfrm>
            <a:off x="3352800" y="2474863"/>
            <a:ext cx="1771650" cy="391567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3486150" y="2522488"/>
            <a:ext cx="15430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sz="1800" b="1" i="0">
                <a:solidFill>
                  <a:srgbClr val="115E59"/>
                </a:solidFill>
                <a:latin typeface="Arial"/>
              </a:rPr>
              <a:t>Advanced ML</a:t>
            </a:r>
          </a:p>
        </p:txBody>
      </p:sp>
      <p:sp>
        <p:nvSpPr>
          <p:cNvPr id="14" name="Shape"/>
          <p:cNvSpPr/>
          <p:nvPr/>
        </p:nvSpPr>
        <p:spPr>
          <a:xfrm>
            <a:off x="14754225" y="513308"/>
            <a:ext cx="6096000" cy="2277814"/>
          </a:xfrm>
          <a:prstGeom prst="roundRect">
            <a:avLst>
              <a:gd name="adj" fmla="val 7526"/>
            </a:avLst>
          </a:prstGeom>
          <a:solidFill>
            <a:srgbClr val="313B53"/>
          </a:solidFill>
          <a:ln w="19050">
            <a:solidFill>
              <a:srgbClr val="475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15039975" y="665708"/>
            <a:ext cx="55626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sz="1400" b="1" i="0" spc="150">
                <a:solidFill>
                  <a:srgbClr val="E8622C"/>
                </a:solidFill>
                <a:latin typeface="Arial"/>
              </a:rPr>
              <a:t>PROJECT TEAM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5039975" y="958007"/>
            <a:ext cx="149542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2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Nidhi Bhawari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9221450" y="958007"/>
            <a:ext cx="138112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2"/>
              </a:lnSpc>
            </a:pPr>
            <a:r>
              <a:rPr sz="1700" b="0" i="0">
                <a:solidFill>
                  <a:srgbClr val="C8D2E6"/>
                </a:solidFill>
                <a:latin typeface="Arial"/>
              </a:rPr>
              <a:t>23102A0006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5039975" y="1280815"/>
            <a:ext cx="130492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2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Aarti Sakpal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9221450" y="1280815"/>
            <a:ext cx="138112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2"/>
              </a:lnSpc>
            </a:pPr>
            <a:r>
              <a:rPr sz="1700" b="0" i="0">
                <a:solidFill>
                  <a:srgbClr val="C8D2E6"/>
                </a:solidFill>
                <a:latin typeface="Arial"/>
              </a:rPr>
              <a:t>23102A0007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5039975" y="1603623"/>
            <a:ext cx="13335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2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Gayatri Patil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9221450" y="1603623"/>
            <a:ext cx="138112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2"/>
              </a:lnSpc>
            </a:pPr>
            <a:r>
              <a:rPr sz="1700" b="0" i="0">
                <a:solidFill>
                  <a:srgbClr val="C8D2E6"/>
                </a:solidFill>
                <a:latin typeface="Arial"/>
              </a:rPr>
              <a:t>23102A0016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5039975" y="1926431"/>
            <a:ext cx="16287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2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Prachi Wakode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19221450" y="1926431"/>
            <a:ext cx="138112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2"/>
              </a:lnSpc>
            </a:pPr>
            <a:r>
              <a:rPr sz="1700" b="0" i="0">
                <a:solidFill>
                  <a:srgbClr val="C8D2E6"/>
                </a:solidFill>
                <a:latin typeface="Arial"/>
              </a:rPr>
              <a:t>23102A0020</a:t>
            </a:r>
          </a:p>
        </p:txBody>
      </p:sp>
      <p:sp>
        <p:nvSpPr>
          <p:cNvPr id="24" name="Shape"/>
          <p:cNvSpPr/>
          <p:nvPr/>
        </p:nvSpPr>
        <p:spPr>
          <a:xfrm>
            <a:off x="15039975" y="2287339"/>
            <a:ext cx="5524500" cy="9525"/>
          </a:xfrm>
          <a:prstGeom prst="rect">
            <a:avLst/>
          </a:prstGeom>
          <a:solidFill>
            <a:srgbClr val="4C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"/>
          <p:cNvSpPr txBox="1"/>
          <p:nvPr/>
        </p:nvSpPr>
        <p:spPr>
          <a:xfrm>
            <a:off x="15039975" y="2354014"/>
            <a:ext cx="55626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2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Guide: Prof. Sneha Annappanavar</a:t>
            </a:r>
          </a:p>
        </p:txBody>
      </p:sp>
      <p:sp>
        <p:nvSpPr>
          <p:cNvPr id="26" name="Card 1"/>
          <p:cNvSpPr/>
          <p:nvPr/>
        </p:nvSpPr>
        <p:spPr>
          <a:xfrm>
            <a:off x="381000" y="3143250"/>
            <a:ext cx="6683276" cy="4460081"/>
          </a:xfrm>
          <a:prstGeom prst="roundRect">
            <a:avLst>
              <a:gd name="adj" fmla="val 3844"/>
            </a:avLst>
          </a:prstGeom>
          <a:solidFill>
            <a:srgbClr val="FFFFFF"/>
          </a:solidFill>
          <a:ln w="1905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hape"/>
          <p:cNvSpPr/>
          <p:nvPr/>
        </p:nvSpPr>
        <p:spPr>
          <a:xfrm>
            <a:off x="666750" y="3452366"/>
            <a:ext cx="114300" cy="323850"/>
          </a:xfrm>
          <a:prstGeom prst="roundRect">
            <a:avLst>
              <a:gd name="adj" fmla="val 33333"/>
            </a:avLst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"/>
          <p:cNvSpPr txBox="1"/>
          <p:nvPr/>
        </p:nvSpPr>
        <p:spPr>
          <a:xfrm>
            <a:off x="914400" y="3400425"/>
            <a:ext cx="3895725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sz="2550" b="1" i="0">
                <a:solidFill>
                  <a:srgbClr val="131A2B"/>
                </a:solidFill>
                <a:latin typeface="Arial"/>
              </a:rPr>
              <a:t>Problem and Objectives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666750" y="3961507"/>
            <a:ext cx="6149876" cy="899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sz="1700" b="0" i="0">
                <a:solidFill>
                  <a:srgbClr val="1F2937"/>
                </a:solidFill>
                <a:latin typeface="Arial"/>
              </a:rPr>
              <a:t>A popular product can have thousands of free-text reviews that nobody can read in full. Buyers ask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"should I buy this?"</a:t>
            </a:r>
            <a:r>
              <a:rPr sz="1700" b="0" i="0">
                <a:solidFill>
                  <a:srgbClr val="1F2937"/>
                </a:solidFill>
                <a:latin typeface="Arial"/>
              </a:rPr>
              <a:t>; sellers ask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"what should we improve?"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704850" y="4963567"/>
            <a:ext cx="6111776" cy="597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47650" indent="-247650">
              <a:lnSpc>
                <a:spcPts val="2380"/>
              </a:lnSpc>
              <a:buFont typeface="Arial"/>
              <a:buChar char="•"/>
            </a:pPr>
            <a:r>
              <a:rPr sz="1700" b="0" i="0">
                <a:solidFill>
                  <a:srgbClr val="1F2937"/>
                </a:solidFill>
                <a:latin typeface="Arial"/>
              </a:rPr>
              <a:t>Classify review sentiment (positive, neutral, negative) with NLP, deep learning and advanced ML models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704850" y="5625257"/>
            <a:ext cx="6111776" cy="597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47650" indent="-247650">
              <a:lnSpc>
                <a:spcPts val="2380"/>
              </a:lnSpc>
              <a:buFont typeface="Arial"/>
              <a:buChar char="•"/>
            </a:pPr>
            <a:r>
              <a:rPr sz="1700" b="0" i="0">
                <a:solidFill>
                  <a:srgbClr val="1F2937"/>
                </a:solidFill>
                <a:latin typeface="Arial"/>
              </a:rPr>
              <a:t>Rank complaint areas by aspect (battery, sound, camera)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704850" y="6286946"/>
            <a:ext cx="611177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47650" indent="-247650">
              <a:lnSpc>
                <a:spcPts val="2380"/>
              </a:lnSpc>
              <a:buFont typeface="Arial"/>
              <a:buChar char="•"/>
            </a:pPr>
            <a:r>
              <a:rPr sz="1700" b="0" i="0">
                <a:solidFill>
                  <a:srgbClr val="1F2937"/>
                </a:solidFill>
                <a:latin typeface="Arial"/>
              </a:rPr>
              <a:t>Score review helpfulness and flag suspicious reviews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704850" y="6646366"/>
            <a:ext cx="611177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47650" indent="-247650">
              <a:lnSpc>
                <a:spcPts val="2380"/>
              </a:lnSpc>
              <a:buFont typeface="Arial"/>
              <a:buChar char="•"/>
            </a:pPr>
            <a:r>
              <a:rPr sz="1700" b="0" i="0">
                <a:solidFill>
                  <a:srgbClr val="1F2937"/>
                </a:solidFill>
                <a:latin typeface="Arial"/>
              </a:rPr>
              <a:t>Answer product questions from reviews, with evidence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704850" y="7005786"/>
            <a:ext cx="611177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47650" indent="-247650">
              <a:lnSpc>
                <a:spcPts val="2380"/>
              </a:lnSpc>
              <a:buFont typeface="Arial"/>
              <a:buChar char="•"/>
            </a:pPr>
            <a:r>
              <a:rPr sz="1700" b="0" i="0">
                <a:solidFill>
                  <a:srgbClr val="1F2937"/>
                </a:solidFill>
                <a:latin typeface="Arial"/>
              </a:rPr>
              <a:t>Deliver everything in one interactive dashboard</a:t>
            </a:r>
          </a:p>
        </p:txBody>
      </p:sp>
      <p:sp>
        <p:nvSpPr>
          <p:cNvPr id="35" name="Card 2"/>
          <p:cNvSpPr/>
          <p:nvPr/>
        </p:nvSpPr>
        <p:spPr>
          <a:xfrm>
            <a:off x="381000" y="7850981"/>
            <a:ext cx="6683276" cy="4181773"/>
          </a:xfrm>
          <a:prstGeom prst="roundRect">
            <a:avLst>
              <a:gd name="adj" fmla="val 4099"/>
            </a:avLst>
          </a:prstGeom>
          <a:solidFill>
            <a:srgbClr val="FFFFFF"/>
          </a:solidFill>
          <a:ln w="1905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hape"/>
          <p:cNvSpPr/>
          <p:nvPr/>
        </p:nvSpPr>
        <p:spPr>
          <a:xfrm>
            <a:off x="666750" y="8160097"/>
            <a:ext cx="114300" cy="323850"/>
          </a:xfrm>
          <a:prstGeom prst="roundRect">
            <a:avLst>
              <a:gd name="adj" fmla="val 33333"/>
            </a:avLst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"/>
          <p:cNvSpPr txBox="1"/>
          <p:nvPr/>
        </p:nvSpPr>
        <p:spPr>
          <a:xfrm>
            <a:off x="914400" y="8108156"/>
            <a:ext cx="4343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sz="2550" b="1" i="0">
                <a:solidFill>
                  <a:srgbClr val="131A2B"/>
                </a:solidFill>
                <a:latin typeface="Arial"/>
              </a:rPr>
              <a:t>Dataset and Preprocessing</a:t>
            </a:r>
          </a:p>
        </p:txBody>
      </p:sp>
      <p:sp>
        <p:nvSpPr>
          <p:cNvPr id="38" name="Shape"/>
          <p:cNvSpPr/>
          <p:nvPr/>
        </p:nvSpPr>
        <p:spPr>
          <a:xfrm>
            <a:off x="666750" y="8659713"/>
            <a:ext cx="2989213" cy="1028998"/>
          </a:xfrm>
          <a:prstGeom prst="roundRect">
            <a:avLst>
              <a:gd name="adj" fmla="val 12959"/>
            </a:avLst>
          </a:prstGeom>
          <a:solidFill>
            <a:srgbClr val="FFF7ED"/>
          </a:solidFill>
          <a:ln w="19050">
            <a:solidFill>
              <a:srgbClr val="FDE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"/>
          <p:cNvSpPr txBox="1"/>
          <p:nvPr/>
        </p:nvSpPr>
        <p:spPr>
          <a:xfrm>
            <a:off x="838200" y="8745438"/>
            <a:ext cx="2684413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22"/>
              </a:lnSpc>
            </a:pPr>
            <a:r>
              <a:rPr sz="3450" b="1" i="0">
                <a:solidFill>
                  <a:srgbClr val="E8622C"/>
                </a:solidFill>
                <a:latin typeface="Arial"/>
              </a:rPr>
              <a:t>50,000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819150" y="9300716"/>
            <a:ext cx="272251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sz="1400" b="0" i="0">
                <a:solidFill>
                  <a:srgbClr val="5B6475"/>
                </a:solidFill>
                <a:latin typeface="Arial"/>
              </a:rPr>
              <a:t>Amazon Electronics reviews</a:t>
            </a:r>
          </a:p>
        </p:txBody>
      </p:sp>
      <p:sp>
        <p:nvSpPr>
          <p:cNvPr id="41" name="Shape"/>
          <p:cNvSpPr/>
          <p:nvPr/>
        </p:nvSpPr>
        <p:spPr>
          <a:xfrm>
            <a:off x="3789313" y="8659713"/>
            <a:ext cx="2989213" cy="1028998"/>
          </a:xfrm>
          <a:prstGeom prst="roundRect">
            <a:avLst>
              <a:gd name="adj" fmla="val 12959"/>
            </a:avLst>
          </a:prstGeom>
          <a:solidFill>
            <a:srgbClr val="EFF6FF"/>
          </a:solidFill>
          <a:ln w="19050">
            <a:solidFill>
              <a:srgbClr val="CFE0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"/>
          <p:cNvSpPr txBox="1"/>
          <p:nvPr/>
        </p:nvSpPr>
        <p:spPr>
          <a:xfrm>
            <a:off x="3960763" y="8745438"/>
            <a:ext cx="2684413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22"/>
              </a:lnSpc>
            </a:pPr>
            <a:r>
              <a:rPr sz="3450" b="1" i="0">
                <a:solidFill>
                  <a:srgbClr val="2563EB"/>
                </a:solidFill>
                <a:latin typeface="Arial"/>
              </a:rPr>
              <a:t>34,365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3941713" y="9300716"/>
            <a:ext cx="272251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sz="1400" b="0" i="0">
                <a:solidFill>
                  <a:srgbClr val="5B6475"/>
                </a:solidFill>
                <a:latin typeface="Arial"/>
              </a:rPr>
              <a:t>products</a:t>
            </a:r>
          </a:p>
        </p:txBody>
      </p:sp>
      <p:sp>
        <p:nvSpPr>
          <p:cNvPr id="44" name="Shape"/>
          <p:cNvSpPr/>
          <p:nvPr/>
        </p:nvSpPr>
        <p:spPr>
          <a:xfrm>
            <a:off x="666750" y="9822061"/>
            <a:ext cx="2989213" cy="1028998"/>
          </a:xfrm>
          <a:prstGeom prst="roundRect">
            <a:avLst>
              <a:gd name="adj" fmla="val 12959"/>
            </a:avLst>
          </a:prstGeom>
          <a:solidFill>
            <a:srgbClr val="F0FDFA"/>
          </a:solidFill>
          <a:ln w="19050">
            <a:solidFill>
              <a:srgbClr val="C4E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"/>
          <p:cNvSpPr txBox="1"/>
          <p:nvPr/>
        </p:nvSpPr>
        <p:spPr>
          <a:xfrm>
            <a:off x="838200" y="9907786"/>
            <a:ext cx="2684413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22"/>
              </a:lnSpc>
            </a:pPr>
            <a:r>
              <a:rPr sz="3450" b="1" i="0">
                <a:solidFill>
                  <a:srgbClr val="0F766E"/>
                </a:solidFill>
                <a:latin typeface="Arial"/>
              </a:rPr>
              <a:t>8,883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819150" y="10463064"/>
            <a:ext cx="272251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sz="1400" b="0" i="0">
                <a:solidFill>
                  <a:srgbClr val="5B6475"/>
                </a:solidFill>
                <a:latin typeface="Arial"/>
              </a:rPr>
              <a:t>reviewers</a:t>
            </a:r>
          </a:p>
        </p:txBody>
      </p:sp>
      <p:sp>
        <p:nvSpPr>
          <p:cNvPr id="47" name="Shape"/>
          <p:cNvSpPr/>
          <p:nvPr/>
        </p:nvSpPr>
        <p:spPr>
          <a:xfrm>
            <a:off x="3789313" y="9822061"/>
            <a:ext cx="2989213" cy="1028998"/>
          </a:xfrm>
          <a:prstGeom prst="roundRect">
            <a:avLst>
              <a:gd name="adj" fmla="val 12959"/>
            </a:avLst>
          </a:prstGeom>
          <a:solidFill>
            <a:srgbClr val="FFF7ED"/>
          </a:solidFill>
          <a:ln w="19050">
            <a:solidFill>
              <a:srgbClr val="FDE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"/>
          <p:cNvSpPr txBox="1"/>
          <p:nvPr/>
        </p:nvSpPr>
        <p:spPr>
          <a:xfrm>
            <a:off x="3960763" y="9907786"/>
            <a:ext cx="2684413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22"/>
              </a:lnSpc>
            </a:pPr>
            <a:r>
              <a:rPr sz="3450" b="1" i="0">
                <a:solidFill>
                  <a:srgbClr val="E8622C"/>
                </a:solidFill>
                <a:latin typeface="Arial"/>
              </a:rPr>
              <a:t>80 / 7 / 13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3941713" y="10463064"/>
            <a:ext cx="272251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sz="1400" b="0" i="0">
                <a:solidFill>
                  <a:srgbClr val="5B6475"/>
                </a:solidFill>
                <a:latin typeface="Arial"/>
              </a:rPr>
              <a:t>% positive / neutral / negative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666750" y="10984409"/>
            <a:ext cx="6149876" cy="717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sz="1400" b="0" i="0">
                <a:solidFill>
                  <a:srgbClr val="5B6475"/>
                </a:solidFill>
                <a:latin typeface="Arial"/>
              </a:rPr>
              <a:t>Amazon Reviews 2023, cleaned and labelled from star ratings (4-5 positive, 3 neutral, 1-2 negative). Product name, brand and image joined by parent ASIN. One shared 40,000 / 10,000 train and test split.</a:t>
            </a:r>
          </a:p>
        </p:txBody>
      </p:sp>
      <p:sp>
        <p:nvSpPr>
          <p:cNvPr id="51" name="Card 3"/>
          <p:cNvSpPr/>
          <p:nvPr/>
        </p:nvSpPr>
        <p:spPr>
          <a:xfrm>
            <a:off x="381000" y="12280404"/>
            <a:ext cx="6683276" cy="5869781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 w="1905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hape"/>
          <p:cNvSpPr/>
          <p:nvPr/>
        </p:nvSpPr>
        <p:spPr>
          <a:xfrm>
            <a:off x="666750" y="12589520"/>
            <a:ext cx="114300" cy="323850"/>
          </a:xfrm>
          <a:prstGeom prst="roundRect">
            <a:avLst>
              <a:gd name="adj" fmla="val 33333"/>
            </a:avLst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"/>
          <p:cNvSpPr txBox="1"/>
          <p:nvPr/>
        </p:nvSpPr>
        <p:spPr>
          <a:xfrm>
            <a:off x="914400" y="12537579"/>
            <a:ext cx="3343275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sz="2550" b="1" i="0">
                <a:solidFill>
                  <a:srgbClr val="131A2B"/>
                </a:solidFill>
                <a:latin typeface="Arial"/>
              </a:rPr>
              <a:t>System Architecture</a:t>
            </a:r>
          </a:p>
        </p:txBody>
      </p:sp>
      <p:pic>
        <p:nvPicPr>
          <p:cNvPr id="54" name="Picture poster_framework" descr="poster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28" y="13089136"/>
            <a:ext cx="5928420" cy="4188023"/>
          </a:xfrm>
          <a:prstGeom prst="rect">
            <a:avLst/>
          </a:prstGeom>
        </p:spPr>
      </p:pic>
      <p:sp>
        <p:nvSpPr>
          <p:cNvPr id="55" name="Text"/>
          <p:cNvSpPr txBox="1"/>
          <p:nvPr/>
        </p:nvSpPr>
        <p:spPr>
          <a:xfrm>
            <a:off x="666750" y="17334309"/>
            <a:ext cx="6149876" cy="4746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63"/>
              </a:lnSpc>
            </a:pPr>
            <a:r>
              <a:rPr sz="1350" b="0" i="0">
                <a:solidFill>
                  <a:srgbClr val="5B6475"/>
                </a:solidFill>
                <a:latin typeface="Arial"/>
              </a:rPr>
              <a:t>Reviews and metadata feed three branches, then product intelligence and grounded question answering.</a:t>
            </a:r>
          </a:p>
        </p:txBody>
      </p:sp>
      <p:sp>
        <p:nvSpPr>
          <p:cNvPr id="56" name="Card 4"/>
          <p:cNvSpPr/>
          <p:nvPr/>
        </p:nvSpPr>
        <p:spPr>
          <a:xfrm>
            <a:off x="381000" y="18397835"/>
            <a:ext cx="6683276" cy="5238304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905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hape"/>
          <p:cNvSpPr/>
          <p:nvPr/>
        </p:nvSpPr>
        <p:spPr>
          <a:xfrm>
            <a:off x="666750" y="18706951"/>
            <a:ext cx="114300" cy="323850"/>
          </a:xfrm>
          <a:prstGeom prst="roundRect">
            <a:avLst>
              <a:gd name="adj" fmla="val 33333"/>
            </a:avLst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"/>
          <p:cNvSpPr txBox="1"/>
          <p:nvPr/>
        </p:nvSpPr>
        <p:spPr>
          <a:xfrm>
            <a:off x="914400" y="18655010"/>
            <a:ext cx="3514725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sz="2550" b="1" i="0">
                <a:solidFill>
                  <a:srgbClr val="131A2B"/>
                </a:solidFill>
                <a:latin typeface="Arial"/>
              </a:rPr>
              <a:t>Deep Learning Branch</a:t>
            </a:r>
          </a:p>
        </p:txBody>
      </p:sp>
      <p:sp>
        <p:nvSpPr>
          <p:cNvPr id="59" name="Text"/>
          <p:cNvSpPr txBox="1"/>
          <p:nvPr/>
        </p:nvSpPr>
        <p:spPr>
          <a:xfrm>
            <a:off x="666750" y="19216092"/>
            <a:ext cx="3156645" cy="2108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sz="1700" b="1" i="0">
                <a:solidFill>
                  <a:srgbClr val="1F2937"/>
                </a:solidFill>
                <a:latin typeface="Arial"/>
              </a:rPr>
              <a:t>BiLSTM + Attention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trained from scratch: 14,937-word vocabulary, 2 x 128 bidirectional LSTM, 2.57 M parameters, class-weighted loss, about 7 minutes on a laptop GPU.</a:t>
            </a:r>
          </a:p>
        </p:txBody>
      </p:sp>
      <p:sp>
        <p:nvSpPr>
          <p:cNvPr id="60" name="Text"/>
          <p:cNvSpPr txBox="1"/>
          <p:nvPr/>
        </p:nvSpPr>
        <p:spPr>
          <a:xfrm>
            <a:off x="666750" y="21427232"/>
            <a:ext cx="3156645" cy="597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sz="1700" b="1" i="0">
                <a:solidFill>
                  <a:srgbClr val="1F2937"/>
                </a:solidFill>
                <a:latin typeface="Arial"/>
              </a:rPr>
              <a:t>DistilBERT</a:t>
            </a:r>
            <a:r>
              <a:rPr sz="1700" b="0" i="0">
                <a:solidFill>
                  <a:srgbClr val="1F2937"/>
                </a:solidFill>
                <a:latin typeface="Arial"/>
              </a:rPr>
              <a:t> fine-tuned on 6,000 reviews (CPU).</a:t>
            </a:r>
          </a:p>
        </p:txBody>
      </p:sp>
      <p:sp>
        <p:nvSpPr>
          <p:cNvPr id="61" name="Text"/>
          <p:cNvSpPr txBox="1"/>
          <p:nvPr/>
        </p:nvSpPr>
        <p:spPr>
          <a:xfrm>
            <a:off x="666750" y="22117496"/>
            <a:ext cx="3156645" cy="1188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sz="1400" b="0" i="0">
                <a:solidFill>
                  <a:srgbClr val="5B6475"/>
                </a:solidFill>
                <a:latin typeface="Arial"/>
              </a:rPr>
              <a:t>The Deep Learning Lab page adds training curves, a confusion matrix, word clouds and a live classifier that highlights the words the LSTM attended to.</a:t>
            </a:r>
          </a:p>
        </p:txBody>
      </p:sp>
      <p:pic>
        <p:nvPicPr>
          <p:cNvPr id="62" name="Picture poster_lstm" descr="poster_lst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111" y="19845338"/>
            <a:ext cx="2483048" cy="2904381"/>
          </a:xfrm>
          <a:prstGeom prst="rect">
            <a:avLst/>
          </a:prstGeom>
        </p:spPr>
      </p:pic>
      <p:sp>
        <p:nvSpPr>
          <p:cNvPr id="63" name="Card 5"/>
          <p:cNvSpPr/>
          <p:nvPr/>
        </p:nvSpPr>
        <p:spPr>
          <a:xfrm>
            <a:off x="381000" y="23883789"/>
            <a:ext cx="3246388" cy="4357836"/>
          </a:xfrm>
          <a:prstGeom prst="roundRect">
            <a:avLst>
              <a:gd name="adj" fmla="val 5281"/>
            </a:avLst>
          </a:prstGeom>
          <a:solidFill>
            <a:srgbClr val="FFFFFF"/>
          </a:solidFill>
          <a:ln w="1905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hape"/>
          <p:cNvSpPr/>
          <p:nvPr/>
        </p:nvSpPr>
        <p:spPr>
          <a:xfrm>
            <a:off x="666750" y="24166637"/>
            <a:ext cx="114300" cy="32385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"/>
          <p:cNvSpPr txBox="1"/>
          <p:nvPr/>
        </p:nvSpPr>
        <p:spPr>
          <a:xfrm>
            <a:off x="914400" y="24140964"/>
            <a:ext cx="60007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1" i="0">
                <a:solidFill>
                  <a:srgbClr val="131A2B"/>
                </a:solidFill>
                <a:latin typeface="Arial"/>
              </a:rPr>
              <a:t>NLP</a:t>
            </a:r>
          </a:p>
        </p:txBody>
      </p:sp>
      <p:sp>
        <p:nvSpPr>
          <p:cNvPr id="66" name="Text"/>
          <p:cNvSpPr txBox="1"/>
          <p:nvPr/>
        </p:nvSpPr>
        <p:spPr>
          <a:xfrm>
            <a:off x="647700" y="24639984"/>
            <a:ext cx="273203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47650" indent="-247650">
              <a:lnSpc>
                <a:spcPts val="2173"/>
              </a:lnSpc>
              <a:buFont typeface="Arial"/>
              <a:buChar char="•"/>
            </a:pPr>
            <a:r>
              <a:rPr sz="1600" b="1" i="0">
                <a:solidFill>
                  <a:srgbClr val="1F2937"/>
                </a:solidFill>
                <a:latin typeface="Arial"/>
              </a:rPr>
              <a:t>VADER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lexicon</a:t>
            </a:r>
          </a:p>
        </p:txBody>
      </p:sp>
      <p:sp>
        <p:nvSpPr>
          <p:cNvPr id="67" name="Text"/>
          <p:cNvSpPr txBox="1"/>
          <p:nvPr/>
        </p:nvSpPr>
        <p:spPr>
          <a:xfrm>
            <a:off x="647700" y="24973062"/>
            <a:ext cx="273203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47650" indent="-247650">
              <a:lnSpc>
                <a:spcPts val="2173"/>
              </a:lnSpc>
              <a:buFont typeface="Arial"/>
              <a:buChar char="•"/>
            </a:pPr>
            <a:r>
              <a:rPr sz="1600" b="1" i="0">
                <a:solidFill>
                  <a:srgbClr val="1F2937"/>
                </a:solidFill>
                <a:latin typeface="Arial"/>
              </a:rPr>
              <a:t>TF-IDF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+ LR / SVM</a:t>
            </a:r>
          </a:p>
        </p:txBody>
      </p:sp>
      <p:sp>
        <p:nvSpPr>
          <p:cNvPr id="68" name="Text"/>
          <p:cNvSpPr txBox="1"/>
          <p:nvPr/>
        </p:nvSpPr>
        <p:spPr>
          <a:xfrm>
            <a:off x="647700" y="25306139"/>
            <a:ext cx="273203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47650" indent="-247650">
              <a:lnSpc>
                <a:spcPts val="2173"/>
              </a:lnSpc>
              <a:buFont typeface="Arial"/>
              <a:buChar char="•"/>
            </a:pPr>
            <a:r>
              <a:rPr sz="1600" b="1" i="0">
                <a:solidFill>
                  <a:srgbClr val="1F2937"/>
                </a:solidFill>
                <a:latin typeface="Arial"/>
              </a:rPr>
              <a:t>LDA</a:t>
            </a:r>
            <a:r>
              <a:rPr sz="1600" b="0" i="0">
                <a:solidFill>
                  <a:srgbClr val="1F2937"/>
                </a:solidFill>
                <a:latin typeface="Arial"/>
              </a:rPr>
              <a:t>, 8 topics</a:t>
            </a:r>
          </a:p>
        </p:txBody>
      </p:sp>
      <p:sp>
        <p:nvSpPr>
          <p:cNvPr id="69" name="Text"/>
          <p:cNvSpPr txBox="1"/>
          <p:nvPr/>
        </p:nvSpPr>
        <p:spPr>
          <a:xfrm>
            <a:off x="647700" y="25639216"/>
            <a:ext cx="2732038" cy="552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47650" indent="-247650">
              <a:lnSpc>
                <a:spcPts val="2173"/>
              </a:lnSpc>
              <a:buFont typeface="Arial"/>
              <a:buChar char="•"/>
            </a:pPr>
            <a:r>
              <a:rPr sz="1600" b="1" i="0">
                <a:solidFill>
                  <a:srgbClr val="1F2937"/>
                </a:solidFill>
                <a:latin typeface="Arial"/>
              </a:rPr>
              <a:t>Aspect sentiment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with evidence</a:t>
            </a:r>
          </a:p>
        </p:txBody>
      </p:sp>
      <p:sp>
        <p:nvSpPr>
          <p:cNvPr id="70" name="Text"/>
          <p:cNvSpPr txBox="1"/>
          <p:nvPr/>
        </p:nvSpPr>
        <p:spPr>
          <a:xfrm>
            <a:off x="647700" y="26248221"/>
            <a:ext cx="2732038" cy="552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47650" indent="-247650">
              <a:lnSpc>
                <a:spcPts val="2173"/>
              </a:lnSpc>
              <a:buFont typeface="Arial"/>
              <a:buChar char="•"/>
            </a:pPr>
            <a:r>
              <a:rPr sz="1600" b="1" i="0">
                <a:solidFill>
                  <a:srgbClr val="1F2937"/>
                </a:solidFill>
                <a:latin typeface="Arial"/>
              </a:rPr>
              <a:t>MiniLM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search embeddings</a:t>
            </a:r>
          </a:p>
        </p:txBody>
      </p:sp>
      <p:sp>
        <p:nvSpPr>
          <p:cNvPr id="71" name="Card 6"/>
          <p:cNvSpPr/>
          <p:nvPr/>
        </p:nvSpPr>
        <p:spPr>
          <a:xfrm>
            <a:off x="3817888" y="23883789"/>
            <a:ext cx="3246388" cy="4357836"/>
          </a:xfrm>
          <a:prstGeom prst="roundRect">
            <a:avLst>
              <a:gd name="adj" fmla="val 5281"/>
            </a:avLst>
          </a:prstGeom>
          <a:solidFill>
            <a:srgbClr val="FFFFFF"/>
          </a:solidFill>
          <a:ln w="1905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hape"/>
          <p:cNvSpPr/>
          <p:nvPr/>
        </p:nvSpPr>
        <p:spPr>
          <a:xfrm>
            <a:off x="4103638" y="24166637"/>
            <a:ext cx="114300" cy="32385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"/>
          <p:cNvSpPr txBox="1"/>
          <p:nvPr/>
        </p:nvSpPr>
        <p:spPr>
          <a:xfrm>
            <a:off x="4351288" y="24140964"/>
            <a:ext cx="19240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1" i="0">
                <a:solidFill>
                  <a:srgbClr val="131A2B"/>
                </a:solidFill>
                <a:latin typeface="Arial"/>
              </a:rPr>
              <a:t>Advanced ML</a:t>
            </a:r>
          </a:p>
        </p:txBody>
      </p:sp>
      <p:sp>
        <p:nvSpPr>
          <p:cNvPr id="74" name="Text"/>
          <p:cNvSpPr txBox="1"/>
          <p:nvPr/>
        </p:nvSpPr>
        <p:spPr>
          <a:xfrm>
            <a:off x="4084588" y="24639984"/>
            <a:ext cx="2732038" cy="552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47650" indent="-247650">
              <a:lnSpc>
                <a:spcPts val="2173"/>
              </a:lnSpc>
              <a:buFont typeface="Arial"/>
              <a:buChar char="•"/>
            </a:pPr>
            <a:r>
              <a:rPr sz="1600" b="1" i="0">
                <a:solidFill>
                  <a:srgbClr val="1F2937"/>
                </a:solidFill>
                <a:latin typeface="Arial"/>
              </a:rPr>
              <a:t>XGBoost</a:t>
            </a:r>
            <a:r>
              <a:rPr sz="1600" b="0" i="0">
                <a:solidFill>
                  <a:srgbClr val="1F2937"/>
                </a:solidFill>
                <a:latin typeface="Arial"/>
              </a:rPr>
              <a:t> helpfulness, 70.5% accuracy</a:t>
            </a:r>
          </a:p>
        </p:txBody>
      </p:sp>
      <p:sp>
        <p:nvSpPr>
          <p:cNvPr id="75" name="Text"/>
          <p:cNvSpPr txBox="1"/>
          <p:nvPr/>
        </p:nvSpPr>
        <p:spPr>
          <a:xfrm>
            <a:off x="4084588" y="25248989"/>
            <a:ext cx="273203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47650" indent="-247650">
              <a:lnSpc>
                <a:spcPts val="2173"/>
              </a:lnSpc>
              <a:buFont typeface="Arial"/>
              <a:buChar char="•"/>
            </a:pPr>
            <a:r>
              <a:rPr sz="1600" b="1" i="0">
                <a:solidFill>
                  <a:srgbClr val="1F2937"/>
                </a:solidFill>
                <a:latin typeface="Arial"/>
              </a:rPr>
              <a:t>MiniBatchKMeans</a:t>
            </a:r>
            <a:r>
              <a:rPr sz="1600" b="0" i="0">
                <a:solidFill>
                  <a:srgbClr val="1F2937"/>
                </a:solidFill>
                <a:latin typeface="Arial"/>
              </a:rPr>
              <a:t>, k = 6</a:t>
            </a:r>
          </a:p>
        </p:txBody>
      </p:sp>
      <p:sp>
        <p:nvSpPr>
          <p:cNvPr id="76" name="Text"/>
          <p:cNvSpPr txBox="1"/>
          <p:nvPr/>
        </p:nvSpPr>
        <p:spPr>
          <a:xfrm>
            <a:off x="4084588" y="25582066"/>
            <a:ext cx="2732038" cy="552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47650" indent="-247650">
              <a:lnSpc>
                <a:spcPts val="2173"/>
              </a:lnSpc>
              <a:buFont typeface="Arial"/>
              <a:buChar char="•"/>
            </a:pPr>
            <a:r>
              <a:rPr sz="1600" b="1" i="0">
                <a:solidFill>
                  <a:srgbClr val="1F2937"/>
                </a:solidFill>
                <a:latin typeface="Arial"/>
              </a:rPr>
              <a:t>Isolation Forest</a:t>
            </a:r>
            <a:r>
              <a:rPr sz="1600" b="0" i="0">
                <a:solidFill>
                  <a:srgbClr val="1F2937"/>
                </a:solidFill>
                <a:latin typeface="Arial"/>
              </a:rPr>
              <a:t>, 10% flagged</a:t>
            </a:r>
          </a:p>
        </p:txBody>
      </p:sp>
      <p:sp>
        <p:nvSpPr>
          <p:cNvPr id="77" name="Card 7"/>
          <p:cNvSpPr/>
          <p:nvPr/>
        </p:nvSpPr>
        <p:spPr>
          <a:xfrm>
            <a:off x="7350026" y="3143250"/>
            <a:ext cx="6683425" cy="7115770"/>
          </a:xfrm>
          <a:prstGeom prst="roundRect">
            <a:avLst>
              <a:gd name="adj" fmla="val 2565"/>
            </a:avLst>
          </a:prstGeom>
          <a:solidFill>
            <a:srgbClr val="FFFFFF"/>
          </a:solidFill>
          <a:ln w="1905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hape"/>
          <p:cNvSpPr/>
          <p:nvPr/>
        </p:nvSpPr>
        <p:spPr>
          <a:xfrm>
            <a:off x="7635776" y="3675757"/>
            <a:ext cx="105222" cy="323850"/>
          </a:xfrm>
          <a:prstGeom prst="roundRect">
            <a:avLst>
              <a:gd name="adj" fmla="val 36209"/>
            </a:avLst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"/>
          <p:cNvSpPr txBox="1"/>
          <p:nvPr/>
        </p:nvSpPr>
        <p:spPr>
          <a:xfrm>
            <a:off x="7874347" y="3400425"/>
            <a:ext cx="4981575" cy="8754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sz="2550" b="1" i="0">
                <a:solidFill>
                  <a:srgbClr val="131A2B"/>
                </a:solidFill>
                <a:latin typeface="Arial"/>
              </a:rPr>
              <a:t>Sentiment Results (10,000 test reviews)</a:t>
            </a:r>
          </a:p>
        </p:txBody>
      </p:sp>
      <p:graphicFrame>
        <p:nvGraphicFramePr>
          <p:cNvPr id="80" name="Table"/>
          <p:cNvGraphicFramePr>
            <a:graphicFrameLocks noGrp="1"/>
          </p:cNvGraphicFramePr>
          <p:nvPr/>
        </p:nvGraphicFramePr>
        <p:xfrm>
          <a:off x="7635776" y="4398764"/>
          <a:ext cx="6111925" cy="2412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19784"/>
                <a:gridCol w="1271439"/>
                <a:gridCol w="1282601"/>
                <a:gridCol w="1238101"/>
              </a:tblGrid>
              <a:tr h="404515">
                <a:tc>
                  <a:txBody>
                    <a:bodyPr wrap="square"/>
                    <a:lstStyle/>
                    <a:p>
                      <a:pPr algn="l"/>
                      <a:r>
                        <a:rPr sz="1575" b="1">
                          <a:solidFill>
                            <a:srgbClr val="131A2B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76200" marR="76200" marT="38100" marB="38100" anchor="ctr">
                    <a:lnB w="28575" cap="flat" cmpd="sng">
                      <a:solidFill>
                        <a:srgbClr val="131A2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75" b="1">
                          <a:solidFill>
                            <a:srgbClr val="131A2B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marL="76200" marR="76200" marT="38100" marB="38100" anchor="ctr">
                    <a:lnB w="28575" cap="flat" cmpd="sng">
                      <a:solidFill>
                        <a:srgbClr val="131A2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75" b="1">
                          <a:solidFill>
                            <a:srgbClr val="131A2B"/>
                          </a:solidFill>
                          <a:latin typeface="Arial"/>
                        </a:rPr>
                        <a:t>Macro-F1</a:t>
                      </a:r>
                    </a:p>
                  </a:txBody>
                  <a:tcPr marL="76200" marR="76200" marT="38100" marB="38100" anchor="ctr">
                    <a:lnB w="28575" cap="flat" cmpd="sng">
                      <a:solidFill>
                        <a:srgbClr val="131A2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75" b="1">
                          <a:solidFill>
                            <a:srgbClr val="131A2B"/>
                          </a:solidFill>
                          <a:latin typeface="Arial"/>
                        </a:rPr>
                        <a:t>F1 neutral</a:t>
                      </a:r>
                    </a:p>
                  </a:txBody>
                  <a:tcPr marL="76200" marR="76200" marT="38100" marB="38100" anchor="ctr">
                    <a:lnB w="28575" cap="flat" cmpd="sng">
                      <a:solidFill>
                        <a:srgbClr val="131A2B"/>
                      </a:solidFill>
                    </a:lnB>
                    <a:noFill/>
                  </a:tcPr>
                </a:tc>
              </a:tr>
              <a:tr h="409277">
                <a:tc>
                  <a:txBody>
                    <a:bodyPr wrap="square"/>
                    <a:lstStyle/>
                    <a:p>
                      <a:pPr algn="l"/>
                      <a:r>
                        <a:rPr sz="1575" b="0">
                          <a:solidFill>
                            <a:srgbClr val="1F2937"/>
                          </a:solidFill>
                          <a:latin typeface="Arial"/>
                        </a:rPr>
                        <a:t>VADER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75" b="0">
                          <a:solidFill>
                            <a:srgbClr val="1F2937"/>
                          </a:solidFill>
                          <a:latin typeface="Arial"/>
                        </a:rPr>
                        <a:t>.813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75" b="0">
                          <a:solidFill>
                            <a:srgbClr val="1F2937"/>
                          </a:solidFill>
                          <a:latin typeface="Arial"/>
                        </a:rPr>
                        <a:t>.512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75" b="0">
                          <a:solidFill>
                            <a:srgbClr val="1F2937"/>
                          </a:solidFill>
                          <a:latin typeface="Arial"/>
                        </a:rPr>
                        <a:t>.080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noFill/>
                  </a:tcPr>
                </a:tc>
              </a:tr>
              <a:tr h="399752">
                <a:tc>
                  <a:txBody>
                    <a:bodyPr wrap="square"/>
                    <a:lstStyle/>
                    <a:p>
                      <a:pPr algn="l"/>
                      <a:r>
                        <a:rPr sz="1575" b="0">
                          <a:solidFill>
                            <a:srgbClr val="1F2937"/>
                          </a:solidFill>
                          <a:latin typeface="Arial"/>
                        </a:rPr>
                        <a:t>TF-IDF + LR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75" b="0">
                          <a:solidFill>
                            <a:srgbClr val="1F2937"/>
                          </a:solidFill>
                          <a:latin typeface="Arial"/>
                        </a:rPr>
                        <a:t>.860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75" b="0">
                          <a:solidFill>
                            <a:srgbClr val="1F2937"/>
                          </a:solidFill>
                          <a:latin typeface="Arial"/>
                        </a:rPr>
                        <a:t>.689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75" b="0">
                          <a:solidFill>
                            <a:srgbClr val="1F2937"/>
                          </a:solidFill>
                          <a:latin typeface="Arial"/>
                        </a:rPr>
                        <a:t>.400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noFill/>
                  </a:tcPr>
                </a:tc>
              </a:tr>
              <a:tr h="399752">
                <a:tc>
                  <a:txBody>
                    <a:bodyPr wrap="square"/>
                    <a:lstStyle/>
                    <a:p>
                      <a:pPr algn="l"/>
                      <a:r>
                        <a:rPr sz="1575" b="0">
                          <a:solidFill>
                            <a:srgbClr val="1F2937"/>
                          </a:solidFill>
                          <a:latin typeface="Arial"/>
                        </a:rPr>
                        <a:t>TF-IDF + SVM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75" b="0">
                          <a:solidFill>
                            <a:srgbClr val="1F2937"/>
                          </a:solidFill>
                          <a:latin typeface="Arial"/>
                        </a:rPr>
                        <a:t>.888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75" b="0">
                          <a:solidFill>
                            <a:srgbClr val="1F2937"/>
                          </a:solidFill>
                          <a:latin typeface="Arial"/>
                        </a:rPr>
                        <a:t>.693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75" b="0">
                          <a:solidFill>
                            <a:srgbClr val="1F2937"/>
                          </a:solidFill>
                          <a:latin typeface="Arial"/>
                        </a:rPr>
                        <a:t>.382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noFill/>
                  </a:tcPr>
                </a:tc>
              </a:tr>
              <a:tr h="399752">
                <a:tc>
                  <a:txBody>
                    <a:bodyPr wrap="square"/>
                    <a:lstStyle/>
                    <a:p>
                      <a:pPr algn="l"/>
                      <a:r>
                        <a:rPr sz="1575" b="1">
                          <a:solidFill>
                            <a:srgbClr val="1F2937"/>
                          </a:solidFill>
                          <a:latin typeface="Arial"/>
                        </a:rPr>
                        <a:t>BiLSTM + Attention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75" b="1">
                          <a:solidFill>
                            <a:srgbClr val="1F2937"/>
                          </a:solidFill>
                          <a:latin typeface="Arial"/>
                        </a:rPr>
                        <a:t>.888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75" b="1">
                          <a:solidFill>
                            <a:srgbClr val="E8622C"/>
                          </a:solidFill>
                          <a:latin typeface="Arial"/>
                        </a:rPr>
                        <a:t>.718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75" b="1">
                          <a:solidFill>
                            <a:srgbClr val="E8622C"/>
                          </a:solidFill>
                          <a:latin typeface="Arial"/>
                        </a:rPr>
                        <a:t>.446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solidFill>
                      <a:srgbClr val="FFF4EC"/>
                    </a:solidFill>
                  </a:tcPr>
                </a:tc>
              </a:tr>
              <a:tr h="399752">
                <a:tc>
                  <a:txBody>
                    <a:bodyPr wrap="square"/>
                    <a:lstStyle/>
                    <a:p>
                      <a:pPr algn="l"/>
                      <a:r>
                        <a:rPr sz="1575" b="1">
                          <a:solidFill>
                            <a:srgbClr val="1F2937"/>
                          </a:solidFill>
                          <a:latin typeface="Arial"/>
                        </a:rPr>
                        <a:t>DistilBERT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75" b="1">
                          <a:solidFill>
                            <a:srgbClr val="E8622C"/>
                          </a:solidFill>
                          <a:latin typeface="Arial"/>
                        </a:rPr>
                        <a:t>.899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75" b="1">
                          <a:solidFill>
                            <a:srgbClr val="1F2937"/>
                          </a:solidFill>
                          <a:latin typeface="Arial"/>
                        </a:rPr>
                        <a:t>.702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75" b="1">
                          <a:solidFill>
                            <a:srgbClr val="1F2937"/>
                          </a:solidFill>
                          <a:latin typeface="Arial"/>
                        </a:rPr>
                        <a:t>.368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solidFill>
                      <a:srgbClr val="FFF4EC"/>
                    </a:solidFill>
                  </a:tcPr>
                </a:tc>
              </a:tr>
            </a:tbl>
          </a:graphicData>
        </a:graphic>
      </p:graphicFrame>
      <p:pic>
        <p:nvPicPr>
          <p:cNvPr id="81" name="Picture poster_ci" descr="poster_c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9642" y="6892528"/>
            <a:ext cx="5684044" cy="2493466"/>
          </a:xfrm>
          <a:prstGeom prst="rect">
            <a:avLst/>
          </a:prstGeom>
        </p:spPr>
      </p:pic>
      <p:sp>
        <p:nvSpPr>
          <p:cNvPr id="82" name="Text"/>
          <p:cNvSpPr txBox="1"/>
          <p:nvPr/>
        </p:nvSpPr>
        <p:spPr>
          <a:xfrm>
            <a:off x="7635776" y="9443145"/>
            <a:ext cx="6150025" cy="4746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63"/>
              </a:lnSpc>
            </a:pPr>
            <a:r>
              <a:rPr sz="1350" b="0" i="0">
                <a:solidFill>
                  <a:srgbClr val="5B6475"/>
                </a:solidFill>
                <a:latin typeface="Arial"/>
              </a:rPr>
              <a:t>95% bootstrap intervals. BiLSTM beats the SVM on macro-F1 (+0.025, significant); DistilBERT is best on accuracy.</a:t>
            </a:r>
          </a:p>
        </p:txBody>
      </p:sp>
      <p:sp>
        <p:nvSpPr>
          <p:cNvPr id="83" name="Card 8"/>
          <p:cNvSpPr/>
          <p:nvPr/>
        </p:nvSpPr>
        <p:spPr>
          <a:xfrm>
            <a:off x="7350026" y="10506670"/>
            <a:ext cx="6683425" cy="3903911"/>
          </a:xfrm>
          <a:prstGeom prst="roundRect">
            <a:avLst>
              <a:gd name="adj" fmla="val 4391"/>
            </a:avLst>
          </a:prstGeom>
          <a:solidFill>
            <a:srgbClr val="FFFFFF"/>
          </a:solidFill>
          <a:ln w="1905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Shape"/>
          <p:cNvSpPr/>
          <p:nvPr/>
        </p:nvSpPr>
        <p:spPr>
          <a:xfrm>
            <a:off x="7635776" y="10815786"/>
            <a:ext cx="114300" cy="323850"/>
          </a:xfrm>
          <a:prstGeom prst="roundRect">
            <a:avLst>
              <a:gd name="adj" fmla="val 33333"/>
            </a:avLst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"/>
          <p:cNvSpPr txBox="1"/>
          <p:nvPr/>
        </p:nvSpPr>
        <p:spPr>
          <a:xfrm>
            <a:off x="7883426" y="10763845"/>
            <a:ext cx="5076825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sz="2550" b="1" i="0">
                <a:solidFill>
                  <a:srgbClr val="131A2B"/>
                </a:solidFill>
                <a:latin typeface="Arial"/>
              </a:rPr>
              <a:t>Ablation: What Drives the Gain?</a:t>
            </a:r>
          </a:p>
        </p:txBody>
      </p:sp>
      <p:graphicFrame>
        <p:nvGraphicFramePr>
          <p:cNvPr id="86" name="Table"/>
          <p:cNvGraphicFramePr>
            <a:graphicFrameLocks noGrp="1"/>
          </p:cNvGraphicFramePr>
          <p:nvPr/>
        </p:nvGraphicFramePr>
        <p:xfrm>
          <a:off x="7635776" y="11315402"/>
          <a:ext cx="6111925" cy="16132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711178"/>
                <a:gridCol w="1195090"/>
                <a:gridCol w="1205657"/>
              </a:tblGrid>
              <a:tr h="404515">
                <a:tc>
                  <a:txBody>
                    <a:bodyPr wrap="square"/>
                    <a:lstStyle/>
                    <a:p>
                      <a:pPr algn="l"/>
                      <a:r>
                        <a:rPr sz="1575" b="1">
                          <a:solidFill>
                            <a:srgbClr val="131A2B"/>
                          </a:solidFill>
                          <a:latin typeface="Arial"/>
                        </a:rPr>
                        <a:t>LSTM variant (3 seeds, mean)</a:t>
                      </a:r>
                    </a:p>
                  </a:txBody>
                  <a:tcPr marL="76200" marR="76200" marT="38100" marB="38100" anchor="ctr">
                    <a:lnB w="28575" cap="flat" cmpd="sng">
                      <a:solidFill>
                        <a:srgbClr val="131A2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75" b="1">
                          <a:solidFill>
                            <a:srgbClr val="131A2B"/>
                          </a:solidFill>
                          <a:latin typeface="Arial"/>
                        </a:rPr>
                        <a:t>Accuracy</a:t>
                      </a:r>
                    </a:p>
                  </a:txBody>
                  <a:tcPr marL="76200" marR="76200" marT="38100" marB="38100" anchor="ctr">
                    <a:lnB w="28575" cap="flat" cmpd="sng">
                      <a:solidFill>
                        <a:srgbClr val="131A2B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75" b="1">
                          <a:solidFill>
                            <a:srgbClr val="131A2B"/>
                          </a:solidFill>
                          <a:latin typeface="Arial"/>
                        </a:rPr>
                        <a:t>Macro-F1</a:t>
                      </a:r>
                    </a:p>
                  </a:txBody>
                  <a:tcPr marL="76200" marR="76200" marT="38100" marB="38100" anchor="ctr">
                    <a:lnB w="28575" cap="flat" cmpd="sng">
                      <a:solidFill>
                        <a:srgbClr val="131A2B"/>
                      </a:solidFill>
                    </a:lnB>
                    <a:noFill/>
                  </a:tcPr>
                </a:tc>
              </a:tr>
              <a:tr h="409277">
                <a:tc>
                  <a:txBody>
                    <a:bodyPr wrap="square"/>
                    <a:lstStyle/>
                    <a:p>
                      <a:pPr algn="l"/>
                      <a:r>
                        <a:rPr sz="1575" b="1">
                          <a:solidFill>
                            <a:srgbClr val="1F2937"/>
                          </a:solidFill>
                          <a:latin typeface="Arial"/>
                        </a:rPr>
                        <a:t>Full (attention + class weights)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75" b="1">
                          <a:solidFill>
                            <a:srgbClr val="1F2937"/>
                          </a:solidFill>
                          <a:latin typeface="Arial"/>
                        </a:rPr>
                        <a:t>.891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solidFill>
                      <a:srgbClr val="FFF4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75" b="1">
                          <a:solidFill>
                            <a:srgbClr val="E8622C"/>
                          </a:solidFill>
                          <a:latin typeface="Arial"/>
                        </a:rPr>
                        <a:t>.722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solidFill>
                      <a:srgbClr val="FFF4EC"/>
                    </a:solidFill>
                  </a:tcPr>
                </a:tc>
              </a:tr>
              <a:tr h="399752">
                <a:tc>
                  <a:txBody>
                    <a:bodyPr wrap="square"/>
                    <a:lstStyle/>
                    <a:p>
                      <a:pPr algn="l"/>
                      <a:r>
                        <a:rPr sz="1575" b="0">
                          <a:solidFill>
                            <a:srgbClr val="1F2937"/>
                          </a:solidFill>
                          <a:latin typeface="Arial"/>
                        </a:rPr>
                        <a:t>No class weights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75" b="1">
                          <a:solidFill>
                            <a:srgbClr val="E8622C"/>
                          </a:solidFill>
                          <a:latin typeface="Arial"/>
                        </a:rPr>
                        <a:t>.899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75" b="0">
                          <a:solidFill>
                            <a:srgbClr val="1F2937"/>
                          </a:solidFill>
                          <a:latin typeface="Arial"/>
                        </a:rPr>
                        <a:t>.709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noFill/>
                  </a:tcPr>
                </a:tc>
              </a:tr>
              <a:tr h="399752">
                <a:tc>
                  <a:txBody>
                    <a:bodyPr wrap="square"/>
                    <a:lstStyle/>
                    <a:p>
                      <a:pPr algn="l"/>
                      <a:r>
                        <a:rPr sz="1575" b="0">
                          <a:solidFill>
                            <a:srgbClr val="1F2937"/>
                          </a:solidFill>
                          <a:latin typeface="Arial"/>
                        </a:rPr>
                        <a:t>Mean pooling instead of attention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75" b="0">
                          <a:solidFill>
                            <a:srgbClr val="1F2937"/>
                          </a:solidFill>
                          <a:latin typeface="Arial"/>
                        </a:rPr>
                        <a:t>.889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75" b="0">
                          <a:solidFill>
                            <a:srgbClr val="1F2937"/>
                          </a:solidFill>
                          <a:latin typeface="Arial"/>
                        </a:rPr>
                        <a:t>.715</a:t>
                      </a:r>
                    </a:p>
                  </a:txBody>
                  <a:tcPr marL="76200" marR="76200" marT="38100" marB="38100" anchor="ctr">
                    <a:lnB w="9525" cap="flat" cmpd="sng">
                      <a:solidFill>
                        <a:srgbClr val="E4E1DA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7" name="Shape"/>
          <p:cNvSpPr/>
          <p:nvPr/>
        </p:nvSpPr>
        <p:spPr>
          <a:xfrm>
            <a:off x="7635776" y="13028712"/>
            <a:ext cx="6111925" cy="1134219"/>
          </a:xfrm>
          <a:prstGeom prst="roundRect">
            <a:avLst>
              <a:gd name="adj" fmla="val 11756"/>
            </a:avLst>
          </a:prstGeom>
          <a:solidFill>
            <a:srgbClr val="13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"/>
          <p:cNvSpPr txBox="1"/>
          <p:nvPr/>
        </p:nvSpPr>
        <p:spPr>
          <a:xfrm>
            <a:off x="7826276" y="13171587"/>
            <a:ext cx="5769025" cy="864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7"/>
              </a:lnSpc>
            </a:pPr>
            <a:r>
              <a:rPr sz="1650" b="0" i="0">
                <a:solidFill>
                  <a:srgbClr val="FFFFFF"/>
                </a:solidFill>
                <a:latin typeface="Arial"/>
              </a:rPr>
              <a:t>Class weighting, </a:t>
            </a:r>
            <a:r>
              <a:rPr sz="1650" b="1" i="0">
                <a:solidFill>
                  <a:srgbClr val="FFB48F"/>
                </a:solidFill>
                <a:latin typeface="Arial"/>
              </a:rPr>
              <a:t>not attention</a:t>
            </a:r>
            <a:r>
              <a:rPr sz="1650" b="0" i="0">
                <a:solidFill>
                  <a:srgbClr val="FFFFFF"/>
                </a:solidFill>
                <a:latin typeface="Arial"/>
              </a:rPr>
              <a:t>, drives most of the macro-F1 gain. Without it the LSTM matches DistilBERT's accuracy (</a:t>
            </a:r>
            <a:r>
              <a:rPr sz="1650" b="1" i="0">
                <a:solidFill>
                  <a:srgbClr val="FFB48F"/>
                </a:solidFill>
                <a:latin typeface="Arial"/>
              </a:rPr>
              <a:t>.899</a:t>
            </a:r>
            <a:r>
              <a:rPr sz="1650" b="0" i="0">
                <a:solidFill>
                  <a:srgbClr val="FFFFFF"/>
                </a:solidFill>
                <a:latin typeface="Arial"/>
              </a:rPr>
              <a:t>).</a:t>
            </a:r>
          </a:p>
        </p:txBody>
      </p:sp>
      <p:sp>
        <p:nvSpPr>
          <p:cNvPr id="89" name="Card 9"/>
          <p:cNvSpPr/>
          <p:nvPr/>
        </p:nvSpPr>
        <p:spPr>
          <a:xfrm>
            <a:off x="7350026" y="14658231"/>
            <a:ext cx="6683425" cy="2444800"/>
          </a:xfrm>
          <a:prstGeom prst="roundRect">
            <a:avLst>
              <a:gd name="adj" fmla="val 7012"/>
            </a:avLst>
          </a:prstGeom>
          <a:solidFill>
            <a:srgbClr val="FFFFFF"/>
          </a:solidFill>
          <a:ln w="1905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Shape"/>
          <p:cNvSpPr/>
          <p:nvPr/>
        </p:nvSpPr>
        <p:spPr>
          <a:xfrm>
            <a:off x="7635776" y="14967347"/>
            <a:ext cx="114300" cy="323850"/>
          </a:xfrm>
          <a:prstGeom prst="roundRect">
            <a:avLst>
              <a:gd name="adj" fmla="val 33333"/>
            </a:avLst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"/>
          <p:cNvSpPr txBox="1"/>
          <p:nvPr/>
        </p:nvSpPr>
        <p:spPr>
          <a:xfrm>
            <a:off x="7883426" y="14915406"/>
            <a:ext cx="2581275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sz="2550" b="1" i="0">
                <a:solidFill>
                  <a:srgbClr val="131A2B"/>
                </a:solidFill>
                <a:latin typeface="Arial"/>
              </a:rPr>
              <a:t>Cost and Speed</a:t>
            </a:r>
          </a:p>
        </p:txBody>
      </p:sp>
      <p:sp>
        <p:nvSpPr>
          <p:cNvPr id="92" name="Shape"/>
          <p:cNvSpPr/>
          <p:nvPr/>
        </p:nvSpPr>
        <p:spPr>
          <a:xfrm>
            <a:off x="7635776" y="15466963"/>
            <a:ext cx="1948309" cy="1331268"/>
          </a:xfrm>
          <a:prstGeom prst="roundRect">
            <a:avLst>
              <a:gd name="adj" fmla="val 10016"/>
            </a:avLst>
          </a:prstGeom>
          <a:solidFill>
            <a:srgbClr val="FFF7ED"/>
          </a:solidFill>
          <a:ln w="19050">
            <a:solidFill>
              <a:srgbClr val="FDE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"/>
          <p:cNvSpPr txBox="1"/>
          <p:nvPr/>
        </p:nvSpPr>
        <p:spPr>
          <a:xfrm>
            <a:off x="7807226" y="15552688"/>
            <a:ext cx="1643509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22"/>
              </a:lnSpc>
            </a:pPr>
            <a:r>
              <a:rPr sz="3450" b="1" i="0">
                <a:solidFill>
                  <a:srgbClr val="E8622C"/>
                </a:solidFill>
                <a:latin typeface="Arial"/>
              </a:rPr>
              <a:t>26x</a:t>
            </a:r>
          </a:p>
        </p:txBody>
      </p:sp>
      <p:sp>
        <p:nvSpPr>
          <p:cNvPr id="94" name="Text"/>
          <p:cNvSpPr txBox="1"/>
          <p:nvPr/>
        </p:nvSpPr>
        <p:spPr>
          <a:xfrm>
            <a:off x="7788176" y="16107966"/>
            <a:ext cx="1681609" cy="54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sz="1400" b="0" i="0">
                <a:solidFill>
                  <a:srgbClr val="5B6475"/>
                </a:solidFill>
                <a:latin typeface="Arial"/>
              </a:rPr>
              <a:t>fewer parameters than DistilBERT</a:t>
            </a:r>
          </a:p>
        </p:txBody>
      </p:sp>
      <p:sp>
        <p:nvSpPr>
          <p:cNvPr id="95" name="Shape"/>
          <p:cNvSpPr/>
          <p:nvPr/>
        </p:nvSpPr>
        <p:spPr>
          <a:xfrm>
            <a:off x="9717435" y="15466963"/>
            <a:ext cx="1948458" cy="1331268"/>
          </a:xfrm>
          <a:prstGeom prst="roundRect">
            <a:avLst>
              <a:gd name="adj" fmla="val 10016"/>
            </a:avLst>
          </a:prstGeom>
          <a:solidFill>
            <a:srgbClr val="EFF6FF"/>
          </a:solidFill>
          <a:ln w="19050">
            <a:solidFill>
              <a:srgbClr val="CFE0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"/>
          <p:cNvSpPr txBox="1"/>
          <p:nvPr/>
        </p:nvSpPr>
        <p:spPr>
          <a:xfrm>
            <a:off x="9888885" y="15552688"/>
            <a:ext cx="1643658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22"/>
              </a:lnSpc>
            </a:pPr>
            <a:r>
              <a:rPr sz="3450" b="1" i="0">
                <a:solidFill>
                  <a:srgbClr val="2563EB"/>
                </a:solidFill>
                <a:latin typeface="Arial"/>
              </a:rPr>
              <a:t>57x</a:t>
            </a:r>
          </a:p>
        </p:txBody>
      </p:sp>
      <p:sp>
        <p:nvSpPr>
          <p:cNvPr id="97" name="Text"/>
          <p:cNvSpPr txBox="1"/>
          <p:nvPr/>
        </p:nvSpPr>
        <p:spPr>
          <a:xfrm>
            <a:off x="9869835" y="16107966"/>
            <a:ext cx="1681758" cy="54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sz="1400" b="0" i="0">
                <a:solidFill>
                  <a:srgbClr val="5B6475"/>
                </a:solidFill>
                <a:latin typeface="Arial"/>
              </a:rPr>
              <a:t>faster on CPU (975 vs 17 reviews/s)</a:t>
            </a:r>
          </a:p>
        </p:txBody>
      </p:sp>
      <p:sp>
        <p:nvSpPr>
          <p:cNvPr id="98" name="Shape"/>
          <p:cNvSpPr/>
          <p:nvPr/>
        </p:nvSpPr>
        <p:spPr>
          <a:xfrm>
            <a:off x="11799243" y="15466963"/>
            <a:ext cx="1948458" cy="1331268"/>
          </a:xfrm>
          <a:prstGeom prst="roundRect">
            <a:avLst>
              <a:gd name="adj" fmla="val 10016"/>
            </a:avLst>
          </a:prstGeom>
          <a:solidFill>
            <a:srgbClr val="F0FDFA"/>
          </a:solidFill>
          <a:ln w="19050">
            <a:solidFill>
              <a:srgbClr val="C4E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"/>
          <p:cNvSpPr txBox="1"/>
          <p:nvPr/>
        </p:nvSpPr>
        <p:spPr>
          <a:xfrm>
            <a:off x="11970693" y="15552688"/>
            <a:ext cx="1643658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22"/>
              </a:lnSpc>
            </a:pPr>
            <a:r>
              <a:rPr sz="3450" b="1" i="0">
                <a:solidFill>
                  <a:srgbClr val="0F766E"/>
                </a:solidFill>
                <a:latin typeface="Arial"/>
              </a:rPr>
              <a:t>13x</a:t>
            </a:r>
          </a:p>
        </p:txBody>
      </p:sp>
      <p:sp>
        <p:nvSpPr>
          <p:cNvPr id="100" name="Text"/>
          <p:cNvSpPr txBox="1"/>
          <p:nvPr/>
        </p:nvSpPr>
        <p:spPr>
          <a:xfrm>
            <a:off x="11951643" y="16107966"/>
            <a:ext cx="168175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sz="1400" b="0" i="0">
                <a:solidFill>
                  <a:srgbClr val="5B6475"/>
                </a:solidFill>
                <a:latin typeface="Arial"/>
              </a:rPr>
              <a:t>faster on GPU</a:t>
            </a:r>
          </a:p>
        </p:txBody>
      </p:sp>
      <p:sp>
        <p:nvSpPr>
          <p:cNvPr id="101" name="Card 10"/>
          <p:cNvSpPr/>
          <p:nvPr/>
        </p:nvSpPr>
        <p:spPr>
          <a:xfrm>
            <a:off x="7350026" y="17350680"/>
            <a:ext cx="6683425" cy="5735687"/>
          </a:xfrm>
          <a:prstGeom prst="roundRect">
            <a:avLst>
              <a:gd name="adj" fmla="val 2989"/>
            </a:avLst>
          </a:prstGeom>
          <a:solidFill>
            <a:srgbClr val="FFFFFF"/>
          </a:solidFill>
          <a:ln w="1905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Shape"/>
          <p:cNvSpPr/>
          <p:nvPr/>
        </p:nvSpPr>
        <p:spPr>
          <a:xfrm>
            <a:off x="7635776" y="17659796"/>
            <a:ext cx="114300" cy="323850"/>
          </a:xfrm>
          <a:prstGeom prst="roundRect">
            <a:avLst>
              <a:gd name="adj" fmla="val 33333"/>
            </a:avLst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"/>
          <p:cNvSpPr txBox="1"/>
          <p:nvPr/>
        </p:nvSpPr>
        <p:spPr>
          <a:xfrm>
            <a:off x="7883426" y="17607855"/>
            <a:ext cx="295275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sz="2550" b="1" i="0">
                <a:solidFill>
                  <a:srgbClr val="131A2B"/>
                </a:solidFill>
                <a:latin typeface="Arial"/>
              </a:rPr>
              <a:t>Training and Errors</a:t>
            </a:r>
          </a:p>
        </p:txBody>
      </p:sp>
      <p:pic>
        <p:nvPicPr>
          <p:cNvPr id="104" name="Picture poster_dl_results" descr="poster_dl_resul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776" y="18159412"/>
            <a:ext cx="6111925" cy="2676674"/>
          </a:xfrm>
          <a:prstGeom prst="rect">
            <a:avLst/>
          </a:prstGeom>
        </p:spPr>
      </p:pic>
      <p:sp>
        <p:nvSpPr>
          <p:cNvPr id="105" name="Text"/>
          <p:cNvSpPr txBox="1"/>
          <p:nvPr/>
        </p:nvSpPr>
        <p:spPr>
          <a:xfrm>
            <a:off x="7635776" y="20940861"/>
            <a:ext cx="6150025" cy="5975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sz="1700" b="0" i="0">
                <a:solidFill>
                  <a:srgbClr val="1F2937"/>
                </a:solidFill>
                <a:latin typeface="Arial"/>
              </a:rPr>
              <a:t>155 of the LSTM's 1,116 test errors are confident, and many are </a:t>
            </a:r>
            <a:r>
              <a:rPr sz="1700" b="1" i="0">
                <a:solidFill>
                  <a:srgbClr val="1F2937"/>
                </a:solidFill>
                <a:latin typeface="Arial"/>
              </a:rPr>
              <a:t>label noise</a:t>
            </a:r>
            <a:r>
              <a:rPr sz="1700" b="0" i="0">
                <a:solidFill>
                  <a:srgbClr val="1F2937"/>
                </a:solidFill>
                <a:latin typeface="Arial"/>
              </a:rPr>
              <a:t>: the stars disagree with the text.</a:t>
            </a:r>
          </a:p>
        </p:txBody>
      </p:sp>
      <p:sp>
        <p:nvSpPr>
          <p:cNvPr id="106" name="Shape"/>
          <p:cNvSpPr/>
          <p:nvPr/>
        </p:nvSpPr>
        <p:spPr>
          <a:xfrm>
            <a:off x="7635776" y="21631126"/>
            <a:ext cx="6111925" cy="678061"/>
          </a:xfrm>
          <a:prstGeom prst="roundRect">
            <a:avLst>
              <a:gd name="adj" fmla="val 11237"/>
            </a:avLst>
          </a:prstGeom>
          <a:solidFill>
            <a:srgbClr val="FF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Shape"/>
          <p:cNvSpPr/>
          <p:nvPr/>
        </p:nvSpPr>
        <p:spPr>
          <a:xfrm>
            <a:off x="7635776" y="21631126"/>
            <a:ext cx="76200" cy="678061"/>
          </a:xfrm>
          <a:prstGeom prst="rect">
            <a:avLst/>
          </a:prstGeom>
          <a:solidFill>
            <a:srgbClr val="F2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"/>
          <p:cNvSpPr txBox="1"/>
          <p:nvPr/>
        </p:nvSpPr>
        <p:spPr>
          <a:xfrm>
            <a:off x="7769126" y="21716851"/>
            <a:ext cx="5883325" cy="5200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500" b="1" i="0">
                <a:solidFill>
                  <a:srgbClr val="9A3412"/>
                </a:solidFill>
                <a:latin typeface="Arial"/>
              </a:rPr>
              <a:t>5 stars, predicted negative: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"Piece of junk !!! Poor quality, high price .. it lasted 10weeks"</a:t>
            </a:r>
          </a:p>
        </p:txBody>
      </p:sp>
      <p:sp>
        <p:nvSpPr>
          <p:cNvPr id="109" name="Shape"/>
          <p:cNvSpPr/>
          <p:nvPr/>
        </p:nvSpPr>
        <p:spPr>
          <a:xfrm>
            <a:off x="7635776" y="22366337"/>
            <a:ext cx="6111925" cy="415230"/>
          </a:xfrm>
          <a:prstGeom prst="roundRect">
            <a:avLst>
              <a:gd name="adj" fmla="val 18351"/>
            </a:avLst>
          </a:prstGeom>
          <a:solidFill>
            <a:srgbClr val="FF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hape"/>
          <p:cNvSpPr/>
          <p:nvPr/>
        </p:nvSpPr>
        <p:spPr>
          <a:xfrm>
            <a:off x="7635776" y="22366337"/>
            <a:ext cx="76200" cy="415230"/>
          </a:xfrm>
          <a:prstGeom prst="rect">
            <a:avLst/>
          </a:prstGeom>
          <a:solidFill>
            <a:srgbClr val="F2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"/>
          <p:cNvSpPr txBox="1"/>
          <p:nvPr/>
        </p:nvSpPr>
        <p:spPr>
          <a:xfrm>
            <a:off x="7769126" y="22452062"/>
            <a:ext cx="58833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500" b="1" i="0">
                <a:solidFill>
                  <a:srgbClr val="9A3412"/>
                </a:solidFill>
                <a:latin typeface="Arial"/>
              </a:rPr>
              <a:t>1 star, predicted positive:</a:t>
            </a:r>
            <a:r>
              <a:rPr sz="1500" b="0" i="0">
                <a:solidFill>
                  <a:srgbClr val="1F2937"/>
                </a:solidFill>
                <a:latin typeface="Arial"/>
              </a:rPr>
              <a:t> "Worked out of the box. love it"</a:t>
            </a:r>
          </a:p>
        </p:txBody>
      </p:sp>
      <p:sp>
        <p:nvSpPr>
          <p:cNvPr id="112" name="Card 11"/>
          <p:cNvSpPr/>
          <p:nvPr/>
        </p:nvSpPr>
        <p:spPr>
          <a:xfrm>
            <a:off x="7350026" y="23334018"/>
            <a:ext cx="6683425" cy="4907607"/>
          </a:xfrm>
          <a:prstGeom prst="roundRect">
            <a:avLst>
              <a:gd name="adj" fmla="val 3493"/>
            </a:avLst>
          </a:prstGeom>
          <a:solidFill>
            <a:srgbClr val="FFFFFF"/>
          </a:solidFill>
          <a:ln w="1905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Shape"/>
          <p:cNvSpPr/>
          <p:nvPr/>
        </p:nvSpPr>
        <p:spPr>
          <a:xfrm>
            <a:off x="7635776" y="23643134"/>
            <a:ext cx="114300" cy="323850"/>
          </a:xfrm>
          <a:prstGeom prst="roundRect">
            <a:avLst>
              <a:gd name="adj" fmla="val 33333"/>
            </a:avLst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"/>
          <p:cNvSpPr txBox="1"/>
          <p:nvPr/>
        </p:nvSpPr>
        <p:spPr>
          <a:xfrm>
            <a:off x="7883426" y="23591193"/>
            <a:ext cx="5400675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sz="2550" b="1" i="0">
                <a:solidFill>
                  <a:srgbClr val="131A2B"/>
                </a:solidFill>
                <a:latin typeface="Arial"/>
              </a:rPr>
              <a:t>What Each Sentiment Sounds Like</a:t>
            </a:r>
          </a:p>
        </p:txBody>
      </p:sp>
      <p:pic>
        <p:nvPicPr>
          <p:cNvPr id="115" name="Picture wordcloud_negative" descr="wordcloud_negati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776" y="24142750"/>
            <a:ext cx="2989213" cy="1727002"/>
          </a:xfrm>
          <a:prstGeom prst="rect">
            <a:avLst/>
          </a:prstGeom>
        </p:spPr>
      </p:pic>
      <p:sp>
        <p:nvSpPr>
          <p:cNvPr id="116" name="Text"/>
          <p:cNvSpPr txBox="1"/>
          <p:nvPr/>
        </p:nvSpPr>
        <p:spPr>
          <a:xfrm>
            <a:off x="7635776" y="25926901"/>
            <a:ext cx="302731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63"/>
              </a:lnSpc>
            </a:pPr>
            <a:r>
              <a:rPr sz="1350" b="0" i="0">
                <a:solidFill>
                  <a:srgbClr val="5B6475"/>
                </a:solidFill>
                <a:latin typeface="Arial"/>
              </a:rPr>
              <a:t>Negative</a:t>
            </a:r>
          </a:p>
        </p:txBody>
      </p:sp>
      <p:pic>
        <p:nvPicPr>
          <p:cNvPr id="117" name="Picture wordcloud_positive" descr="wordcloud_positiv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8339" y="24142750"/>
            <a:ext cx="2989362" cy="1727150"/>
          </a:xfrm>
          <a:prstGeom prst="rect">
            <a:avLst/>
          </a:prstGeom>
        </p:spPr>
      </p:pic>
      <p:sp>
        <p:nvSpPr>
          <p:cNvPr id="118" name="Text"/>
          <p:cNvSpPr txBox="1"/>
          <p:nvPr/>
        </p:nvSpPr>
        <p:spPr>
          <a:xfrm>
            <a:off x="10758339" y="25927050"/>
            <a:ext cx="302746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63"/>
              </a:lnSpc>
            </a:pPr>
            <a:r>
              <a:rPr sz="1350" b="0" i="0">
                <a:solidFill>
                  <a:srgbClr val="5B6475"/>
                </a:solidFill>
                <a:latin typeface="Arial"/>
              </a:rPr>
              <a:t>Positive</a:t>
            </a:r>
          </a:p>
        </p:txBody>
      </p:sp>
      <p:sp>
        <p:nvSpPr>
          <p:cNvPr id="119" name="Text"/>
          <p:cNvSpPr txBox="1"/>
          <p:nvPr/>
        </p:nvSpPr>
        <p:spPr>
          <a:xfrm>
            <a:off x="7635776" y="26315938"/>
            <a:ext cx="6150025" cy="482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sz="1400" b="0" i="0">
                <a:solidFill>
                  <a:srgbClr val="5B6475"/>
                </a:solidFill>
                <a:latin typeface="Arial"/>
              </a:rPr>
              <a:t>Words weighted by how characteristic they are of each class: "return", "waste", "money" versus "easy", "love", "perfect".</a:t>
            </a:r>
          </a:p>
        </p:txBody>
      </p:sp>
      <p:sp>
        <p:nvSpPr>
          <p:cNvPr id="120" name="Card 12"/>
          <p:cNvSpPr/>
          <p:nvPr/>
        </p:nvSpPr>
        <p:spPr>
          <a:xfrm>
            <a:off x="14319200" y="3143250"/>
            <a:ext cx="6683425" cy="5360640"/>
          </a:xfrm>
          <a:prstGeom prst="roundRect">
            <a:avLst>
              <a:gd name="adj" fmla="val 3198"/>
            </a:avLst>
          </a:prstGeom>
          <a:solidFill>
            <a:srgbClr val="FFFFFF"/>
          </a:solidFill>
          <a:ln w="1905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Shape"/>
          <p:cNvSpPr/>
          <p:nvPr/>
        </p:nvSpPr>
        <p:spPr>
          <a:xfrm>
            <a:off x="14604950" y="3452366"/>
            <a:ext cx="114300" cy="323850"/>
          </a:xfrm>
          <a:prstGeom prst="roundRect">
            <a:avLst>
              <a:gd name="adj" fmla="val 33333"/>
            </a:avLst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"/>
          <p:cNvSpPr txBox="1"/>
          <p:nvPr/>
        </p:nvSpPr>
        <p:spPr>
          <a:xfrm>
            <a:off x="14852600" y="3400425"/>
            <a:ext cx="3152775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sz="2550" b="1" i="0">
                <a:solidFill>
                  <a:srgbClr val="131A2B"/>
                </a:solidFill>
                <a:latin typeface="Arial"/>
              </a:rPr>
              <a:t>Aspect Intelligence</a:t>
            </a:r>
          </a:p>
        </p:txBody>
      </p:sp>
      <p:pic>
        <p:nvPicPr>
          <p:cNvPr id="123" name="Picture poster_aspects" descr="poster_aspec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04950" y="3951982"/>
            <a:ext cx="6111925" cy="3363962"/>
          </a:xfrm>
          <a:prstGeom prst="rect">
            <a:avLst/>
          </a:prstGeom>
        </p:spPr>
      </p:pic>
      <p:sp>
        <p:nvSpPr>
          <p:cNvPr id="124" name="Shape"/>
          <p:cNvSpPr/>
          <p:nvPr/>
        </p:nvSpPr>
        <p:spPr>
          <a:xfrm>
            <a:off x="14604950" y="7411194"/>
            <a:ext cx="6111925" cy="845046"/>
          </a:xfrm>
          <a:prstGeom prst="roundRect">
            <a:avLst>
              <a:gd name="adj" fmla="val 15780"/>
            </a:avLst>
          </a:prstGeom>
          <a:solidFill>
            <a:srgbClr val="13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"/>
          <p:cNvSpPr txBox="1"/>
          <p:nvPr/>
        </p:nvSpPr>
        <p:spPr>
          <a:xfrm>
            <a:off x="14795450" y="7554069"/>
            <a:ext cx="5769025" cy="574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77"/>
              </a:lnSpc>
            </a:pPr>
            <a:r>
              <a:rPr sz="1650" b="1" i="0">
                <a:solidFill>
                  <a:srgbClr val="FFB48F"/>
                </a:solidFill>
                <a:latin typeface="Arial"/>
              </a:rPr>
              <a:t>Battery</a:t>
            </a:r>
            <a:r>
              <a:rPr sz="1650" b="0" i="0">
                <a:solidFill>
                  <a:srgbClr val="FFFFFF"/>
                </a:solidFill>
                <a:latin typeface="Arial"/>
              </a:rPr>
              <a:t> is the top complaint (20.2% negative mentions), then </a:t>
            </a:r>
            <a:r>
              <a:rPr sz="1650" b="1" i="0">
                <a:solidFill>
                  <a:srgbClr val="FFB48F"/>
                </a:solidFill>
                <a:latin typeface="Arial"/>
              </a:rPr>
              <a:t>connectivity</a:t>
            </a:r>
            <a:r>
              <a:rPr sz="1650" b="0" i="0">
                <a:solidFill>
                  <a:srgbClr val="FFFFFF"/>
                </a:solidFill>
                <a:latin typeface="Arial"/>
              </a:rPr>
              <a:t> and </a:t>
            </a:r>
            <a:r>
              <a:rPr sz="1650" b="1" i="0">
                <a:solidFill>
                  <a:srgbClr val="FFB48F"/>
                </a:solidFill>
                <a:latin typeface="Arial"/>
              </a:rPr>
              <a:t>customer service</a:t>
            </a:r>
            <a:r>
              <a:rPr sz="1650" b="0" i="0">
                <a:solidFill>
                  <a:srgbClr val="FFFFFF"/>
                </a:solidFill>
                <a:latin typeface="Arial"/>
              </a:rPr>
              <a:t> (19.3% each).</a:t>
            </a:r>
          </a:p>
        </p:txBody>
      </p:sp>
      <p:sp>
        <p:nvSpPr>
          <p:cNvPr id="126" name="Card 13"/>
          <p:cNvSpPr/>
          <p:nvPr/>
        </p:nvSpPr>
        <p:spPr>
          <a:xfrm>
            <a:off x="14319200" y="8751540"/>
            <a:ext cx="6683425" cy="3878163"/>
          </a:xfrm>
          <a:prstGeom prst="roundRect">
            <a:avLst>
              <a:gd name="adj" fmla="val 4420"/>
            </a:avLst>
          </a:prstGeom>
          <a:solidFill>
            <a:srgbClr val="FFFFFF"/>
          </a:solidFill>
          <a:ln w="1905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Shape"/>
          <p:cNvSpPr/>
          <p:nvPr/>
        </p:nvSpPr>
        <p:spPr>
          <a:xfrm>
            <a:off x="14604950" y="9060656"/>
            <a:ext cx="114300" cy="323850"/>
          </a:xfrm>
          <a:prstGeom prst="roundRect">
            <a:avLst>
              <a:gd name="adj" fmla="val 33333"/>
            </a:avLst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"/>
          <p:cNvSpPr txBox="1"/>
          <p:nvPr/>
        </p:nvSpPr>
        <p:spPr>
          <a:xfrm>
            <a:off x="14852600" y="9008715"/>
            <a:ext cx="4953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sz="2550" b="1" i="0">
                <a:solidFill>
                  <a:srgbClr val="131A2B"/>
                </a:solidFill>
                <a:latin typeface="Arial"/>
              </a:rPr>
              <a:t>Grounded Question Answering</a:t>
            </a:r>
          </a:p>
        </p:txBody>
      </p:sp>
      <p:sp>
        <p:nvSpPr>
          <p:cNvPr id="129" name="Text"/>
          <p:cNvSpPr txBox="1"/>
          <p:nvPr/>
        </p:nvSpPr>
        <p:spPr>
          <a:xfrm>
            <a:off x="14604950" y="9560272"/>
            <a:ext cx="6150025" cy="482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sz="1400" b="0" i="0">
                <a:solidFill>
                  <a:srgbClr val="5B6475"/>
                </a:solidFill>
                <a:latin typeface="Arial"/>
              </a:rPr>
              <a:t>Product-scoped retrieval (MiniLM, top 5 reviews) plus FLAN-T5, with a </a:t>
            </a:r>
            <a:r>
              <a:rPr sz="1400" b="1" i="0">
                <a:solidFill>
                  <a:srgbClr val="5B6475"/>
                </a:solidFill>
                <a:latin typeface="Arial"/>
              </a:rPr>
              <a:t>similarity floor</a:t>
            </a:r>
            <a:r>
              <a:rPr sz="1400" b="0" i="0">
                <a:solidFill>
                  <a:srgbClr val="5B6475"/>
                </a:solidFill>
                <a:latin typeface="Arial"/>
              </a:rPr>
              <a:t>: weak evidence means "not enough information".</a:t>
            </a:r>
          </a:p>
        </p:txBody>
      </p:sp>
      <p:sp>
        <p:nvSpPr>
          <p:cNvPr id="130" name="Shape"/>
          <p:cNvSpPr/>
          <p:nvPr/>
        </p:nvSpPr>
        <p:spPr>
          <a:xfrm>
            <a:off x="14604950" y="10125819"/>
            <a:ext cx="1948309" cy="1633538"/>
          </a:xfrm>
          <a:prstGeom prst="roundRect">
            <a:avLst>
              <a:gd name="adj" fmla="val 8163"/>
            </a:avLst>
          </a:prstGeom>
          <a:solidFill>
            <a:srgbClr val="F0FDFA"/>
          </a:solidFill>
          <a:ln w="19050">
            <a:solidFill>
              <a:srgbClr val="C4E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"/>
          <p:cNvSpPr txBox="1"/>
          <p:nvPr/>
        </p:nvSpPr>
        <p:spPr>
          <a:xfrm>
            <a:off x="14776400" y="10211544"/>
            <a:ext cx="1643509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22"/>
              </a:lnSpc>
            </a:pPr>
            <a:r>
              <a:rPr sz="3450" b="1" i="0">
                <a:solidFill>
                  <a:srgbClr val="0F766E"/>
                </a:solidFill>
                <a:latin typeface="Arial"/>
              </a:rPr>
              <a:t>97.8%</a:t>
            </a:r>
          </a:p>
        </p:txBody>
      </p:sp>
      <p:sp>
        <p:nvSpPr>
          <p:cNvPr id="132" name="Text"/>
          <p:cNvSpPr txBox="1"/>
          <p:nvPr/>
        </p:nvSpPr>
        <p:spPr>
          <a:xfrm>
            <a:off x="14757350" y="10766822"/>
            <a:ext cx="1681609" cy="852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sz="1400" b="0" i="0">
                <a:solidFill>
                  <a:srgbClr val="5B6475"/>
                </a:solidFill>
                <a:latin typeface="Arial"/>
              </a:rPr>
              <a:t>answerable questions accepted</a:t>
            </a:r>
          </a:p>
        </p:txBody>
      </p:sp>
      <p:sp>
        <p:nvSpPr>
          <p:cNvPr id="133" name="Shape"/>
          <p:cNvSpPr/>
          <p:nvPr/>
        </p:nvSpPr>
        <p:spPr>
          <a:xfrm>
            <a:off x="16686609" y="10125819"/>
            <a:ext cx="1948458" cy="1633538"/>
          </a:xfrm>
          <a:prstGeom prst="roundRect">
            <a:avLst>
              <a:gd name="adj" fmla="val 8163"/>
            </a:avLst>
          </a:prstGeom>
          <a:solidFill>
            <a:srgbClr val="FFF7ED"/>
          </a:solidFill>
          <a:ln w="19050">
            <a:solidFill>
              <a:srgbClr val="FDE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"/>
          <p:cNvSpPr txBox="1"/>
          <p:nvPr/>
        </p:nvSpPr>
        <p:spPr>
          <a:xfrm>
            <a:off x="16858059" y="10211544"/>
            <a:ext cx="1643658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22"/>
              </a:lnSpc>
            </a:pPr>
            <a:r>
              <a:rPr sz="3450" b="1" i="0">
                <a:solidFill>
                  <a:srgbClr val="E8622C"/>
                </a:solidFill>
                <a:latin typeface="Arial"/>
              </a:rPr>
              <a:t>95.6%</a:t>
            </a:r>
          </a:p>
        </p:txBody>
      </p:sp>
      <p:sp>
        <p:nvSpPr>
          <p:cNvPr id="135" name="Text"/>
          <p:cNvSpPr txBox="1"/>
          <p:nvPr/>
        </p:nvSpPr>
        <p:spPr>
          <a:xfrm>
            <a:off x="16839009" y="10766822"/>
            <a:ext cx="1681758" cy="852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sz="1400" b="0" i="0">
                <a:solidFill>
                  <a:srgbClr val="5B6475"/>
                </a:solidFill>
                <a:latin typeface="Arial"/>
              </a:rPr>
              <a:t>unanswerable questions declined</a:t>
            </a:r>
          </a:p>
        </p:txBody>
      </p:sp>
      <p:sp>
        <p:nvSpPr>
          <p:cNvPr id="136" name="Shape"/>
          <p:cNvSpPr/>
          <p:nvPr/>
        </p:nvSpPr>
        <p:spPr>
          <a:xfrm>
            <a:off x="18768417" y="10125819"/>
            <a:ext cx="1948458" cy="1633538"/>
          </a:xfrm>
          <a:prstGeom prst="roundRect">
            <a:avLst>
              <a:gd name="adj" fmla="val 8163"/>
            </a:avLst>
          </a:prstGeom>
          <a:solidFill>
            <a:srgbClr val="EFF6FF"/>
          </a:solidFill>
          <a:ln w="19050">
            <a:solidFill>
              <a:srgbClr val="CFE0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"/>
          <p:cNvSpPr txBox="1"/>
          <p:nvPr/>
        </p:nvSpPr>
        <p:spPr>
          <a:xfrm>
            <a:off x="18939867" y="10211544"/>
            <a:ext cx="1643658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22"/>
              </a:lnSpc>
            </a:pPr>
            <a:r>
              <a:rPr sz="3450" b="1" i="0">
                <a:solidFill>
                  <a:srgbClr val="2563EB"/>
                </a:solidFill>
                <a:latin typeface="Arial"/>
              </a:rPr>
              <a:t>100%</a:t>
            </a:r>
          </a:p>
        </p:txBody>
      </p:sp>
      <p:sp>
        <p:nvSpPr>
          <p:cNvPr id="138" name="Text"/>
          <p:cNvSpPr txBox="1"/>
          <p:nvPr/>
        </p:nvSpPr>
        <p:spPr>
          <a:xfrm>
            <a:off x="18920817" y="10766822"/>
            <a:ext cx="1681758" cy="852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sz="1400" b="0" i="0">
                <a:solidFill>
                  <a:srgbClr val="5B6475"/>
                </a:solidFill>
                <a:latin typeface="Arial"/>
              </a:rPr>
              <a:t>off-topic questions declined</a:t>
            </a:r>
          </a:p>
        </p:txBody>
      </p:sp>
      <p:sp>
        <p:nvSpPr>
          <p:cNvPr id="139" name="Text"/>
          <p:cNvSpPr txBox="1"/>
          <p:nvPr/>
        </p:nvSpPr>
        <p:spPr>
          <a:xfrm>
            <a:off x="14604950" y="11816507"/>
            <a:ext cx="6150025" cy="482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52"/>
              </a:lnSpc>
            </a:pPr>
            <a:r>
              <a:rPr sz="1400" b="0" i="0">
                <a:solidFill>
                  <a:srgbClr val="5B6475"/>
                </a:solidFill>
                <a:latin typeface="Arial"/>
              </a:rPr>
              <a:t>Semantic retrieval beat TF-IDF on paraphrased aspect queries (0.54 vs 0.32 aspect-mention rate at 5).</a:t>
            </a:r>
          </a:p>
        </p:txBody>
      </p:sp>
      <p:sp>
        <p:nvSpPr>
          <p:cNvPr id="140" name="Card 14"/>
          <p:cNvSpPr/>
          <p:nvPr/>
        </p:nvSpPr>
        <p:spPr>
          <a:xfrm>
            <a:off x="14319200" y="12877354"/>
            <a:ext cx="6683425" cy="12841039"/>
          </a:xfrm>
          <a:prstGeom prst="roundRect">
            <a:avLst>
              <a:gd name="adj" fmla="val 2565"/>
            </a:avLst>
          </a:prstGeom>
          <a:solidFill>
            <a:srgbClr val="FFFFFF"/>
          </a:solidFill>
          <a:ln w="1905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Shape"/>
          <p:cNvSpPr/>
          <p:nvPr/>
        </p:nvSpPr>
        <p:spPr>
          <a:xfrm>
            <a:off x="14604950" y="13186470"/>
            <a:ext cx="114300" cy="323850"/>
          </a:xfrm>
          <a:prstGeom prst="roundRect">
            <a:avLst>
              <a:gd name="adj" fmla="val 33333"/>
            </a:avLst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"/>
          <p:cNvSpPr txBox="1"/>
          <p:nvPr/>
        </p:nvSpPr>
        <p:spPr>
          <a:xfrm>
            <a:off x="14852600" y="13134529"/>
            <a:ext cx="3609975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sz="2550" b="1" i="0">
                <a:solidFill>
                  <a:srgbClr val="131A2B"/>
                </a:solidFill>
                <a:latin typeface="Arial"/>
              </a:rPr>
              <a:t>Interactive Dashboard</a:t>
            </a:r>
          </a:p>
        </p:txBody>
      </p:sp>
      <p:pic>
        <p:nvPicPr>
          <p:cNvPr id="143" name="Picture 03c_insights_trust_crop" descr="03c_insights_trust_cro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04950" y="13686086"/>
            <a:ext cx="6111925" cy="4574381"/>
          </a:xfrm>
          <a:prstGeom prst="rect">
            <a:avLst/>
          </a:prstGeom>
        </p:spPr>
      </p:pic>
      <p:sp>
        <p:nvSpPr>
          <p:cNvPr id="144" name="Text"/>
          <p:cNvSpPr txBox="1"/>
          <p:nvPr/>
        </p:nvSpPr>
        <p:spPr>
          <a:xfrm>
            <a:off x="14604950" y="18317617"/>
            <a:ext cx="6150025" cy="7111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63"/>
              </a:lnSpc>
            </a:pPr>
            <a:r>
              <a:rPr sz="1350" b="1" i="0">
                <a:solidFill>
                  <a:srgbClr val="5B6475"/>
                </a:solidFill>
                <a:latin typeface="Arial"/>
              </a:rPr>
              <a:t>Review Trust:</a:t>
            </a:r>
            <a:r>
              <a:rPr sz="1350" b="0" i="0">
                <a:solidFill>
                  <a:srgbClr val="5B6475"/>
                </a:solidFill>
                <a:latin typeface="Arial"/>
              </a:rPr>
              <a:t> unsupervised Isolation Forest flags 4,999 reviews (10%) as potentially suspicious, with a threshold slider and reasons per review. No fake-review accuracy is claimed.</a:t>
            </a:r>
          </a:p>
        </p:txBody>
      </p:sp>
      <p:pic>
        <p:nvPicPr>
          <p:cNvPr id="145" name="Picture 07d_dl_live_crop" descr="07d_dl_live_cro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604950" y="19255680"/>
            <a:ext cx="6111925" cy="4574381"/>
          </a:xfrm>
          <a:prstGeom prst="rect">
            <a:avLst/>
          </a:prstGeom>
        </p:spPr>
      </p:pic>
      <p:sp>
        <p:nvSpPr>
          <p:cNvPr id="146" name="Text"/>
          <p:cNvSpPr txBox="1"/>
          <p:nvPr/>
        </p:nvSpPr>
        <p:spPr>
          <a:xfrm>
            <a:off x="14604950" y="23887212"/>
            <a:ext cx="61500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63"/>
              </a:lnSpc>
            </a:pPr>
            <a:r>
              <a:rPr sz="1350" b="0" i="0">
                <a:solidFill>
                  <a:srgbClr val="5B6475"/>
                </a:solidFill>
                <a:latin typeface="Arial"/>
              </a:rPr>
              <a:t>Deep Learning Lab: live classifier with attention</a:t>
            </a:r>
          </a:p>
        </p:txBody>
      </p:sp>
      <p:sp>
        <p:nvSpPr>
          <p:cNvPr id="147" name="Card 15"/>
          <p:cNvSpPr/>
          <p:nvPr/>
        </p:nvSpPr>
        <p:spPr>
          <a:xfrm>
            <a:off x="14319200" y="25966043"/>
            <a:ext cx="6683425" cy="2275582"/>
          </a:xfrm>
          <a:prstGeom prst="roundRect">
            <a:avLst>
              <a:gd name="adj" fmla="val 7534"/>
            </a:avLst>
          </a:prstGeom>
          <a:solidFill>
            <a:srgbClr val="FFFFFF"/>
          </a:solidFill>
          <a:ln w="19050">
            <a:solidFill>
              <a:srgbClr val="E4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Shape"/>
          <p:cNvSpPr/>
          <p:nvPr/>
        </p:nvSpPr>
        <p:spPr>
          <a:xfrm>
            <a:off x="14604950" y="26275159"/>
            <a:ext cx="114300" cy="323850"/>
          </a:xfrm>
          <a:prstGeom prst="roundRect">
            <a:avLst>
              <a:gd name="adj" fmla="val 33333"/>
            </a:avLst>
          </a:prstGeom>
          <a:solidFill>
            <a:srgbClr val="E86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"/>
          <p:cNvSpPr txBox="1"/>
          <p:nvPr/>
        </p:nvSpPr>
        <p:spPr>
          <a:xfrm>
            <a:off x="14852600" y="26223218"/>
            <a:ext cx="18288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sz="2550" b="1" i="0">
                <a:solidFill>
                  <a:srgbClr val="131A2B"/>
                </a:solidFill>
                <a:latin typeface="Arial"/>
              </a:rPr>
              <a:t>Limitations</a:t>
            </a:r>
          </a:p>
        </p:txBody>
      </p:sp>
      <p:sp>
        <p:nvSpPr>
          <p:cNvPr id="150" name="Text"/>
          <p:cNvSpPr txBox="1"/>
          <p:nvPr/>
        </p:nvSpPr>
        <p:spPr>
          <a:xfrm>
            <a:off x="14643050" y="26774775"/>
            <a:ext cx="61119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47650" indent="-247650">
              <a:lnSpc>
                <a:spcPts val="1950"/>
              </a:lnSpc>
              <a:buFont typeface="Arial"/>
              <a:buChar char="•"/>
            </a:pPr>
            <a:r>
              <a:rPr sz="1500" b="0" i="0">
                <a:solidFill>
                  <a:srgbClr val="5B6475"/>
                </a:solidFill>
                <a:latin typeface="Arial"/>
              </a:rPr>
              <a:t>Labels come from star ratings, so some are noisy</a:t>
            </a:r>
          </a:p>
        </p:txBody>
      </p:sp>
      <p:sp>
        <p:nvSpPr>
          <p:cNvPr id="151" name="Text"/>
          <p:cNvSpPr txBox="1"/>
          <p:nvPr/>
        </p:nvSpPr>
        <p:spPr>
          <a:xfrm>
            <a:off x="14643050" y="27079575"/>
            <a:ext cx="61119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47650" indent="-247650">
              <a:lnSpc>
                <a:spcPts val="1950"/>
              </a:lnSpc>
              <a:buFont typeface="Arial"/>
              <a:buChar char="•"/>
            </a:pPr>
            <a:r>
              <a:rPr sz="1500" b="0" i="0">
                <a:solidFill>
                  <a:srgbClr val="5B6475"/>
                </a:solidFill>
                <a:latin typeface="Arial"/>
              </a:rPr>
              <a:t>Sample is a reviewer-grouped block of one category</a:t>
            </a:r>
          </a:p>
        </p:txBody>
      </p:sp>
      <p:sp>
        <p:nvSpPr>
          <p:cNvPr id="152" name="Text"/>
          <p:cNvSpPr txBox="1"/>
          <p:nvPr/>
        </p:nvSpPr>
        <p:spPr>
          <a:xfrm>
            <a:off x="14643050" y="27384375"/>
            <a:ext cx="61119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47650" indent="-247650">
              <a:lnSpc>
                <a:spcPts val="1950"/>
              </a:lnSpc>
              <a:buFont typeface="Arial"/>
              <a:buChar char="•"/>
            </a:pPr>
            <a:r>
              <a:rPr sz="1500" b="0" i="0">
                <a:solidFill>
                  <a:srgbClr val="5B6475"/>
                </a:solidFill>
                <a:latin typeface="Arial"/>
              </a:rPr>
              <a:t>DistilBERT saw one-sixth of the LSTM's data</a:t>
            </a:r>
          </a:p>
        </p:txBody>
      </p:sp>
      <p:sp>
        <p:nvSpPr>
          <p:cNvPr id="153" name="Text"/>
          <p:cNvSpPr txBox="1"/>
          <p:nvPr/>
        </p:nvSpPr>
        <p:spPr>
          <a:xfrm>
            <a:off x="14643050" y="27689175"/>
            <a:ext cx="61119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marL="247650" indent="-247650">
              <a:lnSpc>
                <a:spcPts val="1950"/>
              </a:lnSpc>
              <a:buFont typeface="Arial"/>
              <a:buChar char="•"/>
            </a:pPr>
            <a:r>
              <a:rPr sz="1500" b="0" i="0">
                <a:solidFill>
                  <a:srgbClr val="5B6475"/>
                </a:solidFill>
                <a:latin typeface="Arial"/>
              </a:rPr>
              <a:t>Flagged reviews are anomalies, not confirmed fakes</a:t>
            </a:r>
          </a:p>
        </p:txBody>
      </p:sp>
      <p:sp>
        <p:nvSpPr>
          <p:cNvPr id="154" name="Shape"/>
          <p:cNvSpPr/>
          <p:nvPr/>
        </p:nvSpPr>
        <p:spPr>
          <a:xfrm>
            <a:off x="0" y="28241625"/>
            <a:ext cx="21383625" cy="2038350"/>
          </a:xfrm>
          <a:prstGeom prst="rect">
            <a:avLst/>
          </a:prstGeom>
          <a:solidFill>
            <a:srgbClr val="13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"/>
          <p:cNvSpPr txBox="1"/>
          <p:nvPr/>
        </p:nvSpPr>
        <p:spPr>
          <a:xfrm>
            <a:off x="533400" y="28394025"/>
            <a:ext cx="877788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12"/>
              </a:lnSpc>
            </a:pPr>
            <a:r>
              <a:rPr sz="1650" b="1" i="0" spc="75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  <p:sp>
        <p:nvSpPr>
          <p:cNvPr id="156" name="Text"/>
          <p:cNvSpPr txBox="1"/>
          <p:nvPr/>
        </p:nvSpPr>
        <p:spPr>
          <a:xfrm>
            <a:off x="533400" y="28700313"/>
            <a:ext cx="8777883" cy="1115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8"/>
              </a:lnSpc>
            </a:pPr>
            <a:r>
              <a:rPr sz="1350" b="0" i="0">
                <a:solidFill>
                  <a:srgbClr val="CDD6E8"/>
                </a:solidFill>
                <a:latin typeface="Arial"/>
              </a:rPr>
              <a:t>NLP, deep learning and advanced ML on one corpus give buyers evidence-linked insight and sellers a ranked list of problems. A BiLSTM trained from scratch is </a:t>
            </a:r>
            <a:r>
              <a:rPr sz="1350" b="1" i="0">
                <a:solidFill>
                  <a:srgbClr val="FFB48F"/>
                </a:solidFill>
                <a:latin typeface="Arial"/>
              </a:rPr>
              <a:t>57x faster</a:t>
            </a:r>
            <a:r>
              <a:rPr sz="1350" b="0" i="0">
                <a:solidFill>
                  <a:srgbClr val="CDD6E8"/>
                </a:solidFill>
                <a:latin typeface="Arial"/>
              </a:rPr>
              <a:t> than DistilBERT and matches its accuracy once class weights are removed; </a:t>
            </a:r>
            <a:r>
              <a:rPr sz="1350" b="1" i="0">
                <a:solidFill>
                  <a:srgbClr val="FFB48F"/>
                </a:solidFill>
                <a:latin typeface="Arial"/>
              </a:rPr>
              <a:t>battery</a:t>
            </a:r>
            <a:r>
              <a:rPr sz="1350" b="0" i="0">
                <a:solidFill>
                  <a:srgbClr val="CDD6E8"/>
                </a:solidFill>
                <a:latin typeface="Arial"/>
              </a:rPr>
              <a:t> is the most criticised aspect; a similarity floor stops unsupported answers. </a:t>
            </a:r>
            <a:r>
              <a:rPr sz="1350" b="1" i="0">
                <a:solidFill>
                  <a:srgbClr val="FFB48F"/>
                </a:solidFill>
                <a:latin typeface="Arial"/>
              </a:rPr>
              <a:t>Future work:</a:t>
            </a:r>
            <a:r>
              <a:rPr sz="1350" b="0" i="0">
                <a:solidFill>
                  <a:srgbClr val="CDD6E8"/>
                </a:solidFill>
                <a:latin typeface="Arial"/>
              </a:rPr>
              <a:t> full-data DistilBERT, learned aspects, human-annotated subsets, random multi-category sampling.</a:t>
            </a:r>
          </a:p>
        </p:txBody>
      </p:sp>
      <p:sp>
        <p:nvSpPr>
          <p:cNvPr id="157" name="Text"/>
          <p:cNvSpPr txBox="1"/>
          <p:nvPr/>
        </p:nvSpPr>
        <p:spPr>
          <a:xfrm>
            <a:off x="9616083" y="28394025"/>
            <a:ext cx="676096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12"/>
              </a:lnSpc>
            </a:pPr>
            <a:r>
              <a:rPr sz="1650" b="1" i="0" spc="75">
                <a:solidFill>
                  <a:srgbClr val="FFFFFF"/>
                </a:solidFill>
                <a:latin typeface="Arial"/>
              </a:rPr>
              <a:t>KEY REFERENCES</a:t>
            </a:r>
          </a:p>
        </p:txBody>
      </p:sp>
      <p:sp>
        <p:nvSpPr>
          <p:cNvPr id="158" name="Text"/>
          <p:cNvSpPr txBox="1"/>
          <p:nvPr/>
        </p:nvSpPr>
        <p:spPr>
          <a:xfrm>
            <a:off x="9616083" y="28700313"/>
            <a:ext cx="6760964" cy="1115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8"/>
              </a:lnSpc>
            </a:pPr>
            <a:r>
              <a:rPr sz="1350" b="0" i="0">
                <a:solidFill>
                  <a:srgbClr val="CDD6E8"/>
                </a:solidFill>
                <a:latin typeface="Arial"/>
              </a:rPr>
              <a:t>[1] Hutto and Gilbert, VADER, ICWSM 2014. [2] Hochreiter and Schmidhuber, LSTM, 1997. [3] Sanh et al., DistilBERT, 2019. [4] Chen and Guestrin, XGBoost, KDD 2016. [5] Liu et al., Isolation Forest, ICDM 2008. [6] Reimers and Gurevych, Sentence-BERT, EMNLP 2019. [7] Lewis et al., RAG, NeurIPS 2020. [8] Hou et al., Amazon Reviews 2023, 2024.</a:t>
            </a:r>
          </a:p>
        </p:txBody>
      </p:sp>
      <p:sp>
        <p:nvSpPr>
          <p:cNvPr id="159" name="Text"/>
          <p:cNvSpPr txBox="1"/>
          <p:nvPr/>
        </p:nvSpPr>
        <p:spPr>
          <a:xfrm>
            <a:off x="16681847" y="28394025"/>
            <a:ext cx="4206329" cy="5539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12"/>
              </a:lnSpc>
            </a:pPr>
            <a:r>
              <a:rPr sz="1650" b="1" i="0" spc="75">
                <a:solidFill>
                  <a:srgbClr val="FFFFFF"/>
                </a:solidFill>
                <a:latin typeface="Arial"/>
              </a:rPr>
              <a:t>VIDYALANKAR INSTITUTE OF TECHNOLOGY</a:t>
            </a:r>
          </a:p>
        </p:txBody>
      </p:sp>
      <p:sp>
        <p:nvSpPr>
          <p:cNvPr id="160" name="Text"/>
          <p:cNvSpPr txBox="1"/>
          <p:nvPr/>
        </p:nvSpPr>
        <p:spPr>
          <a:xfrm>
            <a:off x="16681847" y="28968502"/>
            <a:ext cx="4206329" cy="676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8"/>
              </a:lnSpc>
            </a:pPr>
            <a:r>
              <a:rPr sz="1350" b="1" i="0">
                <a:solidFill>
                  <a:srgbClr val="FFB48F"/>
                </a:solidFill>
                <a:latin typeface="Arial"/>
              </a:rPr>
              <a:t>Guide: Prof. Sneha Annappanavar</a:t>
            </a:r>
            <a:br/>
            <a:r>
              <a:rPr sz="1350" b="0" i="0">
                <a:solidFill>
                  <a:srgbClr val="CDD6E8"/>
                </a:solidFill>
                <a:latin typeface="Arial"/>
              </a:rPr>
              <a:t>Nidhi Bhawari, Aarti Sakpal,</a:t>
            </a:r>
            <a:br/>
            <a:r>
              <a:rPr sz="1350" b="0" i="0">
                <a:solidFill>
                  <a:srgbClr val="CDD6E8"/>
                </a:solidFill>
                <a:latin typeface="Arial"/>
              </a:rPr>
              <a:t>Gayatri Patil, Prachi Wakode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ReviewIQ Poster</dc:title>
  <dc:subject/>
  <dc:creator>Nidhi Bhawari, Aarti Sakpal, Gayatri Patil, Prachi Wakode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