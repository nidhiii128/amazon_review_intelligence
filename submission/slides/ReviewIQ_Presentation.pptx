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the team and the guide. ReviewIQ turns thousands of unstructured product reviews into answers for buyers and sellers.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popular product can have thousands of reviews. The star average hides what customers actually say. We built one system that answers three different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objectives. The scope is deliberately bounded: one category, a 50,000 review sample, labels from star ratings, and an unsupervised trust score that makes no accuracy claim.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 Reviews 2023, Electronics. We cleaned, de-duplicated and labelled the reviews, and joined product metadata on the parent ASIN. The sample is a contiguous block of a reviewer-grouped file, which we state as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Reviews and metadata are cleaned and joined, then three parallel branches feed product intelligence and a grounded question answering layer, all in one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NLP components. The lexicon and TF-IDF models are baselines. LDA discovers topics. The aspect module keeps the matched sentences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a bidirectional LSTM with attention from scratch in PyTorch. DistilBERT was fine-tuned on a small CPU budget. Attention lets the model weight the words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predicts helpfulness. KMeans is a negative finding that we report honestly. The Isolation Forest is unsupervised and we fixed its features after finding they were backwards.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embedded, only the selected product's reviews are searched, and if the best similarity is below 0.30 the system says it does not have enough information instead of letting the generator guess.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models are scored on the same 10,000 test reviews. The BiLSTM has the best macro-F1 and DistilBERT the best accuracy. The BiLSTM beats the SVM significantly on macro-F1, but not DistilBERT.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variants times three seeds on the same split. Class weighting, not attention, drives most of the macro-F1 gain, and an unweighted LSTM matches DistilBERT accuracy. The LSTM is far cheaper to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Battery is the top complaint, then connectivity and customer service. The word clouds weight words by how characteristic they are of each class.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Helpfulness is moderately predictable. The suspicious-review score is unsupervised. Our error analysis shows that some model errors are really label noise.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pages. The Home page shows the three pillars. Product Insights shows a summary, aspect analysis with evidence sentences, filterable reviews with LSTM predictions, and the trust 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Trust has the threshold slider and flag table. Ask ReviewIQ answers from one product's reviews and shows its evidence. The Deep Learning Lab has a live classifier comparing three models with attention highlighting.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came from testing and inspection, and they shaped the final design. Mention that we checked results rather than trusting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limitations plainly. They are real and they affect how the numbers should be read.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three headline findings and what the system delivers.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17720"/>
            <a:ext cx="12191695" cy="82296"/>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10515600" cy="457200"/>
          </a:xfrm>
          <a:prstGeom prst="rect">
            <a:avLst/>
          </a:prstGeom>
          <a:noFill/>
        </p:spPr>
        <p:txBody>
          <a:bodyPr wrap="square" lIns="73152" rIns="73152" tIns="27432" bIns="27432" anchor="t">
            <a:spAutoFit/>
          </a:bodyPr>
          <a:lstStyle/>
          <a:p>
            <a:pPr algn="l">
              <a:spcAft>
                <a:spcPts val="600"/>
              </a:spcAft>
            </a:pPr>
            <a:r>
              <a:rPr sz="1800" b="1">
                <a:solidFill>
                  <a:srgbClr val="C8D2E6"/>
                </a:solidFill>
                <a:latin typeface="Arial"/>
              </a:rPr>
              <a:t>VIDYALANKAR INSTITUTE OF TECHNOLOGY</a:t>
            </a:r>
          </a:p>
        </p:txBody>
      </p:sp>
      <p:sp>
        <p:nvSpPr>
          <p:cNvPr id="5" name="TextBox 4"/>
          <p:cNvSpPr txBox="1"/>
          <p:nvPr/>
        </p:nvSpPr>
        <p:spPr>
          <a:xfrm>
            <a:off x="640080" y="914400"/>
            <a:ext cx="10515600" cy="1188720"/>
          </a:xfrm>
          <a:prstGeom prst="rect">
            <a:avLst/>
          </a:prstGeom>
          <a:noFill/>
        </p:spPr>
        <p:txBody>
          <a:bodyPr wrap="square" lIns="73152" rIns="73152" tIns="27432" bIns="27432" anchor="t">
            <a:spAutoFit/>
          </a:bodyPr>
          <a:lstStyle/>
          <a:p>
            <a:pPr algn="l">
              <a:spcAft>
                <a:spcPts val="0"/>
              </a:spcAft>
            </a:pPr>
            <a:r>
              <a:rPr sz="6600" b="1">
                <a:solidFill>
                  <a:srgbClr val="FFFFFF"/>
                </a:solidFill>
                <a:latin typeface="Arial"/>
              </a:rPr>
              <a:t>ReviewIQ</a:t>
            </a:r>
          </a:p>
        </p:txBody>
      </p:sp>
      <p:sp>
        <p:nvSpPr>
          <p:cNvPr id="6" name="TextBox 5"/>
          <p:cNvSpPr txBox="1"/>
          <p:nvPr/>
        </p:nvSpPr>
        <p:spPr>
          <a:xfrm>
            <a:off x="640080" y="2057400"/>
            <a:ext cx="10881360" cy="914400"/>
          </a:xfrm>
          <a:prstGeom prst="rect">
            <a:avLst/>
          </a:prstGeom>
          <a:noFill/>
        </p:spPr>
        <p:txBody>
          <a:bodyPr wrap="square" lIns="73152" rIns="73152" tIns="27432" bIns="27432" anchor="t">
            <a:spAutoFit/>
          </a:bodyPr>
          <a:lstStyle/>
          <a:p>
            <a:pPr algn="l">
              <a:spcAft>
                <a:spcPts val="0"/>
              </a:spcAft>
            </a:pPr>
            <a:r>
              <a:rPr sz="2500" b="0">
                <a:solidFill>
                  <a:srgbClr val="DBE3F3"/>
                </a:solidFill>
                <a:latin typeface="Arial"/>
              </a:rPr>
              <a:t>AI-Based Product Review Intelligence and Consumer Insight System</a:t>
            </a:r>
          </a:p>
        </p:txBody>
      </p:sp>
      <p:sp>
        <p:nvSpPr>
          <p:cNvPr id="7" name="TextBox 6"/>
          <p:cNvSpPr txBox="1"/>
          <p:nvPr/>
        </p:nvSpPr>
        <p:spPr>
          <a:xfrm>
            <a:off x="640080" y="3063240"/>
            <a:ext cx="10515600" cy="548640"/>
          </a:xfrm>
          <a:prstGeom prst="rect">
            <a:avLst/>
          </a:prstGeom>
          <a:noFill/>
        </p:spPr>
        <p:txBody>
          <a:bodyPr wrap="square" lIns="73152" rIns="73152" tIns="27432" bIns="27432" anchor="t">
            <a:spAutoFit/>
          </a:bodyPr>
          <a:lstStyle/>
          <a:p>
            <a:pPr algn="l">
              <a:spcAft>
                <a:spcPts val="0"/>
              </a:spcAft>
            </a:pPr>
            <a:r>
              <a:rPr sz="2000" b="1">
                <a:solidFill>
                  <a:srgbClr val="FFB48F"/>
                </a:solidFill>
                <a:latin typeface="Arial"/>
              </a:rPr>
              <a:t>NLP  |  Deep Learning  |  Advanced Machine Learning</a:t>
            </a:r>
          </a:p>
        </p:txBody>
      </p:sp>
      <p:sp>
        <p:nvSpPr>
          <p:cNvPr id="8" name="TextBox 7"/>
          <p:cNvSpPr txBox="1"/>
          <p:nvPr/>
        </p:nvSpPr>
        <p:spPr>
          <a:xfrm>
            <a:off x="640080" y="3611880"/>
            <a:ext cx="10515600" cy="457200"/>
          </a:xfrm>
          <a:prstGeom prst="rect">
            <a:avLst/>
          </a:prstGeom>
          <a:noFill/>
        </p:spPr>
        <p:txBody>
          <a:bodyPr wrap="square" lIns="73152" rIns="73152" tIns="27432" bIns="27432" anchor="t">
            <a:spAutoFit/>
          </a:bodyPr>
          <a:lstStyle/>
          <a:p>
            <a:pPr algn="l">
              <a:spcAft>
                <a:spcPts val="0"/>
              </a:spcAft>
            </a:pPr>
            <a:r>
              <a:rPr sz="1800" b="0">
                <a:solidFill>
                  <a:srgbClr val="C8D2E6"/>
                </a:solidFill>
                <a:latin typeface="Arial"/>
              </a:rPr>
              <a:t>Project Presentation</a:t>
            </a:r>
          </a:p>
        </p:txBody>
      </p:sp>
      <p:sp>
        <p:nvSpPr>
          <p:cNvPr id="9" name="TextBox 8"/>
          <p:cNvSpPr txBox="1"/>
          <p:nvPr/>
        </p:nvSpPr>
        <p:spPr>
          <a:xfrm>
            <a:off x="640080" y="4892040"/>
            <a:ext cx="5486400" cy="365760"/>
          </a:xfrm>
          <a:prstGeom prst="rect">
            <a:avLst/>
          </a:prstGeom>
          <a:noFill/>
        </p:spPr>
        <p:txBody>
          <a:bodyPr wrap="square" lIns="73152" rIns="73152" tIns="27432" bIns="27432" anchor="t">
            <a:spAutoFit/>
          </a:bodyPr>
          <a:lstStyle/>
          <a:p>
            <a:pPr algn="l">
              <a:spcAft>
                <a:spcPts val="0"/>
              </a:spcAft>
            </a:pPr>
            <a:r>
              <a:rPr sz="1400" b="1">
                <a:solidFill>
                  <a:srgbClr val="FFB48F"/>
                </a:solidFill>
                <a:latin typeface="Arial"/>
              </a:rPr>
              <a:t>PROJECT TEAM</a:t>
            </a:r>
          </a:p>
        </p:txBody>
      </p:sp>
      <p:sp>
        <p:nvSpPr>
          <p:cNvPr id="10" name="TextBox 9"/>
          <p:cNvSpPr txBox="1"/>
          <p:nvPr/>
        </p:nvSpPr>
        <p:spPr>
          <a:xfrm>
            <a:off x="640080" y="5257800"/>
            <a:ext cx="3108960" cy="329184"/>
          </a:xfrm>
          <a:prstGeom prst="rect">
            <a:avLst/>
          </a:prstGeom>
          <a:noFill/>
        </p:spPr>
        <p:txBody>
          <a:bodyPr wrap="square" lIns="73152" rIns="73152" tIns="27432" bIns="27432" anchor="ctr">
            <a:spAutoFit/>
          </a:bodyPr>
          <a:lstStyle/>
          <a:p>
            <a:pPr algn="l">
              <a:spcAft>
                <a:spcPts val="0"/>
              </a:spcAft>
            </a:pPr>
            <a:r>
              <a:rPr sz="1700" b="1">
                <a:solidFill>
                  <a:srgbClr val="FFFFFF"/>
                </a:solidFill>
                <a:latin typeface="Arial"/>
              </a:rPr>
              <a:t>Nidhi Bhawari</a:t>
            </a:r>
          </a:p>
        </p:txBody>
      </p:sp>
      <p:sp>
        <p:nvSpPr>
          <p:cNvPr id="11" name="TextBox 10"/>
          <p:cNvSpPr txBox="1"/>
          <p:nvPr/>
        </p:nvSpPr>
        <p:spPr>
          <a:xfrm>
            <a:off x="3657600" y="5257800"/>
            <a:ext cx="2377440" cy="329184"/>
          </a:xfrm>
          <a:prstGeom prst="rect">
            <a:avLst/>
          </a:prstGeom>
          <a:noFill/>
        </p:spPr>
        <p:txBody>
          <a:bodyPr wrap="square" lIns="73152" rIns="73152" tIns="27432" bIns="27432" anchor="ctr">
            <a:spAutoFit/>
          </a:bodyPr>
          <a:lstStyle/>
          <a:p>
            <a:pPr algn="l">
              <a:spcAft>
                <a:spcPts val="0"/>
              </a:spcAft>
            </a:pPr>
            <a:r>
              <a:rPr sz="1700" b="0">
                <a:solidFill>
                  <a:srgbClr val="C8D2E6"/>
                </a:solidFill>
                <a:latin typeface="Arial"/>
              </a:rPr>
              <a:t>23102A0006</a:t>
            </a:r>
          </a:p>
        </p:txBody>
      </p:sp>
      <p:sp>
        <p:nvSpPr>
          <p:cNvPr id="12" name="TextBox 11"/>
          <p:cNvSpPr txBox="1"/>
          <p:nvPr/>
        </p:nvSpPr>
        <p:spPr>
          <a:xfrm>
            <a:off x="640080" y="5586984"/>
            <a:ext cx="3108960" cy="329184"/>
          </a:xfrm>
          <a:prstGeom prst="rect">
            <a:avLst/>
          </a:prstGeom>
          <a:noFill/>
        </p:spPr>
        <p:txBody>
          <a:bodyPr wrap="square" lIns="73152" rIns="73152" tIns="27432" bIns="27432" anchor="ctr">
            <a:spAutoFit/>
          </a:bodyPr>
          <a:lstStyle/>
          <a:p>
            <a:pPr algn="l">
              <a:spcAft>
                <a:spcPts val="0"/>
              </a:spcAft>
            </a:pPr>
            <a:r>
              <a:rPr sz="1700" b="1">
                <a:solidFill>
                  <a:srgbClr val="FFFFFF"/>
                </a:solidFill>
                <a:latin typeface="Arial"/>
              </a:rPr>
              <a:t>Aarti Sakpal</a:t>
            </a:r>
          </a:p>
        </p:txBody>
      </p:sp>
      <p:sp>
        <p:nvSpPr>
          <p:cNvPr id="13" name="TextBox 12"/>
          <p:cNvSpPr txBox="1"/>
          <p:nvPr/>
        </p:nvSpPr>
        <p:spPr>
          <a:xfrm>
            <a:off x="3657600" y="5586984"/>
            <a:ext cx="2377440" cy="329184"/>
          </a:xfrm>
          <a:prstGeom prst="rect">
            <a:avLst/>
          </a:prstGeom>
          <a:noFill/>
        </p:spPr>
        <p:txBody>
          <a:bodyPr wrap="square" lIns="73152" rIns="73152" tIns="27432" bIns="27432" anchor="ctr">
            <a:spAutoFit/>
          </a:bodyPr>
          <a:lstStyle/>
          <a:p>
            <a:pPr algn="l">
              <a:spcAft>
                <a:spcPts val="0"/>
              </a:spcAft>
            </a:pPr>
            <a:r>
              <a:rPr sz="1700" b="0">
                <a:solidFill>
                  <a:srgbClr val="C8D2E6"/>
                </a:solidFill>
                <a:latin typeface="Arial"/>
              </a:rPr>
              <a:t>23102A0007</a:t>
            </a:r>
          </a:p>
        </p:txBody>
      </p:sp>
      <p:sp>
        <p:nvSpPr>
          <p:cNvPr id="14" name="TextBox 13"/>
          <p:cNvSpPr txBox="1"/>
          <p:nvPr/>
        </p:nvSpPr>
        <p:spPr>
          <a:xfrm>
            <a:off x="640080" y="5916168"/>
            <a:ext cx="3108960" cy="329184"/>
          </a:xfrm>
          <a:prstGeom prst="rect">
            <a:avLst/>
          </a:prstGeom>
          <a:noFill/>
        </p:spPr>
        <p:txBody>
          <a:bodyPr wrap="square" lIns="73152" rIns="73152" tIns="27432" bIns="27432" anchor="ctr">
            <a:spAutoFit/>
          </a:bodyPr>
          <a:lstStyle/>
          <a:p>
            <a:pPr algn="l">
              <a:spcAft>
                <a:spcPts val="0"/>
              </a:spcAft>
            </a:pPr>
            <a:r>
              <a:rPr sz="1700" b="1">
                <a:solidFill>
                  <a:srgbClr val="FFFFFF"/>
                </a:solidFill>
                <a:latin typeface="Arial"/>
              </a:rPr>
              <a:t>Gayatri Patil</a:t>
            </a:r>
          </a:p>
        </p:txBody>
      </p:sp>
      <p:sp>
        <p:nvSpPr>
          <p:cNvPr id="15" name="TextBox 14"/>
          <p:cNvSpPr txBox="1"/>
          <p:nvPr/>
        </p:nvSpPr>
        <p:spPr>
          <a:xfrm>
            <a:off x="3657600" y="5916168"/>
            <a:ext cx="2377440" cy="329184"/>
          </a:xfrm>
          <a:prstGeom prst="rect">
            <a:avLst/>
          </a:prstGeom>
          <a:noFill/>
        </p:spPr>
        <p:txBody>
          <a:bodyPr wrap="square" lIns="73152" rIns="73152" tIns="27432" bIns="27432" anchor="ctr">
            <a:spAutoFit/>
          </a:bodyPr>
          <a:lstStyle/>
          <a:p>
            <a:pPr algn="l">
              <a:spcAft>
                <a:spcPts val="0"/>
              </a:spcAft>
            </a:pPr>
            <a:r>
              <a:rPr sz="1700" b="0">
                <a:solidFill>
                  <a:srgbClr val="C8D2E6"/>
                </a:solidFill>
                <a:latin typeface="Arial"/>
              </a:rPr>
              <a:t>23102A0016</a:t>
            </a:r>
          </a:p>
        </p:txBody>
      </p:sp>
      <p:sp>
        <p:nvSpPr>
          <p:cNvPr id="16" name="TextBox 15"/>
          <p:cNvSpPr txBox="1"/>
          <p:nvPr/>
        </p:nvSpPr>
        <p:spPr>
          <a:xfrm>
            <a:off x="640080" y="6245352"/>
            <a:ext cx="3108960" cy="329184"/>
          </a:xfrm>
          <a:prstGeom prst="rect">
            <a:avLst/>
          </a:prstGeom>
          <a:noFill/>
        </p:spPr>
        <p:txBody>
          <a:bodyPr wrap="square" lIns="73152" rIns="73152" tIns="27432" bIns="27432" anchor="ctr">
            <a:spAutoFit/>
          </a:bodyPr>
          <a:lstStyle/>
          <a:p>
            <a:pPr algn="l">
              <a:spcAft>
                <a:spcPts val="0"/>
              </a:spcAft>
            </a:pPr>
            <a:r>
              <a:rPr sz="1700" b="1">
                <a:solidFill>
                  <a:srgbClr val="FFFFFF"/>
                </a:solidFill>
                <a:latin typeface="Arial"/>
              </a:rPr>
              <a:t>Prachi Wakode</a:t>
            </a:r>
          </a:p>
        </p:txBody>
      </p:sp>
      <p:sp>
        <p:nvSpPr>
          <p:cNvPr id="17" name="TextBox 16"/>
          <p:cNvSpPr txBox="1"/>
          <p:nvPr/>
        </p:nvSpPr>
        <p:spPr>
          <a:xfrm>
            <a:off x="3657600" y="6245352"/>
            <a:ext cx="2377440" cy="329184"/>
          </a:xfrm>
          <a:prstGeom prst="rect">
            <a:avLst/>
          </a:prstGeom>
          <a:noFill/>
        </p:spPr>
        <p:txBody>
          <a:bodyPr wrap="square" lIns="73152" rIns="73152" tIns="27432" bIns="27432" anchor="ctr">
            <a:spAutoFit/>
          </a:bodyPr>
          <a:lstStyle/>
          <a:p>
            <a:pPr algn="l">
              <a:spcAft>
                <a:spcPts val="0"/>
              </a:spcAft>
            </a:pPr>
            <a:r>
              <a:rPr sz="1700" b="0">
                <a:solidFill>
                  <a:srgbClr val="C8D2E6"/>
                </a:solidFill>
                <a:latin typeface="Arial"/>
              </a:rPr>
              <a:t>23102A0020</a:t>
            </a:r>
          </a:p>
        </p:txBody>
      </p:sp>
      <p:sp>
        <p:nvSpPr>
          <p:cNvPr id="18" name="TextBox 17"/>
          <p:cNvSpPr txBox="1"/>
          <p:nvPr/>
        </p:nvSpPr>
        <p:spPr>
          <a:xfrm>
            <a:off x="7498079" y="4892040"/>
            <a:ext cx="4206240" cy="365760"/>
          </a:xfrm>
          <a:prstGeom prst="rect">
            <a:avLst/>
          </a:prstGeom>
          <a:noFill/>
        </p:spPr>
        <p:txBody>
          <a:bodyPr wrap="square" lIns="73152" rIns="73152" tIns="27432" bIns="27432" anchor="t">
            <a:spAutoFit/>
          </a:bodyPr>
          <a:lstStyle/>
          <a:p>
            <a:pPr algn="l">
              <a:spcAft>
                <a:spcPts val="0"/>
              </a:spcAft>
            </a:pPr>
            <a:r>
              <a:rPr sz="1400" b="1">
                <a:solidFill>
                  <a:srgbClr val="FFB48F"/>
                </a:solidFill>
                <a:latin typeface="Arial"/>
              </a:rPr>
              <a:t>UNDER THE GUIDANCE OF</a:t>
            </a:r>
          </a:p>
        </p:txBody>
      </p:sp>
      <p:sp>
        <p:nvSpPr>
          <p:cNvPr id="19" name="TextBox 18"/>
          <p:cNvSpPr txBox="1"/>
          <p:nvPr/>
        </p:nvSpPr>
        <p:spPr>
          <a:xfrm>
            <a:off x="7498079" y="5257800"/>
            <a:ext cx="4389120" cy="457200"/>
          </a:xfrm>
          <a:prstGeom prst="rect">
            <a:avLst/>
          </a:prstGeom>
          <a:noFill/>
        </p:spPr>
        <p:txBody>
          <a:bodyPr wrap="square" lIns="73152" rIns="73152" tIns="27432" bIns="27432" anchor="ctr">
            <a:spAutoFit/>
          </a:bodyPr>
          <a:lstStyle/>
          <a:p>
            <a:pPr algn="l">
              <a:spcAft>
                <a:spcPts val="0"/>
              </a:spcAft>
            </a:pPr>
            <a:r>
              <a:rPr sz="2200" b="1">
                <a:solidFill>
                  <a:srgbClr val="FFFFFF"/>
                </a:solidFill>
                <a:latin typeface="Arial"/>
              </a:rPr>
              <a:t>Prof. Sneha Annappanavar</a:t>
            </a:r>
          </a:p>
        </p:txBody>
      </p:sp>
      <p:sp>
        <p:nvSpPr>
          <p:cNvPr id="20" name="TextBox 19"/>
          <p:cNvSpPr txBox="1"/>
          <p:nvPr/>
        </p:nvSpPr>
        <p:spPr>
          <a:xfrm>
            <a:off x="7498079" y="5715000"/>
            <a:ext cx="4389120" cy="365760"/>
          </a:xfrm>
          <a:prstGeom prst="rect">
            <a:avLst/>
          </a:prstGeom>
          <a:noFill/>
        </p:spPr>
        <p:txBody>
          <a:bodyPr wrap="square" lIns="73152" rIns="73152" tIns="27432" bIns="27432" anchor="t">
            <a:spAutoFit/>
          </a:bodyPr>
          <a:lstStyle/>
          <a:p>
            <a:pPr algn="l">
              <a:spcAft>
                <a:spcPts val="0"/>
              </a:spcAft>
            </a:pPr>
            <a:r>
              <a:rPr sz="1500" b="0">
                <a:solidFill>
                  <a:srgbClr val="C8D2E6"/>
                </a:solidFill>
                <a:latin typeface="Arial"/>
              </a:rPr>
              <a:t>Vidyalankar Institute of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Why this project?</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2 / 19</a:t>
            </a:r>
          </a:p>
        </p:txBody>
      </p:sp>
      <p:sp>
        <p:nvSpPr>
          <p:cNvPr id="6" name="TextBox 5"/>
          <p:cNvSpPr txBox="1"/>
          <p:nvPr/>
        </p:nvSpPr>
        <p:spPr>
          <a:xfrm>
            <a:off x="640080" y="1280160"/>
            <a:ext cx="5669280" cy="4754880"/>
          </a:xfrm>
          <a:prstGeom prst="rect">
            <a:avLst/>
          </a:prstGeom>
          <a:noFill/>
        </p:spPr>
        <p:txBody>
          <a:bodyPr wrap="square" lIns="73152" rIns="73152" tIns="27432" bIns="27432" anchor="t">
            <a:spAutoFit/>
          </a:bodyPr>
          <a:lstStyle/>
          <a:p>
            <a:pPr algn="l" marL="265430" indent="-265430">
              <a:spcAft>
                <a:spcPts val="900"/>
              </a:spcAft>
              <a:buChar char="•"/>
            </a:pPr>
            <a:r>
              <a:rPr sz="1900" b="1">
                <a:solidFill>
                  <a:srgbClr val="1F2937"/>
                </a:solidFill>
                <a:latin typeface="Arial"/>
              </a:rPr>
              <a:t>Reviews are abundant but unstructured.</a:t>
            </a:r>
            <a:r>
              <a:rPr sz="1900" b="0">
                <a:solidFill>
                  <a:srgbClr val="1F2937"/>
                </a:solidFill>
                <a:latin typeface="Arial"/>
              </a:rPr>
              <a:t> A single popular product can attract thousands of free-text opinions.</a:t>
            </a:r>
          </a:p>
          <a:p>
            <a:pPr algn="l" marL="265430" indent="-265430">
              <a:spcAft>
                <a:spcPts val="900"/>
              </a:spcAft>
              <a:buChar char="•"/>
            </a:pPr>
            <a:r>
              <a:rPr sz="1900" b="1">
                <a:solidFill>
                  <a:srgbClr val="1F2937"/>
                </a:solidFill>
                <a:latin typeface="Arial"/>
              </a:rPr>
              <a:t>The star average hides the detail.</a:t>
            </a:r>
            <a:r>
              <a:rPr sz="1900" b="0">
                <a:solidFill>
                  <a:srgbClr val="1F2937"/>
                </a:solidFill>
                <a:latin typeface="Arial"/>
              </a:rPr>
              <a:t> It cannot say that the sound is great and the battery is poor.</a:t>
            </a:r>
          </a:p>
          <a:p>
            <a:pPr algn="l" marL="265430" indent="-265430">
              <a:spcAft>
                <a:spcPts val="900"/>
              </a:spcAft>
              <a:buChar char="•"/>
            </a:pPr>
            <a:r>
              <a:rPr sz="1900" b="1">
                <a:solidFill>
                  <a:srgbClr val="1F2937"/>
                </a:solidFill>
                <a:latin typeface="Arial"/>
              </a:rPr>
              <a:t>Nobody can read everything.</a:t>
            </a:r>
            <a:r>
              <a:rPr sz="1900" b="0">
                <a:solidFill>
                  <a:srgbClr val="1F2937"/>
                </a:solidFill>
                <a:latin typeface="Arial"/>
              </a:rPr>
              <a:t> Automated analysis is central to e-commerce.</a:t>
            </a:r>
          </a:p>
          <a:p>
            <a:pPr algn="l" marL="265430" indent="-265430">
              <a:spcAft>
                <a:spcPts val="900"/>
              </a:spcAft>
              <a:buChar char="•"/>
            </a:pPr>
            <a:r>
              <a:rPr sz="1900" b="1">
                <a:solidFill>
                  <a:srgbClr val="1F2937"/>
                </a:solidFill>
                <a:latin typeface="Arial"/>
              </a:rPr>
              <a:t>Related tasks are usually studied separately:</a:t>
            </a:r>
            <a:r>
              <a:rPr sz="1900" b="0">
                <a:solidFill>
                  <a:srgbClr val="1F2937"/>
                </a:solidFill>
                <a:latin typeface="Arial"/>
              </a:rPr>
              <a:t> sentiment, aspects, helpfulness, spam. We combine them on one corpus.</a:t>
            </a:r>
          </a:p>
        </p:txBody>
      </p:sp>
      <p:sp>
        <p:nvSpPr>
          <p:cNvPr id="7" name="Rounded Rectangle 6"/>
          <p:cNvSpPr/>
          <p:nvPr/>
        </p:nvSpPr>
        <p:spPr>
          <a:xfrm>
            <a:off x="6766560" y="1325880"/>
            <a:ext cx="4846320" cy="1417320"/>
          </a:xfrm>
          <a:prstGeom prst="roundRect">
            <a:avLst>
              <a:gd name="adj" fmla="val 5000"/>
            </a:avLst>
          </a:prstGeom>
          <a:solidFill>
            <a:srgbClr val="EFF6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66560" y="1463039"/>
            <a:ext cx="91440" cy="1143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417320"/>
            <a:ext cx="4480560" cy="548640"/>
          </a:xfrm>
          <a:prstGeom prst="rect">
            <a:avLst/>
          </a:prstGeom>
          <a:noFill/>
        </p:spPr>
        <p:txBody>
          <a:bodyPr wrap="square" lIns="73152" rIns="73152" tIns="27432" bIns="27432" anchor="ctr">
            <a:spAutoFit/>
          </a:bodyPr>
          <a:lstStyle/>
          <a:p>
            <a:pPr algn="l">
              <a:spcAft>
                <a:spcPts val="0"/>
              </a:spcAft>
            </a:pPr>
            <a:r>
              <a:rPr sz="2100" b="1">
                <a:solidFill>
                  <a:srgbClr val="2563EB"/>
                </a:solidFill>
                <a:latin typeface="Arial"/>
              </a:rPr>
              <a:t>Should I buy this?</a:t>
            </a:r>
          </a:p>
        </p:txBody>
      </p:sp>
      <p:sp>
        <p:nvSpPr>
          <p:cNvPr id="10" name="TextBox 9"/>
          <p:cNvSpPr txBox="1"/>
          <p:nvPr/>
        </p:nvSpPr>
        <p:spPr>
          <a:xfrm>
            <a:off x="7040880" y="1965960"/>
            <a:ext cx="4480560" cy="731520"/>
          </a:xfrm>
          <a:prstGeom prst="rect">
            <a:avLst/>
          </a:prstGeom>
          <a:noFill/>
        </p:spPr>
        <p:txBody>
          <a:bodyPr wrap="square" lIns="73152" rIns="73152" tIns="27432" bIns="27432" anchor="t">
            <a:spAutoFit/>
          </a:bodyPr>
          <a:lstStyle/>
          <a:p>
            <a:pPr algn="l">
              <a:spcAft>
                <a:spcPts val="0"/>
              </a:spcAft>
            </a:pPr>
            <a:r>
              <a:rPr sz="1600" b="0">
                <a:solidFill>
                  <a:srgbClr val="5B6475"/>
                </a:solidFill>
                <a:latin typeface="Arial"/>
              </a:rPr>
              <a:t>Buyers: strengths, weaknesses and evidence, per product</a:t>
            </a:r>
          </a:p>
        </p:txBody>
      </p:sp>
      <p:sp>
        <p:nvSpPr>
          <p:cNvPr id="11" name="Rounded Rectangle 10"/>
          <p:cNvSpPr/>
          <p:nvPr/>
        </p:nvSpPr>
        <p:spPr>
          <a:xfrm>
            <a:off x="6766560" y="2926080"/>
            <a:ext cx="4846320" cy="1417320"/>
          </a:xfrm>
          <a:prstGeom prst="roundRect">
            <a:avLst>
              <a:gd name="adj" fmla="val 5000"/>
            </a:avLst>
          </a:prstGeom>
          <a:solidFill>
            <a:srgbClr val="FFF4EC"/>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766560" y="3063240"/>
            <a:ext cx="91440" cy="1143000"/>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3017520"/>
            <a:ext cx="4480560" cy="548640"/>
          </a:xfrm>
          <a:prstGeom prst="rect">
            <a:avLst/>
          </a:prstGeom>
          <a:noFill/>
        </p:spPr>
        <p:txBody>
          <a:bodyPr wrap="square" lIns="73152" rIns="73152" tIns="27432" bIns="27432" anchor="ctr">
            <a:spAutoFit/>
          </a:bodyPr>
          <a:lstStyle/>
          <a:p>
            <a:pPr algn="l">
              <a:spcAft>
                <a:spcPts val="0"/>
              </a:spcAft>
            </a:pPr>
            <a:r>
              <a:rPr sz="2100" b="1">
                <a:solidFill>
                  <a:srgbClr val="E8622C"/>
                </a:solidFill>
                <a:latin typeface="Arial"/>
              </a:rPr>
              <a:t>What should we improve?</a:t>
            </a:r>
          </a:p>
        </p:txBody>
      </p:sp>
      <p:sp>
        <p:nvSpPr>
          <p:cNvPr id="14" name="TextBox 13"/>
          <p:cNvSpPr txBox="1"/>
          <p:nvPr/>
        </p:nvSpPr>
        <p:spPr>
          <a:xfrm>
            <a:off x="7040880" y="3566160"/>
            <a:ext cx="4480560" cy="731520"/>
          </a:xfrm>
          <a:prstGeom prst="rect">
            <a:avLst/>
          </a:prstGeom>
          <a:noFill/>
        </p:spPr>
        <p:txBody>
          <a:bodyPr wrap="square" lIns="73152" rIns="73152" tIns="27432" bIns="27432" anchor="t">
            <a:spAutoFit/>
          </a:bodyPr>
          <a:lstStyle/>
          <a:p>
            <a:pPr algn="l">
              <a:spcAft>
                <a:spcPts val="0"/>
              </a:spcAft>
            </a:pPr>
            <a:r>
              <a:rPr sz="1600" b="0">
                <a:solidFill>
                  <a:srgbClr val="5B6475"/>
                </a:solidFill>
                <a:latin typeface="Arial"/>
              </a:rPr>
              <a:t>Sellers: ranked complaint areas across the category</a:t>
            </a:r>
          </a:p>
        </p:txBody>
      </p:sp>
      <p:sp>
        <p:nvSpPr>
          <p:cNvPr id="15" name="Rounded Rectangle 14"/>
          <p:cNvSpPr/>
          <p:nvPr/>
        </p:nvSpPr>
        <p:spPr>
          <a:xfrm>
            <a:off x="6766560" y="4526280"/>
            <a:ext cx="4846320" cy="1417320"/>
          </a:xfrm>
          <a:prstGeom prst="roundRect">
            <a:avLst>
              <a:gd name="adj" fmla="val 5000"/>
            </a:avLst>
          </a:prstGeom>
          <a:solidFill>
            <a:srgbClr val="F0FDFA"/>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66560" y="4663440"/>
            <a:ext cx="91440" cy="1143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4617720"/>
            <a:ext cx="4480560" cy="548640"/>
          </a:xfrm>
          <a:prstGeom prst="rect">
            <a:avLst/>
          </a:prstGeom>
          <a:noFill/>
        </p:spPr>
        <p:txBody>
          <a:bodyPr wrap="square" lIns="73152" rIns="73152" tIns="27432" bIns="27432" anchor="ctr">
            <a:spAutoFit/>
          </a:bodyPr>
          <a:lstStyle/>
          <a:p>
            <a:pPr algn="l">
              <a:spcAft>
                <a:spcPts val="0"/>
              </a:spcAft>
            </a:pPr>
            <a:r>
              <a:rPr sz="2100" b="1">
                <a:solidFill>
                  <a:srgbClr val="0F766E"/>
                </a:solidFill>
                <a:latin typeface="Arial"/>
              </a:rPr>
              <a:t>Can I trust these reviews?</a:t>
            </a:r>
          </a:p>
        </p:txBody>
      </p:sp>
      <p:sp>
        <p:nvSpPr>
          <p:cNvPr id="18" name="TextBox 17"/>
          <p:cNvSpPr txBox="1"/>
          <p:nvPr/>
        </p:nvSpPr>
        <p:spPr>
          <a:xfrm>
            <a:off x="7040880" y="5166360"/>
            <a:ext cx="4480560" cy="731520"/>
          </a:xfrm>
          <a:prstGeom prst="rect">
            <a:avLst/>
          </a:prstGeom>
          <a:noFill/>
        </p:spPr>
        <p:txBody>
          <a:bodyPr wrap="square" lIns="73152" rIns="73152" tIns="27432" bIns="27432" anchor="t">
            <a:spAutoFit/>
          </a:bodyPr>
          <a:lstStyle/>
          <a:p>
            <a:pPr algn="l">
              <a:spcAft>
                <a:spcPts val="0"/>
              </a:spcAft>
            </a:pPr>
            <a:r>
              <a:rPr sz="1600" b="0">
                <a:solidFill>
                  <a:srgbClr val="5B6475"/>
                </a:solidFill>
                <a:latin typeface="Arial"/>
              </a:rPr>
              <a:t>Review quality: helpfulness and suspicious-review signals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Objectives and scope</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3 / 19</a:t>
            </a:r>
          </a:p>
        </p:txBody>
      </p:sp>
      <p:sp>
        <p:nvSpPr>
          <p:cNvPr id="6" name="Rounded Rectangle 5"/>
          <p:cNvSpPr/>
          <p:nvPr/>
        </p:nvSpPr>
        <p:spPr>
          <a:xfrm>
            <a:off x="548640" y="1280160"/>
            <a:ext cx="676656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9888"/>
            <a:ext cx="82296" cy="38404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53312"/>
            <a:ext cx="64922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Objectives</a:t>
            </a:r>
          </a:p>
        </p:txBody>
      </p:sp>
      <p:sp>
        <p:nvSpPr>
          <p:cNvPr id="9" name="TextBox 8"/>
          <p:cNvSpPr txBox="1"/>
          <p:nvPr/>
        </p:nvSpPr>
        <p:spPr>
          <a:xfrm>
            <a:off x="676656" y="1901952"/>
            <a:ext cx="6510528" cy="4151376"/>
          </a:xfrm>
          <a:prstGeom prst="rect">
            <a:avLst/>
          </a:prstGeom>
          <a:noFill/>
        </p:spPr>
        <p:txBody>
          <a:bodyPr wrap="square" lIns="73152" rIns="73152" tIns="27432" bIns="27432" anchor="t">
            <a:spAutoFit/>
          </a:bodyPr>
          <a:lstStyle/>
          <a:p>
            <a:pPr algn="l" marL="251460" indent="-251460">
              <a:spcAft>
                <a:spcPts val="600"/>
              </a:spcAft>
              <a:buChar char="•"/>
            </a:pPr>
            <a:r>
              <a:rPr sz="1800" b="0">
                <a:solidFill>
                  <a:srgbClr val="1F2937"/>
                </a:solidFill>
                <a:latin typeface="Arial"/>
              </a:rPr>
              <a:t>Prepare a clean, labelled corpus enriched with product names, brands and images</a:t>
            </a:r>
          </a:p>
          <a:p>
            <a:pPr algn="l" marL="251460" indent="-251460">
              <a:spcAft>
                <a:spcPts val="600"/>
              </a:spcAft>
              <a:buChar char="•"/>
            </a:pPr>
            <a:r>
              <a:rPr sz="1800" b="0">
                <a:solidFill>
                  <a:srgbClr val="1F2937"/>
                </a:solidFill>
                <a:latin typeface="Arial"/>
              </a:rPr>
              <a:t>Classify sentiment (positive, neutral, negative) with NLP, deep learning and advanced ML models and compare them fairly</a:t>
            </a:r>
          </a:p>
          <a:p>
            <a:pPr algn="l" marL="251460" indent="-251460">
              <a:spcAft>
                <a:spcPts val="600"/>
              </a:spcAft>
              <a:buChar char="•"/>
            </a:pPr>
            <a:r>
              <a:rPr sz="1800" b="0">
                <a:solidFill>
                  <a:srgbClr val="1F2937"/>
                </a:solidFill>
                <a:latin typeface="Arial"/>
              </a:rPr>
              <a:t>Build an LSTM classifier, report its metrics and visualise each sentiment with word clouds</a:t>
            </a:r>
          </a:p>
          <a:p>
            <a:pPr algn="l" marL="251460" indent="-251460">
              <a:spcAft>
                <a:spcPts val="600"/>
              </a:spcAft>
              <a:buChar char="•"/>
            </a:pPr>
            <a:r>
              <a:rPr sz="1800" b="0">
                <a:solidFill>
                  <a:srgbClr val="1F2937"/>
                </a:solidFill>
                <a:latin typeface="Arial"/>
              </a:rPr>
              <a:t>Extract aspect-level sentiment, topics and clusters</a:t>
            </a:r>
          </a:p>
          <a:p>
            <a:pPr algn="l" marL="251460" indent="-251460">
              <a:spcAft>
                <a:spcPts val="600"/>
              </a:spcAft>
              <a:buChar char="•"/>
            </a:pPr>
            <a:r>
              <a:rPr sz="1800" b="0">
                <a:solidFill>
                  <a:srgbClr val="1F2937"/>
                </a:solidFill>
                <a:latin typeface="Arial"/>
              </a:rPr>
              <a:t>Predict helpfulness and flag suspicious reviews</a:t>
            </a:r>
          </a:p>
          <a:p>
            <a:pPr algn="l" marL="251460" indent="-251460">
              <a:spcAft>
                <a:spcPts val="600"/>
              </a:spcAft>
              <a:buChar char="•"/>
            </a:pPr>
            <a:r>
              <a:rPr sz="1800" b="0">
                <a:solidFill>
                  <a:srgbClr val="1F2937"/>
                </a:solidFill>
                <a:latin typeface="Arial"/>
              </a:rPr>
              <a:t>Provide semantic search and grounded question answering with evidence</a:t>
            </a:r>
          </a:p>
          <a:p>
            <a:pPr algn="l" marL="251460" indent="-251460">
              <a:spcAft>
                <a:spcPts val="600"/>
              </a:spcAft>
              <a:buChar char="•"/>
            </a:pPr>
            <a:r>
              <a:rPr sz="1800" b="0">
                <a:solidFill>
                  <a:srgbClr val="1F2937"/>
                </a:solidFill>
                <a:latin typeface="Arial"/>
              </a:rPr>
              <a:t>Deliver everything in one interactive dashboard</a:t>
            </a:r>
          </a:p>
        </p:txBody>
      </p:sp>
      <p:sp>
        <p:nvSpPr>
          <p:cNvPr id="10" name="Rounded Rectangle 9"/>
          <p:cNvSpPr/>
          <p:nvPr/>
        </p:nvSpPr>
        <p:spPr>
          <a:xfrm>
            <a:off x="7589520" y="1280160"/>
            <a:ext cx="406908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89520" y="138988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0688" y="1353312"/>
            <a:ext cx="379476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Scope and boundaries</a:t>
            </a:r>
          </a:p>
        </p:txBody>
      </p:sp>
      <p:sp>
        <p:nvSpPr>
          <p:cNvPr id="13" name="TextBox 12"/>
          <p:cNvSpPr txBox="1"/>
          <p:nvPr/>
        </p:nvSpPr>
        <p:spPr>
          <a:xfrm>
            <a:off x="7717536" y="1901952"/>
            <a:ext cx="3813048" cy="4151376"/>
          </a:xfrm>
          <a:prstGeom prst="rect">
            <a:avLst/>
          </a:prstGeom>
          <a:noFill/>
        </p:spPr>
        <p:txBody>
          <a:bodyPr wrap="square" lIns="73152" rIns="73152" tIns="27432" bIns="27432" anchor="t">
            <a:spAutoFit/>
          </a:bodyPr>
          <a:lstStyle/>
          <a:p>
            <a:pPr algn="l" marL="237490" indent="-237490">
              <a:spcAft>
                <a:spcPts val="600"/>
              </a:spcAft>
              <a:buChar char="•"/>
            </a:pPr>
            <a:r>
              <a:rPr sz="1700" b="0">
                <a:solidFill>
                  <a:srgbClr val="1F2937"/>
                </a:solidFill>
                <a:latin typeface="Arial"/>
              </a:rPr>
              <a:t>One product category: </a:t>
            </a:r>
            <a:r>
              <a:rPr sz="1700" b="1">
                <a:solidFill>
                  <a:srgbClr val="1F2937"/>
                </a:solidFill>
                <a:latin typeface="Arial"/>
              </a:rPr>
              <a:t>Amazon Electronics</a:t>
            </a:r>
          </a:p>
          <a:p>
            <a:pPr algn="l" marL="237490" indent="-237490">
              <a:spcAft>
                <a:spcPts val="600"/>
              </a:spcAft>
              <a:buChar char="•"/>
            </a:pPr>
            <a:r>
              <a:rPr sz="1700" b="0">
                <a:solidFill>
                  <a:srgbClr val="1F2937"/>
                </a:solidFill>
                <a:latin typeface="Arial"/>
              </a:rPr>
              <a:t>English reviews, </a:t>
            </a:r>
            <a:r>
              <a:rPr sz="1700" b="1">
                <a:solidFill>
                  <a:srgbClr val="1F2937"/>
                </a:solidFill>
                <a:latin typeface="Arial"/>
              </a:rPr>
              <a:t>50,000-review</a:t>
            </a:r>
            <a:r>
              <a:rPr sz="1700" b="0">
                <a:solidFill>
                  <a:srgbClr val="1F2937"/>
                </a:solidFill>
                <a:latin typeface="Arial"/>
              </a:rPr>
              <a:t> working sample</a:t>
            </a:r>
          </a:p>
          <a:p>
            <a:pPr algn="l" marL="237490" indent="-237490">
              <a:spcAft>
                <a:spcPts val="600"/>
              </a:spcAft>
              <a:buChar char="•"/>
            </a:pPr>
            <a:r>
              <a:rPr sz="1700" b="0">
                <a:solidFill>
                  <a:srgbClr val="1F2937"/>
                </a:solidFill>
                <a:latin typeface="Arial"/>
              </a:rPr>
              <a:t>Sentiment labels come from </a:t>
            </a:r>
            <a:r>
              <a:rPr sz="1700" b="1">
                <a:solidFill>
                  <a:srgbClr val="1F2937"/>
                </a:solidFill>
                <a:latin typeface="Arial"/>
              </a:rPr>
              <a:t>star ratings</a:t>
            </a:r>
          </a:p>
          <a:p>
            <a:pPr algn="l" marL="237490" indent="-237490">
              <a:spcAft>
                <a:spcPts val="600"/>
              </a:spcAft>
              <a:buChar char="•"/>
            </a:pPr>
            <a:r>
              <a:rPr sz="1700" b="0">
                <a:solidFill>
                  <a:srgbClr val="1F2937"/>
                </a:solidFill>
                <a:latin typeface="Arial"/>
              </a:rPr>
              <a:t>Suspicious-review detection is </a:t>
            </a:r>
            <a:r>
              <a:rPr sz="1700" b="1">
                <a:solidFill>
                  <a:srgbClr val="1F2937"/>
                </a:solidFill>
                <a:latin typeface="Arial"/>
              </a:rPr>
              <a:t>unsupervised</a:t>
            </a:r>
            <a:r>
              <a:rPr sz="1700" b="0">
                <a:solidFill>
                  <a:srgbClr val="1F2937"/>
                </a:solidFill>
                <a:latin typeface="Arial"/>
              </a:rPr>
              <a:t>: no fake-review accuracy is claimed</a:t>
            </a:r>
          </a:p>
          <a:p>
            <a:pPr algn="l" marL="237490" indent="-237490">
              <a:spcAft>
                <a:spcPts val="600"/>
              </a:spcAft>
              <a:buChar char="•"/>
            </a:pPr>
            <a:r>
              <a:rPr sz="1700" b="0">
                <a:solidFill>
                  <a:srgbClr val="1F2937"/>
                </a:solidFill>
                <a:latin typeface="Arial"/>
              </a:rPr>
              <a:t>Answers come only from the selected product's own reviews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Dataset and preprocessing</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4 / 19</a:t>
            </a:r>
          </a:p>
        </p:txBody>
      </p:sp>
      <p:sp>
        <p:nvSpPr>
          <p:cNvPr id="6" name="Rounded Rectangle 5"/>
          <p:cNvSpPr/>
          <p:nvPr/>
        </p:nvSpPr>
        <p:spPr>
          <a:xfrm>
            <a:off x="548640" y="1280160"/>
            <a:ext cx="2651760" cy="1417320"/>
          </a:xfrm>
          <a:prstGeom prst="roundRect">
            <a:avLst>
              <a:gd name="adj" fmla="val 5000"/>
            </a:avLst>
          </a:prstGeom>
          <a:solidFill>
            <a:srgbClr val="FFF4EC"/>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53312"/>
            <a:ext cx="2651760" cy="779526"/>
          </a:xfrm>
          <a:prstGeom prst="rect">
            <a:avLst/>
          </a:prstGeom>
          <a:noFill/>
        </p:spPr>
        <p:txBody>
          <a:bodyPr wrap="square" lIns="73152" rIns="73152" tIns="27432" bIns="27432" anchor="ctr">
            <a:spAutoFit/>
          </a:bodyPr>
          <a:lstStyle/>
          <a:p>
            <a:pPr algn="ctr">
              <a:spcAft>
                <a:spcPts val="0"/>
              </a:spcAft>
            </a:pPr>
            <a:r>
              <a:rPr sz="3400" b="1">
                <a:solidFill>
                  <a:srgbClr val="E8622C"/>
                </a:solidFill>
                <a:latin typeface="Arial"/>
              </a:rPr>
              <a:t>50,000</a:t>
            </a:r>
          </a:p>
        </p:txBody>
      </p:sp>
      <p:sp>
        <p:nvSpPr>
          <p:cNvPr id="8" name="TextBox 7"/>
          <p:cNvSpPr txBox="1"/>
          <p:nvPr/>
        </p:nvSpPr>
        <p:spPr>
          <a:xfrm>
            <a:off x="640080" y="2059686"/>
            <a:ext cx="2468879" cy="595274"/>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reviews</a:t>
            </a:r>
          </a:p>
        </p:txBody>
      </p:sp>
      <p:sp>
        <p:nvSpPr>
          <p:cNvPr id="9" name="Rounded Rectangle 8"/>
          <p:cNvSpPr/>
          <p:nvPr/>
        </p:nvSpPr>
        <p:spPr>
          <a:xfrm>
            <a:off x="3383280" y="1280160"/>
            <a:ext cx="2651760" cy="1417320"/>
          </a:xfrm>
          <a:prstGeom prst="roundRect">
            <a:avLst>
              <a:gd name="adj" fmla="val 5000"/>
            </a:avLst>
          </a:prstGeom>
          <a:solidFill>
            <a:srgbClr val="EFF6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353312"/>
            <a:ext cx="2651760" cy="779526"/>
          </a:xfrm>
          <a:prstGeom prst="rect">
            <a:avLst/>
          </a:prstGeom>
          <a:noFill/>
        </p:spPr>
        <p:txBody>
          <a:bodyPr wrap="square" lIns="73152" rIns="73152" tIns="27432" bIns="27432" anchor="ctr">
            <a:spAutoFit/>
          </a:bodyPr>
          <a:lstStyle/>
          <a:p>
            <a:pPr algn="ctr">
              <a:spcAft>
                <a:spcPts val="0"/>
              </a:spcAft>
            </a:pPr>
            <a:r>
              <a:rPr sz="3400" b="1">
                <a:solidFill>
                  <a:srgbClr val="2563EB"/>
                </a:solidFill>
                <a:latin typeface="Arial"/>
              </a:rPr>
              <a:t>34,365</a:t>
            </a:r>
          </a:p>
        </p:txBody>
      </p:sp>
      <p:sp>
        <p:nvSpPr>
          <p:cNvPr id="11" name="TextBox 10"/>
          <p:cNvSpPr txBox="1"/>
          <p:nvPr/>
        </p:nvSpPr>
        <p:spPr>
          <a:xfrm>
            <a:off x="3474720" y="2059686"/>
            <a:ext cx="2468879" cy="595274"/>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products</a:t>
            </a:r>
          </a:p>
        </p:txBody>
      </p:sp>
      <p:sp>
        <p:nvSpPr>
          <p:cNvPr id="12" name="Rounded Rectangle 11"/>
          <p:cNvSpPr/>
          <p:nvPr/>
        </p:nvSpPr>
        <p:spPr>
          <a:xfrm>
            <a:off x="6217920" y="1280160"/>
            <a:ext cx="2651760" cy="1417320"/>
          </a:xfrm>
          <a:prstGeom prst="roundRect">
            <a:avLst>
              <a:gd name="adj" fmla="val 5000"/>
            </a:avLst>
          </a:prstGeom>
          <a:solidFill>
            <a:srgbClr val="F0FDFA"/>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353312"/>
            <a:ext cx="2651760" cy="779526"/>
          </a:xfrm>
          <a:prstGeom prst="rect">
            <a:avLst/>
          </a:prstGeom>
          <a:noFill/>
        </p:spPr>
        <p:txBody>
          <a:bodyPr wrap="square" lIns="73152" rIns="73152" tIns="27432" bIns="27432" anchor="ctr">
            <a:spAutoFit/>
          </a:bodyPr>
          <a:lstStyle/>
          <a:p>
            <a:pPr algn="ctr">
              <a:spcAft>
                <a:spcPts val="0"/>
              </a:spcAft>
            </a:pPr>
            <a:r>
              <a:rPr sz="3400" b="1">
                <a:solidFill>
                  <a:srgbClr val="0F766E"/>
                </a:solidFill>
                <a:latin typeface="Arial"/>
              </a:rPr>
              <a:t>8,883</a:t>
            </a:r>
          </a:p>
        </p:txBody>
      </p:sp>
      <p:sp>
        <p:nvSpPr>
          <p:cNvPr id="14" name="TextBox 13"/>
          <p:cNvSpPr txBox="1"/>
          <p:nvPr/>
        </p:nvSpPr>
        <p:spPr>
          <a:xfrm>
            <a:off x="6309359" y="2059686"/>
            <a:ext cx="2468879" cy="595274"/>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reviewers</a:t>
            </a:r>
          </a:p>
        </p:txBody>
      </p:sp>
      <p:sp>
        <p:nvSpPr>
          <p:cNvPr id="15" name="Rounded Rectangle 14"/>
          <p:cNvSpPr/>
          <p:nvPr/>
        </p:nvSpPr>
        <p:spPr>
          <a:xfrm>
            <a:off x="9052560" y="1280160"/>
            <a:ext cx="2651760" cy="1417320"/>
          </a:xfrm>
          <a:prstGeom prst="roundRect">
            <a:avLst>
              <a:gd name="adj" fmla="val 5000"/>
            </a:avLst>
          </a:prstGeom>
          <a:solidFill>
            <a:srgbClr val="FFF4EC"/>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1353312"/>
            <a:ext cx="2651760" cy="779526"/>
          </a:xfrm>
          <a:prstGeom prst="rect">
            <a:avLst/>
          </a:prstGeom>
          <a:noFill/>
        </p:spPr>
        <p:txBody>
          <a:bodyPr wrap="square" lIns="73152" rIns="73152" tIns="27432" bIns="27432" anchor="ctr">
            <a:spAutoFit/>
          </a:bodyPr>
          <a:lstStyle/>
          <a:p>
            <a:pPr algn="ctr">
              <a:spcAft>
                <a:spcPts val="0"/>
              </a:spcAft>
            </a:pPr>
            <a:r>
              <a:rPr sz="3400" b="1">
                <a:solidFill>
                  <a:srgbClr val="E8622C"/>
                </a:solidFill>
                <a:latin typeface="Arial"/>
              </a:rPr>
              <a:t>80 / 7 / 13</a:t>
            </a:r>
          </a:p>
        </p:txBody>
      </p:sp>
      <p:sp>
        <p:nvSpPr>
          <p:cNvPr id="17" name="TextBox 16"/>
          <p:cNvSpPr txBox="1"/>
          <p:nvPr/>
        </p:nvSpPr>
        <p:spPr>
          <a:xfrm>
            <a:off x="9144000" y="2059686"/>
            <a:ext cx="2468879" cy="595274"/>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 positive / neutral / negative</a:t>
            </a:r>
          </a:p>
        </p:txBody>
      </p:sp>
      <p:sp>
        <p:nvSpPr>
          <p:cNvPr id="18" name="Rounded Rectangle 17"/>
          <p:cNvSpPr/>
          <p:nvPr/>
        </p:nvSpPr>
        <p:spPr>
          <a:xfrm>
            <a:off x="548640" y="2926080"/>
            <a:ext cx="11109960" cy="320040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35808"/>
            <a:ext cx="82296" cy="38404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999232"/>
            <a:ext cx="108356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How the data was prepared</a:t>
            </a:r>
          </a:p>
        </p:txBody>
      </p:sp>
      <p:sp>
        <p:nvSpPr>
          <p:cNvPr id="21" name="TextBox 20"/>
          <p:cNvSpPr txBox="1"/>
          <p:nvPr/>
        </p:nvSpPr>
        <p:spPr>
          <a:xfrm>
            <a:off x="676656" y="3547872"/>
            <a:ext cx="10853928" cy="2505456"/>
          </a:xfrm>
          <a:prstGeom prst="rect">
            <a:avLst/>
          </a:prstGeom>
          <a:noFill/>
        </p:spPr>
        <p:txBody>
          <a:bodyPr wrap="square" lIns="73152" rIns="73152" tIns="27432" bIns="27432" anchor="t">
            <a:spAutoFit/>
          </a:bodyPr>
          <a:lstStyle/>
          <a:p>
            <a:pPr algn="l" marL="237490" indent="-237490">
              <a:spcAft>
                <a:spcPts val="600"/>
              </a:spcAft>
              <a:buChar char="•"/>
            </a:pPr>
            <a:r>
              <a:rPr sz="1700" b="1">
                <a:solidFill>
                  <a:srgbClr val="1F2937"/>
                </a:solidFill>
                <a:latin typeface="Arial"/>
              </a:rPr>
              <a:t>Source:</a:t>
            </a:r>
            <a:r>
              <a:rPr sz="1700" b="0">
                <a:solidFill>
                  <a:srgbClr val="1F2937"/>
                </a:solidFill>
                <a:latin typeface="Arial"/>
              </a:rPr>
              <a:t> Amazon Reviews 2023 (McAuley Lab), Electronics category</a:t>
            </a:r>
          </a:p>
          <a:p>
            <a:pPr algn="l" marL="237490" indent="-237490">
              <a:spcAft>
                <a:spcPts val="600"/>
              </a:spcAft>
              <a:buChar char="•"/>
            </a:pPr>
            <a:r>
              <a:rPr sz="1700" b="1">
                <a:solidFill>
                  <a:srgbClr val="1F2937"/>
                </a:solidFill>
                <a:latin typeface="Arial"/>
              </a:rPr>
              <a:t>Cleaning:</a:t>
            </a:r>
            <a:r>
              <a:rPr sz="1700" b="0">
                <a:solidFill>
                  <a:srgbClr val="1F2937"/>
                </a:solidFill>
                <a:latin typeface="Arial"/>
              </a:rPr>
              <a:t> removed missing ratings and very short texts, stripped HTML and URLs, dropped duplicate (reviewer, product, text) records</a:t>
            </a:r>
          </a:p>
          <a:p>
            <a:pPr algn="l" marL="237490" indent="-237490">
              <a:spcAft>
                <a:spcPts val="600"/>
              </a:spcAft>
              <a:buChar char="•"/>
            </a:pPr>
            <a:r>
              <a:rPr sz="1700" b="1">
                <a:solidFill>
                  <a:srgbClr val="1F2937"/>
                </a:solidFill>
                <a:latin typeface="Arial"/>
              </a:rPr>
              <a:t>Labels:</a:t>
            </a:r>
            <a:r>
              <a:rPr sz="1700" b="0">
                <a:solidFill>
                  <a:srgbClr val="1F2937"/>
                </a:solidFill>
                <a:latin typeface="Arial"/>
              </a:rPr>
              <a:t> stars 4 and 5 positive, 3 neutral, 1 and 2 negative. Weak labels, so macro-F1 is the main metric</a:t>
            </a:r>
          </a:p>
          <a:p>
            <a:pPr algn="l" marL="237490" indent="-237490">
              <a:spcAft>
                <a:spcPts val="600"/>
              </a:spcAft>
              <a:buChar char="•"/>
            </a:pPr>
            <a:r>
              <a:rPr sz="1700" b="1">
                <a:solidFill>
                  <a:srgbClr val="1F2937"/>
                </a:solidFill>
                <a:latin typeface="Arial"/>
              </a:rPr>
              <a:t>Metadata:</a:t>
            </a:r>
            <a:r>
              <a:rPr sz="1700" b="0">
                <a:solidFill>
                  <a:srgbClr val="1F2937"/>
                </a:solidFill>
                <a:latin typeface="Arial"/>
              </a:rPr>
              <a:t> title, brand and image joined on the parent ASIN (34,364 of 34,365 products matched)</a:t>
            </a:r>
          </a:p>
          <a:p>
            <a:pPr algn="l" marL="237490" indent="-237490">
              <a:spcAft>
                <a:spcPts val="600"/>
              </a:spcAft>
              <a:buChar char="•"/>
            </a:pPr>
            <a:r>
              <a:rPr sz="1700" b="1">
                <a:solidFill>
                  <a:srgbClr val="1F2937"/>
                </a:solidFill>
                <a:latin typeface="Arial"/>
              </a:rPr>
              <a:t>Evaluation:</a:t>
            </a:r>
            <a:r>
              <a:rPr sz="1700" b="0">
                <a:solidFill>
                  <a:srgbClr val="1F2937"/>
                </a:solidFill>
                <a:latin typeface="Arial"/>
              </a:rPr>
              <a:t> one shared 40,000 train and 10,000 test split for every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System architecture</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5 / 19</a:t>
            </a:r>
          </a:p>
        </p:txBody>
      </p:sp>
      <p:pic>
        <p:nvPicPr>
          <p:cNvPr id="6" name="Picture 5" descr="fig_framework.png"/>
          <p:cNvPicPr>
            <a:picLocks noChangeAspect="1"/>
          </p:cNvPicPr>
          <p:nvPr/>
        </p:nvPicPr>
        <p:blipFill>
          <a:blip r:embed="rId2"/>
          <a:stretch>
            <a:fillRect/>
          </a:stretch>
        </p:blipFill>
        <p:spPr>
          <a:xfrm>
            <a:off x="1252728" y="1188720"/>
            <a:ext cx="9692640" cy="4092828"/>
          </a:xfrm>
          <a:prstGeom prst="rect">
            <a:avLst/>
          </a:prstGeom>
        </p:spPr>
      </p:pic>
      <p:sp>
        <p:nvSpPr>
          <p:cNvPr id="7" name="Rounded Rectangle 6"/>
          <p:cNvSpPr/>
          <p:nvPr/>
        </p:nvSpPr>
        <p:spPr>
          <a:xfrm>
            <a:off x="822960" y="5486400"/>
            <a:ext cx="10515600" cy="685800"/>
          </a:xfrm>
          <a:prstGeom prst="roundRect">
            <a:avLst>
              <a:gd name="adj" fmla="val 5000"/>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5486400"/>
            <a:ext cx="10241280" cy="685800"/>
          </a:xfrm>
          <a:prstGeom prst="rect">
            <a:avLst/>
          </a:prstGeom>
          <a:noFill/>
        </p:spPr>
        <p:txBody>
          <a:bodyPr wrap="square" lIns="73152" rIns="73152" tIns="27432" bIns="27432" anchor="ctr">
            <a:spAutoFit/>
          </a:bodyPr>
          <a:lstStyle/>
          <a:p>
            <a:pPr algn="l">
              <a:spcAft>
                <a:spcPts val="0"/>
              </a:spcAft>
            </a:pPr>
            <a:r>
              <a:rPr sz="1800" b="0">
                <a:solidFill>
                  <a:srgbClr val="FFFFFF"/>
                </a:solidFill>
                <a:latin typeface="Arial"/>
              </a:rPr>
              <a:t>Three pillars on one shared corpus: NLP, deep learning and advanced machine learning, fused into product-level 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NLP branch</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6 / 19</a:t>
            </a:r>
          </a:p>
        </p:txBody>
      </p:sp>
      <p:sp>
        <p:nvSpPr>
          <p:cNvPr id="6" name="Rounded Rectangle 5"/>
          <p:cNvSpPr/>
          <p:nvPr/>
        </p:nvSpPr>
        <p:spPr>
          <a:xfrm>
            <a:off x="548640" y="1280160"/>
            <a:ext cx="3566160" cy="23317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988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53312"/>
            <a:ext cx="32918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VADER</a:t>
            </a:r>
          </a:p>
        </p:txBody>
      </p:sp>
      <p:sp>
        <p:nvSpPr>
          <p:cNvPr id="9" name="TextBox 8"/>
          <p:cNvSpPr txBox="1"/>
          <p:nvPr/>
        </p:nvSpPr>
        <p:spPr>
          <a:xfrm>
            <a:off x="676656" y="1901952"/>
            <a:ext cx="3310128" cy="1636775"/>
          </a:xfrm>
          <a:prstGeom prst="rect">
            <a:avLst/>
          </a:prstGeom>
          <a:noFill/>
        </p:spPr>
        <p:txBody>
          <a:bodyPr wrap="square" lIns="73152" rIns="73152" tIns="27432" bIns="27432" anchor="t">
            <a:spAutoFit/>
          </a:bodyPr>
          <a:lstStyle/>
          <a:p>
            <a:pPr algn="l">
              <a:spcAft>
                <a:spcPts val="600"/>
              </a:spcAft>
            </a:pPr>
            <a:r>
              <a:rPr sz="1700" b="0">
                <a:solidFill>
                  <a:srgbClr val="1F2937"/>
                </a:solidFill>
                <a:latin typeface="Arial"/>
              </a:rPr>
              <a:t>Rule-based sentiment lexicon. Zero-training baseline.</a:t>
            </a:r>
          </a:p>
        </p:txBody>
      </p:sp>
      <p:sp>
        <p:nvSpPr>
          <p:cNvPr id="10" name="Rounded Rectangle 9"/>
          <p:cNvSpPr/>
          <p:nvPr/>
        </p:nvSpPr>
        <p:spPr>
          <a:xfrm>
            <a:off x="4297679" y="1280160"/>
            <a:ext cx="3566160" cy="23317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79" y="138988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7" y="1353312"/>
            <a:ext cx="32918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TF-IDF + LR / SVM</a:t>
            </a:r>
          </a:p>
        </p:txBody>
      </p:sp>
      <p:sp>
        <p:nvSpPr>
          <p:cNvPr id="13" name="TextBox 12"/>
          <p:cNvSpPr txBox="1"/>
          <p:nvPr/>
        </p:nvSpPr>
        <p:spPr>
          <a:xfrm>
            <a:off x="4425695" y="1901952"/>
            <a:ext cx="3310128" cy="1636775"/>
          </a:xfrm>
          <a:prstGeom prst="rect">
            <a:avLst/>
          </a:prstGeom>
          <a:noFill/>
        </p:spPr>
        <p:txBody>
          <a:bodyPr wrap="square" lIns="73152" rIns="73152" tIns="27432" bIns="27432" anchor="t">
            <a:spAutoFit/>
          </a:bodyPr>
          <a:lstStyle/>
          <a:p>
            <a:pPr algn="l">
              <a:spcAft>
                <a:spcPts val="600"/>
              </a:spcAft>
            </a:pPr>
            <a:r>
              <a:rPr sz="1700" b="0">
                <a:solidFill>
                  <a:srgbClr val="1F2937"/>
                </a:solidFill>
                <a:latin typeface="Arial"/>
              </a:rPr>
              <a:t>Unigrams and bigrams, 30,000 features, balanced class weights.</a:t>
            </a:r>
          </a:p>
        </p:txBody>
      </p:sp>
      <p:sp>
        <p:nvSpPr>
          <p:cNvPr id="14" name="Rounded Rectangle 13"/>
          <p:cNvSpPr/>
          <p:nvPr/>
        </p:nvSpPr>
        <p:spPr>
          <a:xfrm>
            <a:off x="8046719" y="1280160"/>
            <a:ext cx="3566160" cy="23317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19" y="138988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353312"/>
            <a:ext cx="32918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LDA topics</a:t>
            </a:r>
          </a:p>
        </p:txBody>
      </p:sp>
      <p:sp>
        <p:nvSpPr>
          <p:cNvPr id="17" name="TextBox 16"/>
          <p:cNvSpPr txBox="1"/>
          <p:nvPr/>
        </p:nvSpPr>
        <p:spPr>
          <a:xfrm>
            <a:off x="8174736" y="1901952"/>
            <a:ext cx="3310128" cy="1636775"/>
          </a:xfrm>
          <a:prstGeom prst="rect">
            <a:avLst/>
          </a:prstGeom>
          <a:noFill/>
        </p:spPr>
        <p:txBody>
          <a:bodyPr wrap="square" lIns="73152" rIns="73152" tIns="27432" bIns="27432" anchor="t">
            <a:spAutoFit/>
          </a:bodyPr>
          <a:lstStyle/>
          <a:p>
            <a:pPr algn="l">
              <a:spcAft>
                <a:spcPts val="600"/>
              </a:spcAft>
            </a:pPr>
            <a:r>
              <a:rPr sz="1700" b="0">
                <a:solidFill>
                  <a:srgbClr val="1F2937"/>
                </a:solidFill>
                <a:latin typeface="Arial"/>
              </a:rPr>
              <a:t>8 topics found without labels: audio, storage, cables, cameras, cases and more.</a:t>
            </a:r>
          </a:p>
        </p:txBody>
      </p:sp>
      <p:sp>
        <p:nvSpPr>
          <p:cNvPr id="18" name="Rounded Rectangle 17"/>
          <p:cNvSpPr/>
          <p:nvPr/>
        </p:nvSpPr>
        <p:spPr>
          <a:xfrm>
            <a:off x="548640" y="3794760"/>
            <a:ext cx="3566160" cy="23317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0448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67912"/>
            <a:ext cx="32918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Aspect sentiment</a:t>
            </a:r>
          </a:p>
        </p:txBody>
      </p:sp>
      <p:sp>
        <p:nvSpPr>
          <p:cNvPr id="21" name="TextBox 20"/>
          <p:cNvSpPr txBox="1"/>
          <p:nvPr/>
        </p:nvSpPr>
        <p:spPr>
          <a:xfrm>
            <a:off x="676656" y="4416552"/>
            <a:ext cx="3310128" cy="1636775"/>
          </a:xfrm>
          <a:prstGeom prst="rect">
            <a:avLst/>
          </a:prstGeom>
          <a:noFill/>
        </p:spPr>
        <p:txBody>
          <a:bodyPr wrap="square" lIns="73152" rIns="73152" tIns="27432" bIns="27432" anchor="t">
            <a:spAutoFit/>
          </a:bodyPr>
          <a:lstStyle/>
          <a:p>
            <a:pPr algn="l">
              <a:spcAft>
                <a:spcPts val="600"/>
              </a:spcAft>
            </a:pPr>
            <a:r>
              <a:rPr sz="1700" b="0">
                <a:solidFill>
                  <a:srgbClr val="1F2937"/>
                </a:solidFill>
                <a:latin typeface="Arial"/>
              </a:rPr>
              <a:t>10 aspects (battery, sound, camera ...). Matched sentences are kept as evidence.</a:t>
            </a:r>
          </a:p>
        </p:txBody>
      </p:sp>
      <p:sp>
        <p:nvSpPr>
          <p:cNvPr id="22" name="Rounded Rectangle 21"/>
          <p:cNvSpPr/>
          <p:nvPr/>
        </p:nvSpPr>
        <p:spPr>
          <a:xfrm>
            <a:off x="4297679" y="3794760"/>
            <a:ext cx="3566160" cy="23317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79" y="390448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8847" y="3867912"/>
            <a:ext cx="32918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MiniLM embeddings</a:t>
            </a:r>
          </a:p>
        </p:txBody>
      </p:sp>
      <p:sp>
        <p:nvSpPr>
          <p:cNvPr id="25" name="TextBox 24"/>
          <p:cNvSpPr txBox="1"/>
          <p:nvPr/>
        </p:nvSpPr>
        <p:spPr>
          <a:xfrm>
            <a:off x="4425695" y="4416552"/>
            <a:ext cx="3310128" cy="1636775"/>
          </a:xfrm>
          <a:prstGeom prst="rect">
            <a:avLst/>
          </a:prstGeom>
          <a:noFill/>
        </p:spPr>
        <p:txBody>
          <a:bodyPr wrap="square" lIns="73152" rIns="73152" tIns="27432" bIns="27432" anchor="t">
            <a:spAutoFit/>
          </a:bodyPr>
          <a:lstStyle/>
          <a:p>
            <a:pPr algn="l">
              <a:spcAft>
                <a:spcPts val="600"/>
              </a:spcAft>
            </a:pPr>
            <a:r>
              <a:rPr sz="1700" b="0">
                <a:solidFill>
                  <a:srgbClr val="1F2937"/>
                </a:solidFill>
                <a:latin typeface="Arial"/>
              </a:rPr>
              <a:t>384-d sentence vectors power semantic search and question answering.</a:t>
            </a:r>
          </a:p>
        </p:txBody>
      </p:sp>
      <p:sp>
        <p:nvSpPr>
          <p:cNvPr id="26" name="Rounded Rectangle 25"/>
          <p:cNvSpPr/>
          <p:nvPr/>
        </p:nvSpPr>
        <p:spPr>
          <a:xfrm>
            <a:off x="8046720" y="3794760"/>
            <a:ext cx="3566160" cy="2331720"/>
          </a:xfrm>
          <a:prstGeom prst="roundRect">
            <a:avLst>
              <a:gd name="adj" fmla="val 5000"/>
            </a:avLst>
          </a:prstGeom>
          <a:solidFill>
            <a:srgbClr val="EFF6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00400" cy="2148840"/>
          </a:xfrm>
          <a:prstGeom prst="rect">
            <a:avLst/>
          </a:prstGeom>
          <a:noFill/>
        </p:spPr>
        <p:txBody>
          <a:bodyPr wrap="square" lIns="73152" rIns="73152" tIns="27432" bIns="27432" anchor="ctr">
            <a:spAutoFit/>
          </a:bodyPr>
          <a:lstStyle/>
          <a:p>
            <a:pPr algn="l">
              <a:spcAft>
                <a:spcPts val="600"/>
              </a:spcAft>
            </a:pPr>
            <a:r>
              <a:rPr sz="1900" b="1">
                <a:solidFill>
                  <a:srgbClr val="2563EB"/>
                </a:solidFill>
                <a:latin typeface="Arial"/>
              </a:rPr>
              <a:t>Why it matters</a:t>
            </a:r>
          </a:p>
          <a:p>
            <a:pPr algn="l">
              <a:spcAft>
                <a:spcPts val="800"/>
              </a:spcAft>
            </a:pPr>
            <a:r>
              <a:rPr sz="1600" b="0">
                <a:solidFill>
                  <a:srgbClr val="1F2937"/>
                </a:solidFill>
                <a:latin typeface="Arial"/>
              </a:rPr>
              <a:t>The same corpus supports both </a:t>
            </a:r>
            <a:r>
              <a:rPr sz="1600" b="1">
                <a:solidFill>
                  <a:srgbClr val="1F2937"/>
                </a:solidFill>
                <a:latin typeface="Arial"/>
              </a:rPr>
              <a:t>review-level labels</a:t>
            </a:r>
            <a:r>
              <a:rPr sz="1600" b="0">
                <a:solidFill>
                  <a:srgbClr val="1F2937"/>
                </a:solidFill>
                <a:latin typeface="Arial"/>
              </a:rPr>
              <a:t> and </a:t>
            </a:r>
            <a:r>
              <a:rPr sz="1600" b="1">
                <a:solidFill>
                  <a:srgbClr val="1F2937"/>
                </a:solidFill>
                <a:latin typeface="Arial"/>
              </a:rPr>
              <a:t>aspect-level insight</a:t>
            </a:r>
            <a:r>
              <a:rPr sz="1600" b="0">
                <a:solidFill>
                  <a:srgbClr val="1F2937"/>
                </a:solidFill>
                <a:latin typeface="Arial"/>
              </a:rPr>
              <a:t>.</a:t>
            </a:r>
          </a:p>
          <a:p>
            <a:pPr algn="l">
              <a:spcAft>
                <a:spcPts val="600"/>
              </a:spcAft>
            </a:pPr>
            <a:r>
              <a:rPr sz="1600" b="0">
                <a:solidFill>
                  <a:srgbClr val="1F2937"/>
                </a:solidFill>
                <a:latin typeface="Arial"/>
              </a:rPr>
              <a:t>Aspect results explain why a product is rated the way it 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Deep learning: BiLSTM with attention</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7 / 19</a:t>
            </a:r>
          </a:p>
        </p:txBody>
      </p:sp>
      <p:sp>
        <p:nvSpPr>
          <p:cNvPr id="6" name="Rounded Rectangle 5"/>
          <p:cNvSpPr/>
          <p:nvPr/>
        </p:nvSpPr>
        <p:spPr>
          <a:xfrm>
            <a:off x="548640" y="1280160"/>
            <a:ext cx="365760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ster_lstm.png"/>
          <p:cNvPicPr>
            <a:picLocks noChangeAspect="1"/>
          </p:cNvPicPr>
          <p:nvPr/>
        </p:nvPicPr>
        <p:blipFill>
          <a:blip r:embed="rId2"/>
          <a:stretch>
            <a:fillRect/>
          </a:stretch>
        </p:blipFill>
        <p:spPr>
          <a:xfrm>
            <a:off x="731520" y="1417320"/>
            <a:ext cx="3291840" cy="3850546"/>
          </a:xfrm>
          <a:prstGeom prst="rect">
            <a:avLst/>
          </a:prstGeom>
        </p:spPr>
      </p:pic>
      <p:sp>
        <p:nvSpPr>
          <p:cNvPr id="8" name="Rounded Rectangle 7"/>
          <p:cNvSpPr/>
          <p:nvPr/>
        </p:nvSpPr>
        <p:spPr>
          <a:xfrm>
            <a:off x="4480560" y="1280160"/>
            <a:ext cx="7178040" cy="288036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1389888"/>
            <a:ext cx="82296" cy="38404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1353312"/>
            <a:ext cx="690372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BiLSTM + Attention (from scratch)</a:t>
            </a:r>
          </a:p>
        </p:txBody>
      </p:sp>
      <p:sp>
        <p:nvSpPr>
          <p:cNvPr id="11" name="TextBox 10"/>
          <p:cNvSpPr txBox="1"/>
          <p:nvPr/>
        </p:nvSpPr>
        <p:spPr>
          <a:xfrm>
            <a:off x="4608576" y="1901952"/>
            <a:ext cx="6922007" cy="2185415"/>
          </a:xfrm>
          <a:prstGeom prst="rect">
            <a:avLst/>
          </a:prstGeom>
          <a:noFill/>
        </p:spPr>
        <p:txBody>
          <a:bodyPr wrap="square" lIns="73152" rIns="73152" tIns="27432" bIns="27432" anchor="t">
            <a:spAutoFit/>
          </a:bodyPr>
          <a:lstStyle/>
          <a:p>
            <a:pPr algn="l" marL="237490" indent="-237490">
              <a:spcAft>
                <a:spcPts val="600"/>
              </a:spcAft>
              <a:buChar char="•"/>
            </a:pPr>
            <a:r>
              <a:rPr sz="1700" b="0">
                <a:solidFill>
                  <a:srgbClr val="1F2937"/>
                </a:solidFill>
                <a:latin typeface="Arial"/>
              </a:rPr>
              <a:t>Vocabulary of </a:t>
            </a:r>
            <a:r>
              <a:rPr sz="1700" b="1">
                <a:solidFill>
                  <a:srgbClr val="1F2937"/>
                </a:solidFill>
                <a:latin typeface="Arial"/>
              </a:rPr>
              <a:t>14,937</a:t>
            </a:r>
            <a:r>
              <a:rPr sz="1700" b="0">
                <a:solidFill>
                  <a:srgbClr val="1F2937"/>
                </a:solidFill>
                <a:latin typeface="Arial"/>
              </a:rPr>
              <a:t> words, 128-d embeddings, </a:t>
            </a:r>
            <a:r>
              <a:rPr sz="1700" b="1">
                <a:solidFill>
                  <a:srgbClr val="1F2937"/>
                </a:solidFill>
                <a:latin typeface="Arial"/>
              </a:rPr>
              <a:t>2 x 128</a:t>
            </a:r>
            <a:r>
              <a:rPr sz="1700" b="0">
                <a:solidFill>
                  <a:srgbClr val="1F2937"/>
                </a:solidFill>
                <a:latin typeface="Arial"/>
              </a:rPr>
              <a:t> bidirectional LSTM</a:t>
            </a:r>
          </a:p>
          <a:p>
            <a:pPr algn="l" marL="237490" indent="-237490">
              <a:spcAft>
                <a:spcPts val="600"/>
              </a:spcAft>
              <a:buChar char="•"/>
            </a:pPr>
            <a:r>
              <a:rPr sz="1700" b="0">
                <a:solidFill>
                  <a:srgbClr val="1F2937"/>
                </a:solidFill>
                <a:latin typeface="Arial"/>
              </a:rPr>
              <a:t>Attention pooling learns which tokens matter most</a:t>
            </a:r>
          </a:p>
          <a:p>
            <a:pPr algn="l" marL="237490" indent="-237490">
              <a:spcAft>
                <a:spcPts val="600"/>
              </a:spcAft>
              <a:buChar char="•"/>
            </a:pPr>
            <a:r>
              <a:rPr sz="1700" b="0">
                <a:solidFill>
                  <a:srgbClr val="1F2937"/>
                </a:solidFill>
                <a:latin typeface="Arial"/>
              </a:rPr>
              <a:t>Class-weighted loss, early stopping on validation </a:t>
            </a:r>
            <a:r>
              <a:rPr sz="1700" b="1">
                <a:solidFill>
                  <a:srgbClr val="1F2937"/>
                </a:solidFill>
                <a:latin typeface="Arial"/>
              </a:rPr>
              <a:t>macro-F1</a:t>
            </a:r>
          </a:p>
          <a:p>
            <a:pPr algn="l" marL="237490" indent="-237490">
              <a:spcAft>
                <a:spcPts val="600"/>
              </a:spcAft>
              <a:buChar char="•"/>
            </a:pPr>
            <a:r>
              <a:rPr sz="1700" b="1">
                <a:solidFill>
                  <a:srgbClr val="1F2937"/>
                </a:solidFill>
                <a:latin typeface="Arial"/>
              </a:rPr>
              <a:t>2.57 M</a:t>
            </a:r>
            <a:r>
              <a:rPr sz="1700" b="0">
                <a:solidFill>
                  <a:srgbClr val="1F2937"/>
                </a:solidFill>
                <a:latin typeface="Arial"/>
              </a:rPr>
              <a:t> parameters, about </a:t>
            </a:r>
            <a:r>
              <a:rPr sz="1700" b="1">
                <a:solidFill>
                  <a:srgbClr val="1F2937"/>
                </a:solidFill>
                <a:latin typeface="Arial"/>
              </a:rPr>
              <a:t>7 minutes</a:t>
            </a:r>
            <a:r>
              <a:rPr sz="1700" b="0">
                <a:solidFill>
                  <a:srgbClr val="1F2937"/>
                </a:solidFill>
                <a:latin typeface="Arial"/>
              </a:rPr>
              <a:t> on a laptop GPU</a:t>
            </a:r>
          </a:p>
        </p:txBody>
      </p:sp>
      <p:sp>
        <p:nvSpPr>
          <p:cNvPr id="12" name="Rounded Rectangle 11"/>
          <p:cNvSpPr/>
          <p:nvPr/>
        </p:nvSpPr>
        <p:spPr>
          <a:xfrm>
            <a:off x="4480560" y="4343400"/>
            <a:ext cx="7178040" cy="178308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445312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4416552"/>
            <a:ext cx="690372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DistilBERT (fine-tuned)</a:t>
            </a:r>
          </a:p>
        </p:txBody>
      </p:sp>
      <p:sp>
        <p:nvSpPr>
          <p:cNvPr id="15" name="TextBox 14"/>
          <p:cNvSpPr txBox="1"/>
          <p:nvPr/>
        </p:nvSpPr>
        <p:spPr>
          <a:xfrm>
            <a:off x="4608576" y="4965192"/>
            <a:ext cx="6922007" cy="1088136"/>
          </a:xfrm>
          <a:prstGeom prst="rect">
            <a:avLst/>
          </a:prstGeom>
          <a:noFill/>
        </p:spPr>
        <p:txBody>
          <a:bodyPr wrap="square" lIns="73152" rIns="73152" tIns="27432" bIns="27432" anchor="t">
            <a:spAutoFit/>
          </a:bodyPr>
          <a:lstStyle/>
          <a:p>
            <a:pPr algn="l" marL="223520" indent="-223520">
              <a:spcAft>
                <a:spcPts val="600"/>
              </a:spcAft>
              <a:buChar char="•"/>
            </a:pPr>
            <a:r>
              <a:rPr sz="1600" b="0">
                <a:solidFill>
                  <a:srgbClr val="1F2937"/>
                </a:solidFill>
                <a:latin typeface="Arial"/>
              </a:rPr>
              <a:t>Pre-trained transformer, fine-tuned on </a:t>
            </a:r>
            <a:r>
              <a:rPr sz="1600" b="1">
                <a:solidFill>
                  <a:srgbClr val="1F2937"/>
                </a:solidFill>
                <a:latin typeface="Arial"/>
              </a:rPr>
              <a:t>6,000</a:t>
            </a:r>
            <a:r>
              <a:rPr sz="1600" b="0">
                <a:solidFill>
                  <a:srgbClr val="1F2937"/>
                </a:solidFill>
                <a:latin typeface="Arial"/>
              </a:rPr>
              <a:t> reviews on a CPU (about 60 min)</a:t>
            </a:r>
          </a:p>
          <a:p>
            <a:pPr algn="l" marL="223520" indent="-223520">
              <a:spcAft>
                <a:spcPts val="600"/>
              </a:spcAft>
              <a:buChar char="•"/>
            </a:pPr>
            <a:r>
              <a:rPr sz="1600" b="0">
                <a:solidFill>
                  <a:srgbClr val="1F2937"/>
                </a:solidFill>
                <a:latin typeface="Arial"/>
              </a:rPr>
              <a:t>Best raw accuracy, but one-sixth of the LSTM's training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Advanced machine learning</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8 / 19</a:t>
            </a:r>
          </a:p>
        </p:txBody>
      </p:sp>
      <p:sp>
        <p:nvSpPr>
          <p:cNvPr id="6" name="Rounded Rectangle 5"/>
          <p:cNvSpPr/>
          <p:nvPr/>
        </p:nvSpPr>
        <p:spPr>
          <a:xfrm>
            <a:off x="548640" y="1280160"/>
            <a:ext cx="361188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9888"/>
            <a:ext cx="82296"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53312"/>
            <a:ext cx="333756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XGBoost helpfulness</a:t>
            </a:r>
          </a:p>
        </p:txBody>
      </p:sp>
      <p:sp>
        <p:nvSpPr>
          <p:cNvPr id="9" name="TextBox 8"/>
          <p:cNvSpPr txBox="1"/>
          <p:nvPr/>
        </p:nvSpPr>
        <p:spPr>
          <a:xfrm>
            <a:off x="676656" y="1901952"/>
            <a:ext cx="3355848" cy="4151376"/>
          </a:xfrm>
          <a:prstGeom prst="rect">
            <a:avLst/>
          </a:prstGeom>
          <a:noFill/>
        </p:spPr>
        <p:txBody>
          <a:bodyPr wrap="square" lIns="73152" rIns="73152" tIns="27432" bIns="27432" anchor="t">
            <a:spAutoFit/>
          </a:bodyPr>
          <a:lstStyle/>
          <a:p>
            <a:pPr algn="l" marL="223520" indent="-223520">
              <a:spcAft>
                <a:spcPts val="600"/>
              </a:spcAft>
              <a:buChar char="•"/>
            </a:pPr>
            <a:r>
              <a:rPr sz="1600" b="0">
                <a:solidFill>
                  <a:srgbClr val="1F2937"/>
                </a:solidFill>
                <a:latin typeface="Arial"/>
              </a:rPr>
              <a:t>Target: at least one helpful vote</a:t>
            </a:r>
          </a:p>
          <a:p>
            <a:pPr algn="l" marL="223520" indent="-223520">
              <a:spcAft>
                <a:spcPts val="600"/>
              </a:spcAft>
              <a:buChar char="•"/>
            </a:pPr>
            <a:r>
              <a:rPr sz="1600" b="0">
                <a:solidFill>
                  <a:srgbClr val="1F2937"/>
                </a:solidFill>
                <a:latin typeface="Arial"/>
              </a:rPr>
              <a:t>10 engineered features, incl. aspects mentioned (from ABSA)</a:t>
            </a:r>
          </a:p>
          <a:p>
            <a:pPr algn="l" marL="223520" indent="-223520">
              <a:spcAft>
                <a:spcPts val="600"/>
              </a:spcAft>
              <a:buChar char="•"/>
            </a:pPr>
            <a:r>
              <a:rPr sz="1600" b="0">
                <a:solidFill>
                  <a:srgbClr val="1F2937"/>
                </a:solidFill>
                <a:latin typeface="Arial"/>
              </a:rPr>
              <a:t>15-candidate randomized search, 3-fold CV</a:t>
            </a:r>
          </a:p>
          <a:p>
            <a:pPr algn="l" marL="223520" indent="-223520">
              <a:spcAft>
                <a:spcPts val="600"/>
              </a:spcAft>
              <a:buChar char="•"/>
            </a:pPr>
            <a:r>
              <a:rPr sz="1600" b="1">
                <a:solidFill>
                  <a:srgbClr val="1F2937"/>
                </a:solidFill>
                <a:latin typeface="Arial"/>
              </a:rPr>
              <a:t>70.5%</a:t>
            </a:r>
            <a:r>
              <a:rPr sz="1600" b="0">
                <a:solidFill>
                  <a:srgbClr val="1F2937"/>
                </a:solidFill>
                <a:latin typeface="Arial"/>
              </a:rPr>
              <a:t> accuracy, helpful-class F1 </a:t>
            </a:r>
            <a:r>
              <a:rPr sz="1600" b="1">
                <a:solidFill>
                  <a:srgbClr val="1F2937"/>
                </a:solidFill>
                <a:latin typeface="Arial"/>
              </a:rPr>
              <a:t>0.555</a:t>
            </a:r>
          </a:p>
          <a:p>
            <a:pPr algn="l" marL="223520" indent="-223520">
              <a:spcAft>
                <a:spcPts val="600"/>
              </a:spcAft>
              <a:buChar char="•"/>
            </a:pPr>
            <a:r>
              <a:rPr sz="1600" b="0">
                <a:solidFill>
                  <a:srgbClr val="1F2937"/>
                </a:solidFill>
                <a:latin typeface="Arial"/>
              </a:rPr>
              <a:t>Length, aspect count and rating matter most</a:t>
            </a:r>
          </a:p>
        </p:txBody>
      </p:sp>
      <p:sp>
        <p:nvSpPr>
          <p:cNvPr id="10" name="Rounded Rectangle 9"/>
          <p:cNvSpPr/>
          <p:nvPr/>
        </p:nvSpPr>
        <p:spPr>
          <a:xfrm>
            <a:off x="4297680" y="1280160"/>
            <a:ext cx="361188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389888"/>
            <a:ext cx="82296"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353312"/>
            <a:ext cx="333756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MiniBatchKMeans</a:t>
            </a:r>
          </a:p>
        </p:txBody>
      </p:sp>
      <p:sp>
        <p:nvSpPr>
          <p:cNvPr id="13" name="TextBox 12"/>
          <p:cNvSpPr txBox="1"/>
          <p:nvPr/>
        </p:nvSpPr>
        <p:spPr>
          <a:xfrm>
            <a:off x="4425696" y="1901952"/>
            <a:ext cx="3355848" cy="4151376"/>
          </a:xfrm>
          <a:prstGeom prst="rect">
            <a:avLst/>
          </a:prstGeom>
          <a:noFill/>
        </p:spPr>
        <p:txBody>
          <a:bodyPr wrap="square" lIns="73152" rIns="73152" tIns="27432" bIns="27432" anchor="t">
            <a:spAutoFit/>
          </a:bodyPr>
          <a:lstStyle/>
          <a:p>
            <a:pPr algn="l" marL="223520" indent="-223520">
              <a:spcAft>
                <a:spcPts val="600"/>
              </a:spcAft>
              <a:buChar char="•"/>
            </a:pPr>
            <a:r>
              <a:rPr sz="1600" b="0">
                <a:solidFill>
                  <a:srgbClr val="1F2937"/>
                </a:solidFill>
                <a:latin typeface="Arial"/>
              </a:rPr>
              <a:t>k = 6 clusters on a separate TF-IDF space</a:t>
            </a:r>
          </a:p>
          <a:p>
            <a:pPr algn="l" marL="223520" indent="-223520">
              <a:spcAft>
                <a:spcPts val="600"/>
              </a:spcAft>
              <a:buChar char="•"/>
            </a:pPr>
            <a:r>
              <a:rPr sz="1600" b="0">
                <a:solidFill>
                  <a:srgbClr val="1F2937"/>
                </a:solidFill>
                <a:latin typeface="Arial"/>
              </a:rPr>
              <a:t>Only </a:t>
            </a:r>
            <a:r>
              <a:rPr sz="1600" b="1">
                <a:solidFill>
                  <a:srgbClr val="1F2937"/>
                </a:solidFill>
                <a:latin typeface="Arial"/>
              </a:rPr>
              <a:t>2</a:t>
            </a:r>
            <a:r>
              <a:rPr sz="1600" b="0">
                <a:solidFill>
                  <a:srgbClr val="1F2937"/>
                </a:solidFill>
                <a:latin typeface="Arial"/>
              </a:rPr>
              <a:t> clusters are clearly topical (bags and cases; sound and headphones)</a:t>
            </a:r>
          </a:p>
          <a:p>
            <a:pPr algn="l" marL="223520" indent="-223520">
              <a:spcAft>
                <a:spcPts val="600"/>
              </a:spcAft>
              <a:buChar char="•"/>
            </a:pPr>
            <a:r>
              <a:rPr sz="1600" b="0">
                <a:solidFill>
                  <a:srgbClr val="1F2937"/>
                </a:solidFill>
                <a:latin typeface="Arial"/>
              </a:rPr>
              <a:t>The other 4 are generic praise ("works great", "five stars")</a:t>
            </a:r>
          </a:p>
          <a:p>
            <a:pPr algn="l" marL="223520" indent="-223520">
              <a:spcAft>
                <a:spcPts val="600"/>
              </a:spcAft>
              <a:buChar char="•"/>
            </a:pPr>
            <a:r>
              <a:rPr sz="1600" b="0">
                <a:solidFill>
                  <a:srgbClr val="1F2937"/>
                </a:solidFill>
                <a:latin typeface="Arial"/>
              </a:rPr>
              <a:t>A negative finding: LDA is the better topic tool on short, rating-skewed text</a:t>
            </a:r>
          </a:p>
        </p:txBody>
      </p:sp>
      <p:sp>
        <p:nvSpPr>
          <p:cNvPr id="14" name="Rounded Rectangle 13"/>
          <p:cNvSpPr/>
          <p:nvPr/>
        </p:nvSpPr>
        <p:spPr>
          <a:xfrm>
            <a:off x="8046720" y="1280160"/>
            <a:ext cx="361188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89888"/>
            <a:ext cx="82296"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353312"/>
            <a:ext cx="333756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Isolation Forest</a:t>
            </a:r>
          </a:p>
        </p:txBody>
      </p:sp>
      <p:sp>
        <p:nvSpPr>
          <p:cNvPr id="17" name="TextBox 16"/>
          <p:cNvSpPr txBox="1"/>
          <p:nvPr/>
        </p:nvSpPr>
        <p:spPr>
          <a:xfrm>
            <a:off x="8174736" y="1901952"/>
            <a:ext cx="3355848" cy="4151376"/>
          </a:xfrm>
          <a:prstGeom prst="rect">
            <a:avLst/>
          </a:prstGeom>
          <a:noFill/>
        </p:spPr>
        <p:txBody>
          <a:bodyPr wrap="square" lIns="73152" rIns="73152" tIns="27432" bIns="27432" anchor="t">
            <a:spAutoFit/>
          </a:bodyPr>
          <a:lstStyle/>
          <a:p>
            <a:pPr algn="l" marL="223520" indent="-223520">
              <a:spcAft>
                <a:spcPts val="600"/>
              </a:spcAft>
              <a:buChar char="•"/>
            </a:pPr>
            <a:r>
              <a:rPr sz="1600" b="0">
                <a:solidFill>
                  <a:srgbClr val="1F2937"/>
                </a:solidFill>
                <a:latin typeface="Arial"/>
              </a:rPr>
              <a:t>Unsupervised: </a:t>
            </a:r>
            <a:r>
              <a:rPr sz="1600" b="1">
                <a:solidFill>
                  <a:srgbClr val="1F2937"/>
                </a:solidFill>
                <a:latin typeface="Arial"/>
              </a:rPr>
              <a:t>no fake-review accuracy</a:t>
            </a:r>
            <a:r>
              <a:rPr sz="1600" b="0">
                <a:solidFill>
                  <a:srgbClr val="1F2937"/>
                </a:solidFill>
                <a:latin typeface="Arial"/>
              </a:rPr>
              <a:t> is claimed</a:t>
            </a:r>
          </a:p>
          <a:p>
            <a:pPr algn="l" marL="223520" indent="-223520">
              <a:spcAft>
                <a:spcPts val="600"/>
              </a:spcAft>
              <a:buChar char="•"/>
            </a:pPr>
            <a:r>
              <a:rPr sz="1600" b="0">
                <a:solidFill>
                  <a:srgbClr val="1F2937"/>
                </a:solidFill>
                <a:latin typeface="Arial"/>
              </a:rPr>
              <a:t>Features: very short text, caps, exclamations, verified, account volume, near-duplicate similarity</a:t>
            </a:r>
          </a:p>
          <a:p>
            <a:pPr algn="l" marL="223520" indent="-223520">
              <a:spcAft>
                <a:spcPts val="600"/>
              </a:spcAft>
              <a:buChar char="•"/>
            </a:pPr>
            <a:r>
              <a:rPr sz="1600" b="0">
                <a:solidFill>
                  <a:srgbClr val="1F2937"/>
                </a:solidFill>
                <a:latin typeface="Arial"/>
              </a:rPr>
              <a:t>Flags </a:t>
            </a:r>
            <a:r>
              <a:rPr sz="1600" b="1">
                <a:solidFill>
                  <a:srgbClr val="1F2937"/>
                </a:solidFill>
                <a:latin typeface="Arial"/>
              </a:rPr>
              <a:t>4,999</a:t>
            </a:r>
            <a:r>
              <a:rPr sz="1600" b="0">
                <a:solidFill>
                  <a:srgbClr val="1F2937"/>
                </a:solidFill>
                <a:latin typeface="Arial"/>
              </a:rPr>
              <a:t> reviews (10%), 36 near-duplicates</a:t>
            </a:r>
          </a:p>
          <a:p>
            <a:pPr algn="l" marL="223520" indent="-223520">
              <a:spcAft>
                <a:spcPts val="600"/>
              </a:spcAft>
              <a:buChar char="•"/>
            </a:pPr>
            <a:r>
              <a:rPr sz="1600" b="0">
                <a:solidFill>
                  <a:srgbClr val="1F2937"/>
                </a:solidFill>
                <a:latin typeface="Arial"/>
              </a:rPr>
              <a:t>Early version flagged long, negative reviews. Fixed with directional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Semantic search and grounded Q and A</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9 / 19</a:t>
            </a:r>
          </a:p>
        </p:txBody>
      </p:sp>
      <p:sp>
        <p:nvSpPr>
          <p:cNvPr id="6" name="Rounded Rectangle 5"/>
          <p:cNvSpPr/>
          <p:nvPr/>
        </p:nvSpPr>
        <p:spPr>
          <a:xfrm>
            <a:off x="548640" y="1417320"/>
            <a:ext cx="2514600" cy="1737360"/>
          </a:xfrm>
          <a:prstGeom prst="roundRect">
            <a:avLst>
              <a:gd name="adj" fmla="val 5000"/>
            </a:avLst>
          </a:prstGeom>
          <a:solidFill>
            <a:srgbClr val="EFF6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2331720" cy="594360"/>
          </a:xfrm>
          <a:prstGeom prst="rect">
            <a:avLst/>
          </a:prstGeom>
          <a:noFill/>
        </p:spPr>
        <p:txBody>
          <a:bodyPr wrap="square" lIns="73152" rIns="73152" tIns="27432" bIns="27432" anchor="ctr">
            <a:spAutoFit/>
          </a:bodyPr>
          <a:lstStyle/>
          <a:p>
            <a:pPr algn="ctr">
              <a:spcAft>
                <a:spcPts val="0"/>
              </a:spcAft>
            </a:pPr>
            <a:r>
              <a:rPr sz="1700" b="1">
                <a:solidFill>
                  <a:srgbClr val="2563EB"/>
                </a:solidFill>
                <a:latin typeface="Arial"/>
              </a:rPr>
              <a:t>Question</a:t>
            </a:r>
          </a:p>
        </p:txBody>
      </p:sp>
      <p:sp>
        <p:nvSpPr>
          <p:cNvPr id="8" name="TextBox 7"/>
          <p:cNvSpPr txBox="1"/>
          <p:nvPr/>
        </p:nvSpPr>
        <p:spPr>
          <a:xfrm>
            <a:off x="658368" y="2103120"/>
            <a:ext cx="2286000" cy="1005840"/>
          </a:xfrm>
          <a:prstGeom prst="rect">
            <a:avLst/>
          </a:prstGeom>
          <a:noFill/>
        </p:spPr>
        <p:txBody>
          <a:bodyPr wrap="square" lIns="73152" rIns="73152" tIns="27432" bIns="27432" anchor="t">
            <a:spAutoFit/>
          </a:bodyPr>
          <a:lstStyle/>
          <a:p>
            <a:pPr algn="ctr">
              <a:spcAft>
                <a:spcPts val="0"/>
              </a:spcAft>
            </a:pPr>
            <a:r>
              <a:rPr sz="1400" b="0">
                <a:solidFill>
                  <a:srgbClr val="5B6475"/>
                </a:solidFill>
                <a:latin typeface="Arial"/>
              </a:rPr>
              <a:t>e.g. "Is it good for cutting cable TV?"</a:t>
            </a:r>
          </a:p>
        </p:txBody>
      </p:sp>
      <p:sp>
        <p:nvSpPr>
          <p:cNvPr id="9" name="Right Arrow 8"/>
          <p:cNvSpPr/>
          <p:nvPr/>
        </p:nvSpPr>
        <p:spPr>
          <a:xfrm>
            <a:off x="3090672" y="2057400"/>
            <a:ext cx="329184" cy="365760"/>
          </a:xfrm>
          <a:prstGeom prst="rightArrow">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74720" y="1417320"/>
            <a:ext cx="2514600" cy="1737360"/>
          </a:xfrm>
          <a:prstGeom prst="roundRect">
            <a:avLst>
              <a:gd name="adj" fmla="val 5000"/>
            </a:avLst>
          </a:prstGeom>
          <a:solidFill>
            <a:srgbClr val="EFF6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463040"/>
            <a:ext cx="2331720" cy="594360"/>
          </a:xfrm>
          <a:prstGeom prst="rect">
            <a:avLst/>
          </a:prstGeom>
          <a:noFill/>
        </p:spPr>
        <p:txBody>
          <a:bodyPr wrap="square" lIns="73152" rIns="73152" tIns="27432" bIns="27432" anchor="ctr">
            <a:spAutoFit/>
          </a:bodyPr>
          <a:lstStyle/>
          <a:p>
            <a:pPr algn="ctr">
              <a:spcAft>
                <a:spcPts val="0"/>
              </a:spcAft>
            </a:pPr>
            <a:r>
              <a:rPr sz="1700" b="1">
                <a:solidFill>
                  <a:srgbClr val="2563EB"/>
                </a:solidFill>
                <a:latin typeface="Arial"/>
              </a:rPr>
              <a:t>Embed + retrieve</a:t>
            </a:r>
          </a:p>
        </p:txBody>
      </p:sp>
      <p:sp>
        <p:nvSpPr>
          <p:cNvPr id="12" name="TextBox 11"/>
          <p:cNvSpPr txBox="1"/>
          <p:nvPr/>
        </p:nvSpPr>
        <p:spPr>
          <a:xfrm>
            <a:off x="3584448" y="2103120"/>
            <a:ext cx="2286000" cy="1005840"/>
          </a:xfrm>
          <a:prstGeom prst="rect">
            <a:avLst/>
          </a:prstGeom>
          <a:noFill/>
        </p:spPr>
        <p:txBody>
          <a:bodyPr wrap="square" lIns="73152" rIns="73152" tIns="27432" bIns="27432" anchor="t">
            <a:spAutoFit/>
          </a:bodyPr>
          <a:lstStyle/>
          <a:p>
            <a:pPr algn="ctr">
              <a:spcAft>
                <a:spcPts val="0"/>
              </a:spcAft>
            </a:pPr>
            <a:r>
              <a:rPr sz="1400" b="0">
                <a:solidFill>
                  <a:srgbClr val="5B6475"/>
                </a:solidFill>
                <a:latin typeface="Arial"/>
              </a:rPr>
              <a:t>MiniLM, top 5 reviews of this product</a:t>
            </a:r>
          </a:p>
        </p:txBody>
      </p:sp>
      <p:sp>
        <p:nvSpPr>
          <p:cNvPr id="13" name="Right Arrow 12"/>
          <p:cNvSpPr/>
          <p:nvPr/>
        </p:nvSpPr>
        <p:spPr>
          <a:xfrm>
            <a:off x="6016752" y="2057400"/>
            <a:ext cx="329184" cy="365760"/>
          </a:xfrm>
          <a:prstGeom prst="rightArrow">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1417320"/>
            <a:ext cx="2514600" cy="1737360"/>
          </a:xfrm>
          <a:prstGeom prst="roundRect">
            <a:avLst>
              <a:gd name="adj" fmla="val 5000"/>
            </a:avLst>
          </a:prstGeom>
          <a:solidFill>
            <a:srgbClr val="FFF4EC"/>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463040"/>
            <a:ext cx="2331720" cy="594360"/>
          </a:xfrm>
          <a:prstGeom prst="rect">
            <a:avLst/>
          </a:prstGeom>
          <a:noFill/>
        </p:spPr>
        <p:txBody>
          <a:bodyPr wrap="square" lIns="73152" rIns="73152" tIns="27432" bIns="27432" anchor="ctr">
            <a:spAutoFit/>
          </a:bodyPr>
          <a:lstStyle/>
          <a:p>
            <a:pPr algn="ctr">
              <a:spcAft>
                <a:spcPts val="0"/>
              </a:spcAft>
            </a:pPr>
            <a:r>
              <a:rPr sz="1700" b="1">
                <a:solidFill>
                  <a:srgbClr val="E8622C"/>
                </a:solidFill>
                <a:latin typeface="Arial"/>
              </a:rPr>
              <a:t>Similarity floor</a:t>
            </a:r>
          </a:p>
        </p:txBody>
      </p:sp>
      <p:sp>
        <p:nvSpPr>
          <p:cNvPr id="16" name="TextBox 15"/>
          <p:cNvSpPr txBox="1"/>
          <p:nvPr/>
        </p:nvSpPr>
        <p:spPr>
          <a:xfrm>
            <a:off x="6510528" y="2103120"/>
            <a:ext cx="2286000" cy="1005840"/>
          </a:xfrm>
          <a:prstGeom prst="rect">
            <a:avLst/>
          </a:prstGeom>
          <a:noFill/>
        </p:spPr>
        <p:txBody>
          <a:bodyPr wrap="square" lIns="73152" rIns="73152" tIns="27432" bIns="27432" anchor="t">
            <a:spAutoFit/>
          </a:bodyPr>
          <a:lstStyle/>
          <a:p>
            <a:pPr algn="ctr">
              <a:spcAft>
                <a:spcPts val="0"/>
              </a:spcAft>
            </a:pPr>
            <a:r>
              <a:rPr sz="1400" b="0">
                <a:solidFill>
                  <a:srgbClr val="5B6475"/>
                </a:solidFill>
                <a:latin typeface="Arial"/>
              </a:rPr>
              <a:t>best similarity at least 0.30?</a:t>
            </a:r>
          </a:p>
        </p:txBody>
      </p:sp>
      <p:sp>
        <p:nvSpPr>
          <p:cNvPr id="17" name="Right Arrow 16"/>
          <p:cNvSpPr/>
          <p:nvPr/>
        </p:nvSpPr>
        <p:spPr>
          <a:xfrm>
            <a:off x="8942832" y="2057400"/>
            <a:ext cx="329184" cy="365760"/>
          </a:xfrm>
          <a:prstGeom prst="rightArrow">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26880" y="1417320"/>
            <a:ext cx="2514600" cy="1737360"/>
          </a:xfrm>
          <a:prstGeom prst="roundRect">
            <a:avLst>
              <a:gd name="adj" fmla="val 5000"/>
            </a:avLst>
          </a:prstGeom>
          <a:solidFill>
            <a:srgbClr val="F0FDFA"/>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1463040"/>
            <a:ext cx="2331720" cy="594360"/>
          </a:xfrm>
          <a:prstGeom prst="rect">
            <a:avLst/>
          </a:prstGeom>
          <a:noFill/>
        </p:spPr>
        <p:txBody>
          <a:bodyPr wrap="square" lIns="73152" rIns="73152" tIns="27432" bIns="27432" anchor="ctr">
            <a:spAutoFit/>
          </a:bodyPr>
          <a:lstStyle/>
          <a:p>
            <a:pPr algn="ctr">
              <a:spcAft>
                <a:spcPts val="0"/>
              </a:spcAft>
            </a:pPr>
            <a:r>
              <a:rPr sz="1700" b="1">
                <a:solidFill>
                  <a:srgbClr val="0F766E"/>
                </a:solidFill>
                <a:latin typeface="Arial"/>
              </a:rPr>
              <a:t>Answer + evidence</a:t>
            </a:r>
          </a:p>
        </p:txBody>
      </p:sp>
      <p:sp>
        <p:nvSpPr>
          <p:cNvPr id="20" name="TextBox 19"/>
          <p:cNvSpPr txBox="1"/>
          <p:nvPr/>
        </p:nvSpPr>
        <p:spPr>
          <a:xfrm>
            <a:off x="9436608" y="2103120"/>
            <a:ext cx="2286000" cy="1005840"/>
          </a:xfrm>
          <a:prstGeom prst="rect">
            <a:avLst/>
          </a:prstGeom>
          <a:noFill/>
        </p:spPr>
        <p:txBody>
          <a:bodyPr wrap="square" lIns="73152" rIns="73152" tIns="27432" bIns="27432" anchor="t">
            <a:spAutoFit/>
          </a:bodyPr>
          <a:lstStyle/>
          <a:p>
            <a:pPr algn="ctr">
              <a:spcAft>
                <a:spcPts val="0"/>
              </a:spcAft>
            </a:pPr>
            <a:r>
              <a:rPr sz="1400" b="0">
                <a:solidFill>
                  <a:srgbClr val="5B6475"/>
                </a:solidFill>
                <a:latin typeface="Arial"/>
              </a:rPr>
              <a:t>FLAN-T5 answer, retrieved reviews shown</a:t>
            </a:r>
          </a:p>
        </p:txBody>
      </p:sp>
      <p:sp>
        <p:nvSpPr>
          <p:cNvPr id="21" name="Rounded Rectangle 20"/>
          <p:cNvSpPr/>
          <p:nvPr/>
        </p:nvSpPr>
        <p:spPr>
          <a:xfrm>
            <a:off x="548640" y="3429000"/>
            <a:ext cx="5486400" cy="269748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538728"/>
            <a:ext cx="82296" cy="38404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502152"/>
            <a:ext cx="521208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Why a similarity floor?</a:t>
            </a:r>
          </a:p>
        </p:txBody>
      </p:sp>
      <p:sp>
        <p:nvSpPr>
          <p:cNvPr id="24" name="TextBox 23"/>
          <p:cNvSpPr txBox="1"/>
          <p:nvPr/>
        </p:nvSpPr>
        <p:spPr>
          <a:xfrm>
            <a:off x="676656" y="4050791"/>
            <a:ext cx="5230368" cy="2002536"/>
          </a:xfrm>
          <a:prstGeom prst="rect">
            <a:avLst/>
          </a:prstGeom>
          <a:noFill/>
        </p:spPr>
        <p:txBody>
          <a:bodyPr wrap="square" lIns="73152" rIns="73152" tIns="27432" bIns="27432" anchor="t">
            <a:spAutoFit/>
          </a:bodyPr>
          <a:lstStyle/>
          <a:p>
            <a:pPr algn="l" marL="237490" indent="-237490">
              <a:spcAft>
                <a:spcPts val="600"/>
              </a:spcAft>
              <a:buChar char="•"/>
            </a:pPr>
            <a:r>
              <a:rPr sz="1700" b="0">
                <a:solidFill>
                  <a:srgbClr val="1F2937"/>
                </a:solidFill>
                <a:latin typeface="Arial"/>
              </a:rPr>
              <a:t>Small generators do not reliably follow "say you do not know"</a:t>
            </a:r>
          </a:p>
          <a:p>
            <a:pPr algn="l" marL="237490" indent="-237490">
              <a:spcAft>
                <a:spcPts val="600"/>
              </a:spcAft>
              <a:buChar char="•"/>
            </a:pPr>
            <a:r>
              <a:rPr sz="1700" b="0">
                <a:solidFill>
                  <a:srgbClr val="1F2937"/>
                </a:solidFill>
                <a:latin typeface="Arial"/>
              </a:rPr>
              <a:t>Before the floor, a warranty question got a confident "No" at similarity 0.25</a:t>
            </a:r>
          </a:p>
          <a:p>
            <a:pPr algn="l" marL="237490" indent="-237490">
              <a:spcAft>
                <a:spcPts val="600"/>
              </a:spcAft>
              <a:buChar char="•"/>
            </a:pPr>
            <a:r>
              <a:rPr sz="1700" b="0">
                <a:solidFill>
                  <a:srgbClr val="1F2937"/>
                </a:solidFill>
                <a:latin typeface="Arial"/>
              </a:rPr>
              <a:t>Weak evidence now returns: </a:t>
            </a:r>
            <a:r>
              <a:rPr sz="1700" b="1">
                <a:solidFill>
                  <a:srgbClr val="1F2937"/>
                </a:solidFill>
                <a:latin typeface="Arial"/>
              </a:rPr>
              <a:t>not enough information</a:t>
            </a:r>
          </a:p>
        </p:txBody>
      </p:sp>
      <p:sp>
        <p:nvSpPr>
          <p:cNvPr id="25" name="Rounded Rectangle 24"/>
          <p:cNvSpPr/>
          <p:nvPr/>
        </p:nvSpPr>
        <p:spPr>
          <a:xfrm>
            <a:off x="6263640" y="3429000"/>
            <a:ext cx="5394960" cy="269748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538728"/>
            <a:ext cx="82296"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7" y="3502152"/>
            <a:ext cx="512064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Measured effect</a:t>
            </a:r>
          </a:p>
        </p:txBody>
      </p:sp>
      <p:sp>
        <p:nvSpPr>
          <p:cNvPr id="28" name="TextBox 27"/>
          <p:cNvSpPr txBox="1"/>
          <p:nvPr/>
        </p:nvSpPr>
        <p:spPr>
          <a:xfrm>
            <a:off x="6391655" y="4050791"/>
            <a:ext cx="5138928" cy="2002536"/>
          </a:xfrm>
          <a:prstGeom prst="rect">
            <a:avLst/>
          </a:prstGeom>
          <a:noFill/>
        </p:spPr>
        <p:txBody>
          <a:bodyPr wrap="square" lIns="73152" rIns="73152" tIns="27432" bIns="27432" anchor="t">
            <a:spAutoFit/>
          </a:bodyPr>
          <a:lstStyle/>
          <a:p>
            <a:pPr algn="l" marL="237490" indent="-237490">
              <a:spcAft>
                <a:spcPts val="600"/>
              </a:spcAft>
              <a:buChar char="•"/>
            </a:pPr>
            <a:r>
              <a:rPr sz="1700" b="1">
                <a:solidFill>
                  <a:srgbClr val="1F2937"/>
                </a:solidFill>
                <a:latin typeface="Arial"/>
              </a:rPr>
              <a:t>97.8%</a:t>
            </a:r>
            <a:r>
              <a:rPr sz="1700" b="0">
                <a:solidFill>
                  <a:srgbClr val="1F2937"/>
                </a:solidFill>
                <a:latin typeface="Arial"/>
              </a:rPr>
              <a:t> of answerable questions accepted</a:t>
            </a:r>
          </a:p>
          <a:p>
            <a:pPr algn="l" marL="237490" indent="-237490">
              <a:spcAft>
                <a:spcPts val="600"/>
              </a:spcAft>
              <a:buChar char="•"/>
            </a:pPr>
            <a:r>
              <a:rPr sz="1700" b="1">
                <a:solidFill>
                  <a:srgbClr val="1F2937"/>
                </a:solidFill>
                <a:latin typeface="Arial"/>
              </a:rPr>
              <a:t>95.6%</a:t>
            </a:r>
            <a:r>
              <a:rPr sz="1700" b="0">
                <a:solidFill>
                  <a:srgbClr val="1F2937"/>
                </a:solidFill>
                <a:latin typeface="Arial"/>
              </a:rPr>
              <a:t> of plausible but unanswerable questions declined</a:t>
            </a:r>
          </a:p>
          <a:p>
            <a:pPr algn="l" marL="237490" indent="-237490">
              <a:spcAft>
                <a:spcPts val="600"/>
              </a:spcAft>
              <a:buChar char="•"/>
            </a:pPr>
            <a:r>
              <a:rPr sz="1700" b="1">
                <a:solidFill>
                  <a:srgbClr val="1F2937"/>
                </a:solidFill>
                <a:latin typeface="Arial"/>
              </a:rPr>
              <a:t>100%</a:t>
            </a:r>
            <a:r>
              <a:rPr sz="1700" b="0">
                <a:solidFill>
                  <a:srgbClr val="1F2937"/>
                </a:solidFill>
                <a:latin typeface="Arial"/>
              </a:rPr>
              <a:t> of off-topic questions declined</a:t>
            </a:r>
          </a:p>
          <a:p>
            <a:pPr algn="l" marL="237490" indent="-237490">
              <a:spcAft>
                <a:spcPts val="600"/>
              </a:spcAft>
              <a:buChar char="•"/>
            </a:pPr>
            <a:r>
              <a:rPr sz="1700" b="0">
                <a:solidFill>
                  <a:srgbClr val="1F2937"/>
                </a:solidFill>
                <a:latin typeface="Arial"/>
              </a:rPr>
              <a:t>Retrieval beats TF-IDF on paraphrased queries: </a:t>
            </a:r>
            <a:r>
              <a:rPr sz="1700" b="1">
                <a:solidFill>
                  <a:srgbClr val="1F2937"/>
                </a:solidFill>
                <a:latin typeface="Arial"/>
              </a:rPr>
              <a:t>0.54</a:t>
            </a:r>
            <a:r>
              <a:rPr sz="1700" b="0">
                <a:solidFill>
                  <a:srgbClr val="1F2937"/>
                </a:solidFill>
                <a:latin typeface="Arial"/>
              </a:rPr>
              <a:t> vs 0.32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Results: sentiment classification</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10 / 19</a:t>
            </a:r>
          </a:p>
        </p:txBody>
      </p:sp>
      <p:graphicFrame>
        <p:nvGraphicFramePr>
          <p:cNvPr id="6" name="Table 5"/>
          <p:cNvGraphicFramePr>
            <a:graphicFrameLocks noGrp="1"/>
          </p:cNvGraphicFramePr>
          <p:nvPr/>
        </p:nvGraphicFramePr>
        <p:xfrm>
          <a:off x="548640" y="1280160"/>
          <a:ext cx="6035040" cy="2743200"/>
        </p:xfrm>
        <a:graphic>
          <a:graphicData uri="http://schemas.openxmlformats.org/drawingml/2006/table">
            <a:tbl>
              <a:tblPr firstRow="1" bandRow="1">
                <a:tableStyleId>{5C22544A-7EE6-4342-B048-85BDC9FD1C3A}</a:tableStyleId>
              </a:tblPr>
              <a:tblGrid>
                <a:gridCol w="2240280"/>
                <a:gridCol w="1188720"/>
                <a:gridCol w="1280160"/>
                <a:gridCol w="1325880"/>
              </a:tblGrid>
              <a:tr h="457200">
                <a:tc>
                  <a:txBody>
                    <a:bodyPr/>
                    <a:lstStyle/>
                    <a:p>
                      <a:pPr algn="l"/>
                      <a:r>
                        <a:rPr sz="1600" b="1">
                          <a:solidFill>
                            <a:srgbClr val="FFFFFF"/>
                          </a:solidFill>
                          <a:latin typeface="Arial"/>
                        </a:rPr>
                        <a:t>Model</a:t>
                      </a:r>
                    </a:p>
                  </a:txBody>
                  <a:tcPr marL="91440" marR="91440" anchor="ctr">
                    <a:solidFill>
                      <a:srgbClr val="131A2B"/>
                    </a:solidFill>
                  </a:tcPr>
                </a:tc>
                <a:tc>
                  <a:txBody>
                    <a:bodyPr/>
                    <a:lstStyle/>
                    <a:p>
                      <a:pPr algn="r"/>
                      <a:r>
                        <a:rPr sz="1600" b="1">
                          <a:solidFill>
                            <a:srgbClr val="FFFFFF"/>
                          </a:solidFill>
                          <a:latin typeface="Arial"/>
                        </a:rPr>
                        <a:t>Accuracy</a:t>
                      </a:r>
                    </a:p>
                  </a:txBody>
                  <a:tcPr marL="91440" marR="91440" anchor="ctr">
                    <a:solidFill>
                      <a:srgbClr val="131A2B"/>
                    </a:solidFill>
                  </a:tcPr>
                </a:tc>
                <a:tc>
                  <a:txBody>
                    <a:bodyPr/>
                    <a:lstStyle/>
                    <a:p>
                      <a:pPr algn="r"/>
                      <a:r>
                        <a:rPr sz="1600" b="1">
                          <a:solidFill>
                            <a:srgbClr val="FFFFFF"/>
                          </a:solidFill>
                          <a:latin typeface="Arial"/>
                        </a:rPr>
                        <a:t>Macro-F1</a:t>
                      </a:r>
                    </a:p>
                  </a:txBody>
                  <a:tcPr marL="91440" marR="91440" anchor="ctr">
                    <a:solidFill>
                      <a:srgbClr val="131A2B"/>
                    </a:solidFill>
                  </a:tcPr>
                </a:tc>
                <a:tc>
                  <a:txBody>
                    <a:bodyPr/>
                    <a:lstStyle/>
                    <a:p>
                      <a:pPr algn="r"/>
                      <a:r>
                        <a:rPr sz="1600" b="1">
                          <a:solidFill>
                            <a:srgbClr val="FFFFFF"/>
                          </a:solidFill>
                          <a:latin typeface="Arial"/>
                        </a:rPr>
                        <a:t>F1 neutral</a:t>
                      </a:r>
                    </a:p>
                  </a:txBody>
                  <a:tcPr marL="91440" marR="91440" anchor="ctr">
                    <a:solidFill>
                      <a:srgbClr val="131A2B"/>
                    </a:solidFill>
                  </a:tcPr>
                </a:tc>
              </a:tr>
              <a:tr h="457200">
                <a:tc>
                  <a:txBody>
                    <a:bodyPr/>
                    <a:lstStyle/>
                    <a:p>
                      <a:pPr algn="l"/>
                      <a:r>
                        <a:rPr sz="1600" b="0">
                          <a:solidFill>
                            <a:srgbClr val="1F2937"/>
                          </a:solidFill>
                          <a:latin typeface="Arial"/>
                        </a:rPr>
                        <a:t>VADER</a:t>
                      </a:r>
                    </a:p>
                  </a:txBody>
                  <a:tcPr marL="91440" marR="91440" anchor="ctr">
                    <a:solidFill>
                      <a:srgbClr val="FFFFFF"/>
                    </a:solidFill>
                  </a:tcPr>
                </a:tc>
                <a:tc>
                  <a:txBody>
                    <a:bodyPr/>
                    <a:lstStyle/>
                    <a:p>
                      <a:pPr algn="r"/>
                      <a:r>
                        <a:rPr sz="1600" b="0">
                          <a:solidFill>
                            <a:srgbClr val="1F2937"/>
                          </a:solidFill>
                          <a:latin typeface="Arial"/>
                        </a:rPr>
                        <a:t>.813</a:t>
                      </a:r>
                    </a:p>
                  </a:txBody>
                  <a:tcPr marL="91440" marR="91440" anchor="ctr">
                    <a:solidFill>
                      <a:srgbClr val="FFFFFF"/>
                    </a:solidFill>
                  </a:tcPr>
                </a:tc>
                <a:tc>
                  <a:txBody>
                    <a:bodyPr/>
                    <a:lstStyle/>
                    <a:p>
                      <a:pPr algn="r"/>
                      <a:r>
                        <a:rPr sz="1600" b="0">
                          <a:solidFill>
                            <a:srgbClr val="1F2937"/>
                          </a:solidFill>
                          <a:latin typeface="Arial"/>
                        </a:rPr>
                        <a:t>.512</a:t>
                      </a:r>
                    </a:p>
                  </a:txBody>
                  <a:tcPr marL="91440" marR="91440" anchor="ctr">
                    <a:solidFill>
                      <a:srgbClr val="FFFFFF"/>
                    </a:solidFill>
                  </a:tcPr>
                </a:tc>
                <a:tc>
                  <a:txBody>
                    <a:bodyPr/>
                    <a:lstStyle/>
                    <a:p>
                      <a:pPr algn="r"/>
                      <a:r>
                        <a:rPr sz="1600" b="0">
                          <a:solidFill>
                            <a:srgbClr val="1F2937"/>
                          </a:solidFill>
                          <a:latin typeface="Arial"/>
                        </a:rPr>
                        <a:t>.080</a:t>
                      </a:r>
                    </a:p>
                  </a:txBody>
                  <a:tcPr marL="91440" marR="91440" anchor="ctr">
                    <a:solidFill>
                      <a:srgbClr val="FFFFFF"/>
                    </a:solidFill>
                  </a:tcPr>
                </a:tc>
              </a:tr>
              <a:tr h="457200">
                <a:tc>
                  <a:txBody>
                    <a:bodyPr/>
                    <a:lstStyle/>
                    <a:p>
                      <a:pPr algn="l"/>
                      <a:r>
                        <a:rPr sz="1600" b="0">
                          <a:solidFill>
                            <a:srgbClr val="1F2937"/>
                          </a:solidFill>
                          <a:latin typeface="Arial"/>
                        </a:rPr>
                        <a:t>TF-IDF + LR</a:t>
                      </a:r>
                    </a:p>
                  </a:txBody>
                  <a:tcPr marL="91440" marR="91440" anchor="ctr">
                    <a:solidFill>
                      <a:srgbClr val="FFFFFF"/>
                    </a:solidFill>
                  </a:tcPr>
                </a:tc>
                <a:tc>
                  <a:txBody>
                    <a:bodyPr/>
                    <a:lstStyle/>
                    <a:p>
                      <a:pPr algn="r"/>
                      <a:r>
                        <a:rPr sz="1600" b="0">
                          <a:solidFill>
                            <a:srgbClr val="1F2937"/>
                          </a:solidFill>
                          <a:latin typeface="Arial"/>
                        </a:rPr>
                        <a:t>.860</a:t>
                      </a:r>
                    </a:p>
                  </a:txBody>
                  <a:tcPr marL="91440" marR="91440" anchor="ctr">
                    <a:solidFill>
                      <a:srgbClr val="FFFFFF"/>
                    </a:solidFill>
                  </a:tcPr>
                </a:tc>
                <a:tc>
                  <a:txBody>
                    <a:bodyPr/>
                    <a:lstStyle/>
                    <a:p>
                      <a:pPr algn="r"/>
                      <a:r>
                        <a:rPr sz="1600" b="0">
                          <a:solidFill>
                            <a:srgbClr val="1F2937"/>
                          </a:solidFill>
                          <a:latin typeface="Arial"/>
                        </a:rPr>
                        <a:t>.689</a:t>
                      </a:r>
                    </a:p>
                  </a:txBody>
                  <a:tcPr marL="91440" marR="91440" anchor="ctr">
                    <a:solidFill>
                      <a:srgbClr val="FFFFFF"/>
                    </a:solidFill>
                  </a:tcPr>
                </a:tc>
                <a:tc>
                  <a:txBody>
                    <a:bodyPr/>
                    <a:lstStyle/>
                    <a:p>
                      <a:pPr algn="r"/>
                      <a:r>
                        <a:rPr sz="1600" b="0">
                          <a:solidFill>
                            <a:srgbClr val="1F2937"/>
                          </a:solidFill>
                          <a:latin typeface="Arial"/>
                        </a:rPr>
                        <a:t>.400</a:t>
                      </a:r>
                    </a:p>
                  </a:txBody>
                  <a:tcPr marL="91440" marR="91440" anchor="ctr">
                    <a:solidFill>
                      <a:srgbClr val="FFFFFF"/>
                    </a:solidFill>
                  </a:tcPr>
                </a:tc>
              </a:tr>
              <a:tr h="457200">
                <a:tc>
                  <a:txBody>
                    <a:bodyPr/>
                    <a:lstStyle/>
                    <a:p>
                      <a:pPr algn="l"/>
                      <a:r>
                        <a:rPr sz="1600" b="0">
                          <a:solidFill>
                            <a:srgbClr val="1F2937"/>
                          </a:solidFill>
                          <a:latin typeface="Arial"/>
                        </a:rPr>
                        <a:t>TF-IDF + SVM</a:t>
                      </a:r>
                    </a:p>
                  </a:txBody>
                  <a:tcPr marL="91440" marR="91440" anchor="ctr">
                    <a:solidFill>
                      <a:srgbClr val="FFFFFF"/>
                    </a:solidFill>
                  </a:tcPr>
                </a:tc>
                <a:tc>
                  <a:txBody>
                    <a:bodyPr/>
                    <a:lstStyle/>
                    <a:p>
                      <a:pPr algn="r"/>
                      <a:r>
                        <a:rPr sz="1600" b="0">
                          <a:solidFill>
                            <a:srgbClr val="1F2937"/>
                          </a:solidFill>
                          <a:latin typeface="Arial"/>
                        </a:rPr>
                        <a:t>.888</a:t>
                      </a:r>
                    </a:p>
                  </a:txBody>
                  <a:tcPr marL="91440" marR="91440" anchor="ctr">
                    <a:solidFill>
                      <a:srgbClr val="FFFFFF"/>
                    </a:solidFill>
                  </a:tcPr>
                </a:tc>
                <a:tc>
                  <a:txBody>
                    <a:bodyPr/>
                    <a:lstStyle/>
                    <a:p>
                      <a:pPr algn="r"/>
                      <a:r>
                        <a:rPr sz="1600" b="0">
                          <a:solidFill>
                            <a:srgbClr val="1F2937"/>
                          </a:solidFill>
                          <a:latin typeface="Arial"/>
                        </a:rPr>
                        <a:t>.693</a:t>
                      </a:r>
                    </a:p>
                  </a:txBody>
                  <a:tcPr marL="91440" marR="91440" anchor="ctr">
                    <a:solidFill>
                      <a:srgbClr val="FFFFFF"/>
                    </a:solidFill>
                  </a:tcPr>
                </a:tc>
                <a:tc>
                  <a:txBody>
                    <a:bodyPr/>
                    <a:lstStyle/>
                    <a:p>
                      <a:pPr algn="r"/>
                      <a:r>
                        <a:rPr sz="1600" b="0">
                          <a:solidFill>
                            <a:srgbClr val="1F2937"/>
                          </a:solidFill>
                          <a:latin typeface="Arial"/>
                        </a:rPr>
                        <a:t>.382</a:t>
                      </a:r>
                    </a:p>
                  </a:txBody>
                  <a:tcPr marL="91440" marR="91440" anchor="ctr">
                    <a:solidFill>
                      <a:srgbClr val="FFFFFF"/>
                    </a:solidFill>
                  </a:tcPr>
                </a:tc>
              </a:tr>
              <a:tr h="457200">
                <a:tc>
                  <a:txBody>
                    <a:bodyPr/>
                    <a:lstStyle/>
                    <a:p>
                      <a:pPr algn="l"/>
                      <a:r>
                        <a:rPr sz="1600" b="0">
                          <a:solidFill>
                            <a:srgbClr val="1F2937"/>
                          </a:solidFill>
                          <a:latin typeface="Arial"/>
                        </a:rPr>
                        <a:t>BiLSTM + Attention</a:t>
                      </a:r>
                    </a:p>
                  </a:txBody>
                  <a:tcPr marL="91440" marR="91440" anchor="ctr">
                    <a:solidFill>
                      <a:srgbClr val="FFF4EC"/>
                    </a:solidFill>
                  </a:tcPr>
                </a:tc>
                <a:tc>
                  <a:txBody>
                    <a:bodyPr/>
                    <a:lstStyle/>
                    <a:p>
                      <a:pPr algn="r"/>
                      <a:r>
                        <a:rPr sz="1600" b="0">
                          <a:solidFill>
                            <a:srgbClr val="1F2937"/>
                          </a:solidFill>
                          <a:latin typeface="Arial"/>
                        </a:rPr>
                        <a:t>.888</a:t>
                      </a:r>
                    </a:p>
                  </a:txBody>
                  <a:tcPr marL="91440" marR="91440" anchor="ctr">
                    <a:solidFill>
                      <a:srgbClr val="FFF4EC"/>
                    </a:solidFill>
                  </a:tcPr>
                </a:tc>
                <a:tc>
                  <a:txBody>
                    <a:bodyPr/>
                    <a:lstStyle/>
                    <a:p>
                      <a:pPr algn="r"/>
                      <a:r>
                        <a:rPr sz="1600" b="1">
                          <a:solidFill>
                            <a:srgbClr val="E8622C"/>
                          </a:solidFill>
                          <a:latin typeface="Arial"/>
                        </a:rPr>
                        <a:t>.718</a:t>
                      </a:r>
                    </a:p>
                  </a:txBody>
                  <a:tcPr marL="91440" marR="91440" anchor="ctr">
                    <a:solidFill>
                      <a:srgbClr val="FFF4EC"/>
                    </a:solidFill>
                  </a:tcPr>
                </a:tc>
                <a:tc>
                  <a:txBody>
                    <a:bodyPr/>
                    <a:lstStyle/>
                    <a:p>
                      <a:pPr algn="r"/>
                      <a:r>
                        <a:rPr sz="1600" b="1">
                          <a:solidFill>
                            <a:srgbClr val="E8622C"/>
                          </a:solidFill>
                          <a:latin typeface="Arial"/>
                        </a:rPr>
                        <a:t>.446</a:t>
                      </a:r>
                    </a:p>
                  </a:txBody>
                  <a:tcPr marL="91440" marR="91440" anchor="ctr">
                    <a:solidFill>
                      <a:srgbClr val="FFF4EC"/>
                    </a:solidFill>
                  </a:tcPr>
                </a:tc>
              </a:tr>
              <a:tr h="457200">
                <a:tc>
                  <a:txBody>
                    <a:bodyPr/>
                    <a:lstStyle/>
                    <a:p>
                      <a:pPr algn="l"/>
                      <a:r>
                        <a:rPr sz="1600" b="0">
                          <a:solidFill>
                            <a:srgbClr val="1F2937"/>
                          </a:solidFill>
                          <a:latin typeface="Arial"/>
                        </a:rPr>
                        <a:t>DistilBERT</a:t>
                      </a:r>
                    </a:p>
                  </a:txBody>
                  <a:tcPr marL="91440" marR="91440" anchor="ctr">
                    <a:solidFill>
                      <a:srgbClr val="FFF4EC"/>
                    </a:solidFill>
                  </a:tcPr>
                </a:tc>
                <a:tc>
                  <a:txBody>
                    <a:bodyPr/>
                    <a:lstStyle/>
                    <a:p>
                      <a:pPr algn="r"/>
                      <a:r>
                        <a:rPr sz="1600" b="1">
                          <a:solidFill>
                            <a:srgbClr val="E8622C"/>
                          </a:solidFill>
                          <a:latin typeface="Arial"/>
                        </a:rPr>
                        <a:t>.899</a:t>
                      </a:r>
                    </a:p>
                  </a:txBody>
                  <a:tcPr marL="91440" marR="91440" anchor="ctr">
                    <a:solidFill>
                      <a:srgbClr val="FFF4EC"/>
                    </a:solidFill>
                  </a:tcPr>
                </a:tc>
                <a:tc>
                  <a:txBody>
                    <a:bodyPr/>
                    <a:lstStyle/>
                    <a:p>
                      <a:pPr algn="r"/>
                      <a:r>
                        <a:rPr sz="1600" b="0">
                          <a:solidFill>
                            <a:srgbClr val="1F2937"/>
                          </a:solidFill>
                          <a:latin typeface="Arial"/>
                        </a:rPr>
                        <a:t>.702</a:t>
                      </a:r>
                    </a:p>
                  </a:txBody>
                  <a:tcPr marL="91440" marR="91440" anchor="ctr">
                    <a:solidFill>
                      <a:srgbClr val="FFF4EC"/>
                    </a:solidFill>
                  </a:tcPr>
                </a:tc>
                <a:tc>
                  <a:txBody>
                    <a:bodyPr/>
                    <a:lstStyle/>
                    <a:p>
                      <a:pPr algn="r"/>
                      <a:r>
                        <a:rPr sz="1600" b="0">
                          <a:solidFill>
                            <a:srgbClr val="1F2937"/>
                          </a:solidFill>
                          <a:latin typeface="Arial"/>
                        </a:rPr>
                        <a:t>.368</a:t>
                      </a:r>
                    </a:p>
                  </a:txBody>
                  <a:tcPr marL="91440" marR="91440" anchor="ctr">
                    <a:solidFill>
                      <a:srgbClr val="FFF4EC"/>
                    </a:solidFill>
                  </a:tcPr>
                </a:tc>
              </a:tr>
            </a:tbl>
          </a:graphicData>
        </a:graphic>
      </p:graphicFrame>
      <p:sp>
        <p:nvSpPr>
          <p:cNvPr id="7" name="Rounded Rectangle 6"/>
          <p:cNvSpPr/>
          <p:nvPr/>
        </p:nvSpPr>
        <p:spPr>
          <a:xfrm>
            <a:off x="548640" y="4251960"/>
            <a:ext cx="6035040" cy="1783080"/>
          </a:xfrm>
          <a:prstGeom prst="roundRect">
            <a:avLst>
              <a:gd name="adj" fmla="val 5000"/>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251960"/>
            <a:ext cx="5760720" cy="1783080"/>
          </a:xfrm>
          <a:prstGeom prst="rect">
            <a:avLst/>
          </a:prstGeom>
          <a:noFill/>
        </p:spPr>
        <p:txBody>
          <a:bodyPr wrap="square" lIns="73152" rIns="73152" tIns="27432" bIns="27432" anchor="ctr">
            <a:spAutoFit/>
          </a:bodyPr>
          <a:lstStyle/>
          <a:p>
            <a:pPr algn="l">
              <a:spcAft>
                <a:spcPts val="0"/>
              </a:spcAft>
            </a:pPr>
            <a:r>
              <a:rPr sz="1700" b="0">
                <a:solidFill>
                  <a:srgbClr val="FFFFFF"/>
                </a:solidFill>
                <a:latin typeface="Arial"/>
              </a:rPr>
              <a:t>BiLSTM minus SVM: +0.025 macro-F1 (95% CI +0.010 to +0.039), significant. Accuracy is identical. The gain is on the neutral class.</a:t>
            </a:r>
          </a:p>
        </p:txBody>
      </p:sp>
      <p:sp>
        <p:nvSpPr>
          <p:cNvPr id="9" name="Rounded Rectangle 8"/>
          <p:cNvSpPr/>
          <p:nvPr/>
        </p:nvSpPr>
        <p:spPr>
          <a:xfrm>
            <a:off x="6858000" y="1280160"/>
            <a:ext cx="4800600" cy="475488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oster_ci.png"/>
          <p:cNvPicPr>
            <a:picLocks noChangeAspect="1"/>
          </p:cNvPicPr>
          <p:nvPr/>
        </p:nvPicPr>
        <p:blipFill>
          <a:blip r:embed="rId2"/>
          <a:stretch>
            <a:fillRect/>
          </a:stretch>
        </p:blipFill>
        <p:spPr>
          <a:xfrm>
            <a:off x="6949440" y="1417320"/>
            <a:ext cx="4617720" cy="2025711"/>
          </a:xfrm>
          <a:prstGeom prst="rect">
            <a:avLst/>
          </a:prstGeom>
        </p:spPr>
      </p:pic>
      <p:sp>
        <p:nvSpPr>
          <p:cNvPr id="11" name="TextBox 10"/>
          <p:cNvSpPr txBox="1"/>
          <p:nvPr/>
        </p:nvSpPr>
        <p:spPr>
          <a:xfrm>
            <a:off x="6949440" y="3657600"/>
            <a:ext cx="4617720" cy="2286000"/>
          </a:xfrm>
          <a:prstGeom prst="rect">
            <a:avLst/>
          </a:prstGeom>
          <a:noFill/>
        </p:spPr>
        <p:txBody>
          <a:bodyPr wrap="square" lIns="73152" rIns="73152" tIns="27432" bIns="27432" anchor="t">
            <a:spAutoFit/>
          </a:bodyPr>
          <a:lstStyle/>
          <a:p>
            <a:pPr algn="l">
              <a:spcAft>
                <a:spcPts val="600"/>
              </a:spcAft>
            </a:pPr>
            <a:r>
              <a:rPr sz="1400" b="0">
                <a:solidFill>
                  <a:srgbClr val="5B6475"/>
                </a:solidFill>
                <a:latin typeface="Arial"/>
              </a:rPr>
              <a:t>95% bootstrap intervals, 2,000 resamples of the test set.</a:t>
            </a:r>
          </a:p>
          <a:p>
            <a:pPr algn="l">
              <a:spcAft>
                <a:spcPts val="600"/>
              </a:spcAft>
            </a:pPr>
            <a:r>
              <a:rPr sz="1500" b="0">
                <a:solidFill>
                  <a:srgbClr val="1F2937"/>
                </a:solidFill>
                <a:latin typeface="Arial"/>
              </a:rPr>
              <a:t>Neutral is the hardest class for every model: it is 7% of the data and sits between positive and negative.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Ablation and cost</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11 / 19</a:t>
            </a:r>
          </a:p>
        </p:txBody>
      </p:sp>
      <p:sp>
        <p:nvSpPr>
          <p:cNvPr id="6" name="TextBox 5"/>
          <p:cNvSpPr txBox="1"/>
          <p:nvPr/>
        </p:nvSpPr>
        <p:spPr>
          <a:xfrm>
            <a:off x="548640" y="1234440"/>
            <a:ext cx="6400800" cy="45720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What drives the LSTM's gain? (mean of 3 seeds)</a:t>
            </a:r>
          </a:p>
        </p:txBody>
      </p:sp>
      <p:graphicFrame>
        <p:nvGraphicFramePr>
          <p:cNvPr id="7" name="Table 6"/>
          <p:cNvGraphicFramePr>
            <a:graphicFrameLocks noGrp="1"/>
          </p:cNvGraphicFramePr>
          <p:nvPr/>
        </p:nvGraphicFramePr>
        <p:xfrm>
          <a:off x="548640" y="1737360"/>
          <a:ext cx="6400800" cy="2286000"/>
        </p:xfrm>
        <a:graphic>
          <a:graphicData uri="http://schemas.openxmlformats.org/drawingml/2006/table">
            <a:tbl>
              <a:tblPr firstRow="1" bandRow="1">
                <a:tableStyleId>{5C22544A-7EE6-4342-B048-85BDC9FD1C3A}</a:tableStyleId>
              </a:tblPr>
              <a:tblGrid>
                <a:gridCol w="3566160"/>
                <a:gridCol w="1371600"/>
                <a:gridCol w="1463040"/>
              </a:tblGrid>
              <a:tr h="457200">
                <a:tc>
                  <a:txBody>
                    <a:bodyPr/>
                    <a:lstStyle/>
                    <a:p>
                      <a:pPr algn="l"/>
                      <a:r>
                        <a:rPr sz="1600" b="1">
                          <a:solidFill>
                            <a:srgbClr val="FFFFFF"/>
                          </a:solidFill>
                          <a:latin typeface="Arial"/>
                        </a:rPr>
                        <a:t>Variant</a:t>
                      </a:r>
                    </a:p>
                  </a:txBody>
                  <a:tcPr marL="91440" marR="91440" anchor="ctr">
                    <a:solidFill>
                      <a:srgbClr val="131A2B"/>
                    </a:solidFill>
                  </a:tcPr>
                </a:tc>
                <a:tc>
                  <a:txBody>
                    <a:bodyPr/>
                    <a:lstStyle/>
                    <a:p>
                      <a:pPr algn="r"/>
                      <a:r>
                        <a:rPr sz="1600" b="1">
                          <a:solidFill>
                            <a:srgbClr val="FFFFFF"/>
                          </a:solidFill>
                          <a:latin typeface="Arial"/>
                        </a:rPr>
                        <a:t>Accuracy</a:t>
                      </a:r>
                    </a:p>
                  </a:txBody>
                  <a:tcPr marL="91440" marR="91440" anchor="ctr">
                    <a:solidFill>
                      <a:srgbClr val="131A2B"/>
                    </a:solidFill>
                  </a:tcPr>
                </a:tc>
                <a:tc>
                  <a:txBody>
                    <a:bodyPr/>
                    <a:lstStyle/>
                    <a:p>
                      <a:pPr algn="r"/>
                      <a:r>
                        <a:rPr sz="1600" b="1">
                          <a:solidFill>
                            <a:srgbClr val="FFFFFF"/>
                          </a:solidFill>
                          <a:latin typeface="Arial"/>
                        </a:rPr>
                        <a:t>Macro-F1</a:t>
                      </a:r>
                    </a:p>
                  </a:txBody>
                  <a:tcPr marL="91440" marR="91440" anchor="ctr">
                    <a:solidFill>
                      <a:srgbClr val="131A2B"/>
                    </a:solidFill>
                  </a:tcPr>
                </a:tc>
              </a:tr>
              <a:tr h="457200">
                <a:tc>
                  <a:txBody>
                    <a:bodyPr/>
                    <a:lstStyle/>
                    <a:p>
                      <a:pPr algn="l"/>
                      <a:r>
                        <a:rPr sz="1600" b="0">
                          <a:solidFill>
                            <a:srgbClr val="1F2937"/>
                          </a:solidFill>
                          <a:latin typeface="Arial"/>
                        </a:rPr>
                        <a:t>Full (attention + class weights)</a:t>
                      </a:r>
                    </a:p>
                  </a:txBody>
                  <a:tcPr marL="91440" marR="91440" anchor="ctr">
                    <a:solidFill>
                      <a:srgbClr val="FFF4EC"/>
                    </a:solidFill>
                  </a:tcPr>
                </a:tc>
                <a:tc>
                  <a:txBody>
                    <a:bodyPr/>
                    <a:lstStyle/>
                    <a:p>
                      <a:pPr algn="r"/>
                      <a:r>
                        <a:rPr sz="1600" b="0">
                          <a:solidFill>
                            <a:srgbClr val="1F2937"/>
                          </a:solidFill>
                          <a:latin typeface="Arial"/>
                        </a:rPr>
                        <a:t>.891</a:t>
                      </a:r>
                    </a:p>
                  </a:txBody>
                  <a:tcPr marL="91440" marR="91440" anchor="ctr">
                    <a:solidFill>
                      <a:srgbClr val="FFF4EC"/>
                    </a:solidFill>
                  </a:tcPr>
                </a:tc>
                <a:tc>
                  <a:txBody>
                    <a:bodyPr/>
                    <a:lstStyle/>
                    <a:p>
                      <a:pPr algn="r"/>
                      <a:r>
                        <a:rPr sz="1600" b="1">
                          <a:solidFill>
                            <a:srgbClr val="E8622C"/>
                          </a:solidFill>
                          <a:latin typeface="Arial"/>
                        </a:rPr>
                        <a:t>.722</a:t>
                      </a:r>
                    </a:p>
                  </a:txBody>
                  <a:tcPr marL="91440" marR="91440" anchor="ctr">
                    <a:solidFill>
                      <a:srgbClr val="FFF4EC"/>
                    </a:solidFill>
                  </a:tcPr>
                </a:tc>
              </a:tr>
              <a:tr h="457200">
                <a:tc>
                  <a:txBody>
                    <a:bodyPr/>
                    <a:lstStyle/>
                    <a:p>
                      <a:pPr algn="l"/>
                      <a:r>
                        <a:rPr sz="1600" b="0">
                          <a:solidFill>
                            <a:srgbClr val="1F2937"/>
                          </a:solidFill>
                          <a:latin typeface="Arial"/>
                        </a:rPr>
                        <a:t>No class weights</a:t>
                      </a:r>
                    </a:p>
                  </a:txBody>
                  <a:tcPr marL="91440" marR="91440" anchor="ctr">
                    <a:solidFill>
                      <a:srgbClr val="FFFFFF"/>
                    </a:solidFill>
                  </a:tcPr>
                </a:tc>
                <a:tc>
                  <a:txBody>
                    <a:bodyPr/>
                    <a:lstStyle/>
                    <a:p>
                      <a:pPr algn="r"/>
                      <a:r>
                        <a:rPr sz="1600" b="1">
                          <a:solidFill>
                            <a:srgbClr val="E8622C"/>
                          </a:solidFill>
                          <a:latin typeface="Arial"/>
                        </a:rPr>
                        <a:t>.899</a:t>
                      </a:r>
                    </a:p>
                  </a:txBody>
                  <a:tcPr marL="91440" marR="91440" anchor="ctr">
                    <a:solidFill>
                      <a:srgbClr val="FFFFFF"/>
                    </a:solidFill>
                  </a:tcPr>
                </a:tc>
                <a:tc>
                  <a:txBody>
                    <a:bodyPr/>
                    <a:lstStyle/>
                    <a:p>
                      <a:pPr algn="r"/>
                      <a:r>
                        <a:rPr sz="1600" b="0">
                          <a:solidFill>
                            <a:srgbClr val="1F2937"/>
                          </a:solidFill>
                          <a:latin typeface="Arial"/>
                        </a:rPr>
                        <a:t>.709</a:t>
                      </a:r>
                    </a:p>
                  </a:txBody>
                  <a:tcPr marL="91440" marR="91440" anchor="ctr">
                    <a:solidFill>
                      <a:srgbClr val="FFFFFF"/>
                    </a:solidFill>
                  </a:tcPr>
                </a:tc>
              </a:tr>
              <a:tr h="457200">
                <a:tc>
                  <a:txBody>
                    <a:bodyPr/>
                    <a:lstStyle/>
                    <a:p>
                      <a:pPr algn="l"/>
                      <a:r>
                        <a:rPr sz="1600" b="0">
                          <a:solidFill>
                            <a:srgbClr val="1F2937"/>
                          </a:solidFill>
                          <a:latin typeface="Arial"/>
                        </a:rPr>
                        <a:t>Mean pooling, no attention</a:t>
                      </a:r>
                    </a:p>
                  </a:txBody>
                  <a:tcPr marL="91440" marR="91440" anchor="ctr">
                    <a:solidFill>
                      <a:srgbClr val="FFFFFF"/>
                    </a:solidFill>
                  </a:tcPr>
                </a:tc>
                <a:tc>
                  <a:txBody>
                    <a:bodyPr/>
                    <a:lstStyle/>
                    <a:p>
                      <a:pPr algn="r"/>
                      <a:r>
                        <a:rPr sz="1600" b="0">
                          <a:solidFill>
                            <a:srgbClr val="1F2937"/>
                          </a:solidFill>
                          <a:latin typeface="Arial"/>
                        </a:rPr>
                        <a:t>.889</a:t>
                      </a:r>
                    </a:p>
                  </a:txBody>
                  <a:tcPr marL="91440" marR="91440" anchor="ctr">
                    <a:solidFill>
                      <a:srgbClr val="FFFFFF"/>
                    </a:solidFill>
                  </a:tcPr>
                </a:tc>
                <a:tc>
                  <a:txBody>
                    <a:bodyPr/>
                    <a:lstStyle/>
                    <a:p>
                      <a:pPr algn="r"/>
                      <a:r>
                        <a:rPr sz="1600" b="0">
                          <a:solidFill>
                            <a:srgbClr val="1F2937"/>
                          </a:solidFill>
                          <a:latin typeface="Arial"/>
                        </a:rPr>
                        <a:t>.715</a:t>
                      </a:r>
                    </a:p>
                  </a:txBody>
                  <a:tcPr marL="91440" marR="91440" anchor="ctr">
                    <a:solidFill>
                      <a:srgbClr val="FFFFFF"/>
                    </a:solidFill>
                  </a:tcPr>
                </a:tc>
              </a:tr>
              <a:tr h="457200">
                <a:tc>
                  <a:txBody>
                    <a:bodyPr/>
                    <a:lstStyle/>
                    <a:p>
                      <a:pPr algn="l"/>
                      <a:r>
                        <a:rPr sz="1600" b="0">
                          <a:solidFill>
                            <a:srgbClr val="1F2937"/>
                          </a:solidFill>
                          <a:latin typeface="Arial"/>
                        </a:rPr>
                        <a:t>DistilBERT (reference, 1 run)</a:t>
                      </a:r>
                    </a:p>
                  </a:txBody>
                  <a:tcPr marL="91440" marR="91440" anchor="ctr">
                    <a:solidFill>
                      <a:srgbClr val="FFFFFF"/>
                    </a:solidFill>
                  </a:tcPr>
                </a:tc>
                <a:tc>
                  <a:txBody>
                    <a:bodyPr/>
                    <a:lstStyle/>
                    <a:p>
                      <a:pPr algn="r"/>
                      <a:r>
                        <a:rPr sz="1600" b="0">
                          <a:solidFill>
                            <a:srgbClr val="1F2937"/>
                          </a:solidFill>
                          <a:latin typeface="Arial"/>
                        </a:rPr>
                        <a:t>.899</a:t>
                      </a:r>
                    </a:p>
                  </a:txBody>
                  <a:tcPr marL="91440" marR="91440" anchor="ctr">
                    <a:solidFill>
                      <a:srgbClr val="FFFFFF"/>
                    </a:solidFill>
                  </a:tcPr>
                </a:tc>
                <a:tc>
                  <a:txBody>
                    <a:bodyPr/>
                    <a:lstStyle/>
                    <a:p>
                      <a:pPr algn="r"/>
                      <a:r>
                        <a:rPr sz="1600" b="0">
                          <a:solidFill>
                            <a:srgbClr val="1F2937"/>
                          </a:solidFill>
                          <a:latin typeface="Arial"/>
                        </a:rPr>
                        <a:t>.702</a:t>
                      </a:r>
                    </a:p>
                  </a:txBody>
                  <a:tcPr marL="91440" marR="91440" anchor="ctr">
                    <a:solidFill>
                      <a:srgbClr val="FFFFFF"/>
                    </a:solidFill>
                  </a:tcPr>
                </a:tc>
              </a:tr>
            </a:tbl>
          </a:graphicData>
        </a:graphic>
      </p:graphicFrame>
      <p:sp>
        <p:nvSpPr>
          <p:cNvPr id="8" name="Rounded Rectangle 7"/>
          <p:cNvSpPr/>
          <p:nvPr/>
        </p:nvSpPr>
        <p:spPr>
          <a:xfrm>
            <a:off x="548640" y="4251960"/>
            <a:ext cx="6400800" cy="1783080"/>
          </a:xfrm>
          <a:prstGeom prst="roundRect">
            <a:avLst>
              <a:gd name="adj" fmla="val 5000"/>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251960"/>
            <a:ext cx="6126480" cy="1783080"/>
          </a:xfrm>
          <a:prstGeom prst="rect">
            <a:avLst/>
          </a:prstGeom>
          <a:noFill/>
        </p:spPr>
        <p:txBody>
          <a:bodyPr wrap="square" lIns="73152" rIns="73152" tIns="27432" bIns="27432" anchor="ctr">
            <a:spAutoFit/>
          </a:bodyPr>
          <a:lstStyle/>
          <a:p>
            <a:pPr algn="l">
              <a:spcAft>
                <a:spcPts val="0"/>
              </a:spcAft>
            </a:pPr>
            <a:r>
              <a:rPr sz="1700" b="0">
                <a:solidFill>
                  <a:srgbClr val="FFFFFF"/>
                </a:solidFill>
                <a:latin typeface="Arial"/>
              </a:rPr>
              <a:t>Class weights add +0.012 macro-F1 and cost 0.007 accuracy, in every seed. Attention adds only about +0.007. Seed-to-seed spread is about 0.004.</a:t>
            </a:r>
          </a:p>
        </p:txBody>
      </p:sp>
      <p:sp>
        <p:nvSpPr>
          <p:cNvPr id="10" name="Rounded Rectangle 9"/>
          <p:cNvSpPr/>
          <p:nvPr/>
        </p:nvSpPr>
        <p:spPr>
          <a:xfrm>
            <a:off x="7315200" y="1280160"/>
            <a:ext cx="4343400" cy="1417320"/>
          </a:xfrm>
          <a:prstGeom prst="roundRect">
            <a:avLst>
              <a:gd name="adj" fmla="val 5000"/>
            </a:avLst>
          </a:prstGeom>
          <a:solidFill>
            <a:srgbClr val="FFF4EC"/>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1353312"/>
            <a:ext cx="4343400" cy="779526"/>
          </a:xfrm>
          <a:prstGeom prst="rect">
            <a:avLst/>
          </a:prstGeom>
          <a:noFill/>
        </p:spPr>
        <p:txBody>
          <a:bodyPr wrap="square" lIns="73152" rIns="73152" tIns="27432" bIns="27432" anchor="ctr">
            <a:spAutoFit/>
          </a:bodyPr>
          <a:lstStyle/>
          <a:p>
            <a:pPr algn="ctr">
              <a:spcAft>
                <a:spcPts val="0"/>
              </a:spcAft>
            </a:pPr>
            <a:r>
              <a:rPr sz="3400" b="1">
                <a:solidFill>
                  <a:srgbClr val="E8622C"/>
                </a:solidFill>
                <a:latin typeface="Arial"/>
              </a:rPr>
              <a:t>26x</a:t>
            </a:r>
          </a:p>
        </p:txBody>
      </p:sp>
      <p:sp>
        <p:nvSpPr>
          <p:cNvPr id="12" name="TextBox 11"/>
          <p:cNvSpPr txBox="1"/>
          <p:nvPr/>
        </p:nvSpPr>
        <p:spPr>
          <a:xfrm>
            <a:off x="7406640" y="2059686"/>
            <a:ext cx="4160520" cy="595274"/>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fewer parameters than DistilBERT (2.57 M vs 66.96 M)</a:t>
            </a:r>
          </a:p>
        </p:txBody>
      </p:sp>
      <p:sp>
        <p:nvSpPr>
          <p:cNvPr id="13" name="Rounded Rectangle 12"/>
          <p:cNvSpPr/>
          <p:nvPr/>
        </p:nvSpPr>
        <p:spPr>
          <a:xfrm>
            <a:off x="7315200" y="2880360"/>
            <a:ext cx="4343400" cy="1417320"/>
          </a:xfrm>
          <a:prstGeom prst="roundRect">
            <a:avLst>
              <a:gd name="adj" fmla="val 5000"/>
            </a:avLst>
          </a:prstGeom>
          <a:solidFill>
            <a:srgbClr val="EFF6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2953512"/>
            <a:ext cx="4343400" cy="779526"/>
          </a:xfrm>
          <a:prstGeom prst="rect">
            <a:avLst/>
          </a:prstGeom>
          <a:noFill/>
        </p:spPr>
        <p:txBody>
          <a:bodyPr wrap="square" lIns="73152" rIns="73152" tIns="27432" bIns="27432" anchor="ctr">
            <a:spAutoFit/>
          </a:bodyPr>
          <a:lstStyle/>
          <a:p>
            <a:pPr algn="ctr">
              <a:spcAft>
                <a:spcPts val="0"/>
              </a:spcAft>
            </a:pPr>
            <a:r>
              <a:rPr sz="3400" b="1">
                <a:solidFill>
                  <a:srgbClr val="2563EB"/>
                </a:solidFill>
                <a:latin typeface="Arial"/>
              </a:rPr>
              <a:t>57x</a:t>
            </a:r>
          </a:p>
        </p:txBody>
      </p:sp>
      <p:sp>
        <p:nvSpPr>
          <p:cNvPr id="15" name="TextBox 14"/>
          <p:cNvSpPr txBox="1"/>
          <p:nvPr/>
        </p:nvSpPr>
        <p:spPr>
          <a:xfrm>
            <a:off x="7406640" y="3659886"/>
            <a:ext cx="4160520" cy="595274"/>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faster on CPU (975 vs 17 reviews per second)</a:t>
            </a:r>
          </a:p>
        </p:txBody>
      </p:sp>
      <p:sp>
        <p:nvSpPr>
          <p:cNvPr id="16" name="Rounded Rectangle 15"/>
          <p:cNvSpPr/>
          <p:nvPr/>
        </p:nvSpPr>
        <p:spPr>
          <a:xfrm>
            <a:off x="7315200" y="4480560"/>
            <a:ext cx="4343400" cy="1417320"/>
          </a:xfrm>
          <a:prstGeom prst="roundRect">
            <a:avLst>
              <a:gd name="adj" fmla="val 5000"/>
            </a:avLst>
          </a:prstGeom>
          <a:solidFill>
            <a:srgbClr val="F0FDFA"/>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4553712"/>
            <a:ext cx="4343400" cy="779526"/>
          </a:xfrm>
          <a:prstGeom prst="rect">
            <a:avLst/>
          </a:prstGeom>
          <a:noFill/>
        </p:spPr>
        <p:txBody>
          <a:bodyPr wrap="square" lIns="73152" rIns="73152" tIns="27432" bIns="27432" anchor="ctr">
            <a:spAutoFit/>
          </a:bodyPr>
          <a:lstStyle/>
          <a:p>
            <a:pPr algn="ctr">
              <a:spcAft>
                <a:spcPts val="0"/>
              </a:spcAft>
            </a:pPr>
            <a:r>
              <a:rPr sz="3400" b="1">
                <a:solidFill>
                  <a:srgbClr val="0F766E"/>
                </a:solidFill>
                <a:latin typeface="Arial"/>
              </a:rPr>
              <a:t>13x</a:t>
            </a:r>
          </a:p>
        </p:txBody>
      </p:sp>
      <p:sp>
        <p:nvSpPr>
          <p:cNvPr id="18" name="TextBox 17"/>
          <p:cNvSpPr txBox="1"/>
          <p:nvPr/>
        </p:nvSpPr>
        <p:spPr>
          <a:xfrm>
            <a:off x="7406640" y="5260086"/>
            <a:ext cx="4160520" cy="595274"/>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faster on GPU (5,688 vs 451 reviews per second)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Aspects and the language of sentiment</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12 / 19</a:t>
            </a:r>
          </a:p>
        </p:txBody>
      </p:sp>
      <p:sp>
        <p:nvSpPr>
          <p:cNvPr id="6" name="Rounded Rectangle 5"/>
          <p:cNvSpPr/>
          <p:nvPr/>
        </p:nvSpPr>
        <p:spPr>
          <a:xfrm>
            <a:off x="548640" y="1280160"/>
            <a:ext cx="576072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ster_aspects.png"/>
          <p:cNvPicPr>
            <a:picLocks noChangeAspect="1"/>
          </p:cNvPicPr>
          <p:nvPr/>
        </p:nvPicPr>
        <p:blipFill>
          <a:blip r:embed="rId2"/>
          <a:stretch>
            <a:fillRect/>
          </a:stretch>
        </p:blipFill>
        <p:spPr>
          <a:xfrm>
            <a:off x="685800" y="1417320"/>
            <a:ext cx="5486400" cy="3019698"/>
          </a:xfrm>
          <a:prstGeom prst="rect">
            <a:avLst/>
          </a:prstGeom>
        </p:spPr>
      </p:pic>
      <p:sp>
        <p:nvSpPr>
          <p:cNvPr id="8" name="Rounded Rectangle 7"/>
          <p:cNvSpPr/>
          <p:nvPr/>
        </p:nvSpPr>
        <p:spPr>
          <a:xfrm>
            <a:off x="685800" y="4892040"/>
            <a:ext cx="5486400" cy="1097280"/>
          </a:xfrm>
          <a:prstGeom prst="roundRect">
            <a:avLst>
              <a:gd name="adj" fmla="val 5000"/>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892040"/>
            <a:ext cx="5212080" cy="1097280"/>
          </a:xfrm>
          <a:prstGeom prst="rect">
            <a:avLst/>
          </a:prstGeom>
          <a:noFill/>
        </p:spPr>
        <p:txBody>
          <a:bodyPr wrap="square" lIns="73152" rIns="73152" tIns="27432" bIns="27432" anchor="ctr">
            <a:spAutoFit/>
          </a:bodyPr>
          <a:lstStyle/>
          <a:p>
            <a:pPr algn="l">
              <a:spcAft>
                <a:spcPts val="0"/>
              </a:spcAft>
            </a:pPr>
            <a:r>
              <a:rPr sz="1600" b="0">
                <a:solidFill>
                  <a:srgbClr val="FFFFFF"/>
                </a:solidFill>
                <a:latin typeface="Arial"/>
              </a:rPr>
              <a:t>Battery: 20.2% negative mentions. Connectivity and customer service: 19.3% each. Build quality: 8.1%.</a:t>
            </a:r>
          </a:p>
        </p:txBody>
      </p:sp>
      <p:sp>
        <p:nvSpPr>
          <p:cNvPr id="10" name="Rounded Rectangle 9"/>
          <p:cNvSpPr/>
          <p:nvPr/>
        </p:nvSpPr>
        <p:spPr>
          <a:xfrm>
            <a:off x="6583680" y="1280160"/>
            <a:ext cx="507492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325880"/>
            <a:ext cx="4846320" cy="411480"/>
          </a:xfrm>
          <a:prstGeom prst="rect">
            <a:avLst/>
          </a:prstGeom>
          <a:noFill/>
        </p:spPr>
        <p:txBody>
          <a:bodyPr wrap="square" lIns="73152" rIns="73152" tIns="27432" bIns="27432" anchor="ctr">
            <a:spAutoFit/>
          </a:bodyPr>
          <a:lstStyle/>
          <a:p>
            <a:pPr algn="l">
              <a:spcAft>
                <a:spcPts val="0"/>
              </a:spcAft>
            </a:pPr>
            <a:r>
              <a:rPr sz="1900" b="1">
                <a:solidFill>
                  <a:srgbClr val="131A2B"/>
                </a:solidFill>
                <a:latin typeface="Arial"/>
              </a:rPr>
              <a:t>What each sentiment sounds like</a:t>
            </a:r>
          </a:p>
        </p:txBody>
      </p:sp>
      <p:pic>
        <p:nvPicPr>
          <p:cNvPr id="12" name="Picture 11" descr="wordcloud_negative.png"/>
          <p:cNvPicPr>
            <a:picLocks noChangeAspect="1"/>
          </p:cNvPicPr>
          <p:nvPr/>
        </p:nvPicPr>
        <p:blipFill>
          <a:blip r:embed="rId3"/>
          <a:stretch>
            <a:fillRect/>
          </a:stretch>
        </p:blipFill>
        <p:spPr>
          <a:xfrm>
            <a:off x="6720840" y="1783080"/>
            <a:ext cx="2377440" cy="1373632"/>
          </a:xfrm>
          <a:prstGeom prst="rect">
            <a:avLst/>
          </a:prstGeom>
        </p:spPr>
      </p:pic>
      <p:pic>
        <p:nvPicPr>
          <p:cNvPr id="13" name="Picture 12" descr="wordcloud_positive.png"/>
          <p:cNvPicPr>
            <a:picLocks noChangeAspect="1"/>
          </p:cNvPicPr>
          <p:nvPr/>
        </p:nvPicPr>
        <p:blipFill>
          <a:blip r:embed="rId4"/>
          <a:stretch>
            <a:fillRect/>
          </a:stretch>
        </p:blipFill>
        <p:spPr>
          <a:xfrm>
            <a:off x="9189720" y="1783080"/>
            <a:ext cx="2377440" cy="1373632"/>
          </a:xfrm>
          <a:prstGeom prst="rect">
            <a:avLst/>
          </a:prstGeom>
        </p:spPr>
      </p:pic>
      <p:sp>
        <p:nvSpPr>
          <p:cNvPr id="14" name="TextBox 13"/>
          <p:cNvSpPr txBox="1"/>
          <p:nvPr/>
        </p:nvSpPr>
        <p:spPr>
          <a:xfrm>
            <a:off x="6720840" y="3200400"/>
            <a:ext cx="2377440" cy="320040"/>
          </a:xfrm>
          <a:prstGeom prst="rect">
            <a:avLst/>
          </a:prstGeom>
          <a:noFill/>
        </p:spPr>
        <p:txBody>
          <a:bodyPr wrap="square" lIns="73152" rIns="73152" tIns="27432" bIns="27432" anchor="t">
            <a:spAutoFit/>
          </a:bodyPr>
          <a:lstStyle/>
          <a:p>
            <a:pPr algn="ctr">
              <a:spcAft>
                <a:spcPts val="0"/>
              </a:spcAft>
            </a:pPr>
            <a:r>
              <a:rPr sz="1400" b="1">
                <a:solidFill>
                  <a:srgbClr val="9A3412"/>
                </a:solidFill>
                <a:latin typeface="Arial"/>
              </a:rPr>
              <a:t>Negative</a:t>
            </a:r>
          </a:p>
        </p:txBody>
      </p:sp>
      <p:sp>
        <p:nvSpPr>
          <p:cNvPr id="15" name="TextBox 14"/>
          <p:cNvSpPr txBox="1"/>
          <p:nvPr/>
        </p:nvSpPr>
        <p:spPr>
          <a:xfrm>
            <a:off x="9189720" y="3200400"/>
            <a:ext cx="2377440" cy="320040"/>
          </a:xfrm>
          <a:prstGeom prst="rect">
            <a:avLst/>
          </a:prstGeom>
          <a:noFill/>
        </p:spPr>
        <p:txBody>
          <a:bodyPr wrap="square" lIns="73152" rIns="73152" tIns="27432" bIns="27432" anchor="t">
            <a:spAutoFit/>
          </a:bodyPr>
          <a:lstStyle/>
          <a:p>
            <a:pPr algn="ctr">
              <a:spcAft>
                <a:spcPts val="0"/>
              </a:spcAft>
            </a:pPr>
            <a:r>
              <a:rPr sz="1400" b="1">
                <a:solidFill>
                  <a:srgbClr val="166534"/>
                </a:solidFill>
                <a:latin typeface="Arial"/>
              </a:rPr>
              <a:t>Positive</a:t>
            </a:r>
          </a:p>
        </p:txBody>
      </p:sp>
      <p:sp>
        <p:nvSpPr>
          <p:cNvPr id="16" name="TextBox 15"/>
          <p:cNvSpPr txBox="1"/>
          <p:nvPr/>
        </p:nvSpPr>
        <p:spPr>
          <a:xfrm>
            <a:off x="6720840" y="3611880"/>
            <a:ext cx="4846320" cy="2377440"/>
          </a:xfrm>
          <a:prstGeom prst="rect">
            <a:avLst/>
          </a:prstGeom>
          <a:noFill/>
        </p:spPr>
        <p:txBody>
          <a:bodyPr wrap="square" lIns="73152" rIns="73152" tIns="27432" bIns="27432" anchor="t">
            <a:spAutoFit/>
          </a:bodyPr>
          <a:lstStyle/>
          <a:p>
            <a:pPr algn="l" marL="223520" indent="-223520">
              <a:spcAft>
                <a:spcPts val="600"/>
              </a:spcAft>
              <a:buChar char="•"/>
            </a:pPr>
            <a:r>
              <a:rPr sz="1600" b="0">
                <a:solidFill>
                  <a:srgbClr val="1F2937"/>
                </a:solidFill>
                <a:latin typeface="Arial"/>
              </a:rPr>
              <a:t>Negative: "return", "waste", "money", "stopped", "broke"</a:t>
            </a:r>
          </a:p>
          <a:p>
            <a:pPr algn="l" marL="223520" indent="-223520">
              <a:spcAft>
                <a:spcPts val="600"/>
              </a:spcAft>
              <a:buChar char="•"/>
            </a:pPr>
            <a:r>
              <a:rPr sz="1600" b="0">
                <a:solidFill>
                  <a:srgbClr val="1F2937"/>
                </a:solidFill>
                <a:latin typeface="Arial"/>
              </a:rPr>
              <a:t>Positive: "easy", "love", "nice", "perfect"</a:t>
            </a:r>
          </a:p>
          <a:p>
            <a:pPr algn="l" marL="223520" indent="-223520">
              <a:spcAft>
                <a:spcPts val="600"/>
              </a:spcAft>
              <a:buChar char="•"/>
            </a:pPr>
            <a:r>
              <a:rPr sz="1600" b="0">
                <a:solidFill>
                  <a:srgbClr val="1F2937"/>
                </a:solidFill>
                <a:latin typeface="Arial"/>
              </a:rPr>
              <a:t>Neutral: hedged words such as "okay", "fine", "better"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Review quality, trust and error analysis</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13 / 19</a:t>
            </a:r>
          </a:p>
        </p:txBody>
      </p:sp>
      <p:sp>
        <p:nvSpPr>
          <p:cNvPr id="6" name="Rounded Rectangle 5"/>
          <p:cNvSpPr/>
          <p:nvPr/>
        </p:nvSpPr>
        <p:spPr>
          <a:xfrm>
            <a:off x="548640" y="1280160"/>
            <a:ext cx="3611880" cy="384048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9888"/>
            <a:ext cx="82296"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53312"/>
            <a:ext cx="3337560" cy="50292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Helpfulness (XGBoost)</a:t>
            </a:r>
          </a:p>
        </p:txBody>
      </p:sp>
      <p:sp>
        <p:nvSpPr>
          <p:cNvPr id="9" name="TextBox 8"/>
          <p:cNvSpPr txBox="1"/>
          <p:nvPr/>
        </p:nvSpPr>
        <p:spPr>
          <a:xfrm>
            <a:off x="676656" y="1901952"/>
            <a:ext cx="3355848" cy="3145536"/>
          </a:xfrm>
          <a:prstGeom prst="rect">
            <a:avLst/>
          </a:prstGeom>
          <a:noFill/>
        </p:spPr>
        <p:txBody>
          <a:bodyPr wrap="square" lIns="73152" rIns="73152" tIns="27432" bIns="27432" anchor="t">
            <a:spAutoFit/>
          </a:bodyPr>
          <a:lstStyle/>
          <a:p>
            <a:pPr algn="l" marL="223520" indent="-223520">
              <a:spcAft>
                <a:spcPts val="600"/>
              </a:spcAft>
              <a:buChar char="•"/>
            </a:pPr>
            <a:r>
              <a:rPr sz="1600" b="1">
                <a:solidFill>
                  <a:srgbClr val="1F2937"/>
                </a:solidFill>
                <a:latin typeface="Arial"/>
              </a:rPr>
              <a:t>70.5%</a:t>
            </a:r>
            <a:r>
              <a:rPr sz="1600" b="0">
                <a:solidFill>
                  <a:srgbClr val="1F2937"/>
                </a:solidFill>
                <a:latin typeface="Arial"/>
              </a:rPr>
              <a:t> accuracy, precision 0.458, recall 0.702, F1 0.555</a:t>
            </a:r>
          </a:p>
          <a:p>
            <a:pPr algn="l" marL="223520" indent="-223520">
              <a:spcAft>
                <a:spcPts val="600"/>
              </a:spcAft>
              <a:buChar char="•"/>
            </a:pPr>
            <a:r>
              <a:rPr sz="1600" b="0">
                <a:solidFill>
                  <a:srgbClr val="1F2937"/>
                </a:solidFill>
                <a:latin typeface="Arial"/>
              </a:rPr>
              <a:t>Modest because helpfulness depends on exposure, which no review feature captures</a:t>
            </a:r>
          </a:p>
          <a:p>
            <a:pPr algn="l" marL="223520" indent="-223520">
              <a:spcAft>
                <a:spcPts val="600"/>
              </a:spcAft>
              <a:buChar char="•"/>
            </a:pPr>
            <a:r>
              <a:rPr sz="1600" b="0">
                <a:solidFill>
                  <a:srgbClr val="1F2937"/>
                </a:solidFill>
                <a:latin typeface="Arial"/>
              </a:rPr>
              <a:t>The aspect count from the ABSA module ranks second: one component feeds another</a:t>
            </a:r>
          </a:p>
        </p:txBody>
      </p:sp>
      <p:sp>
        <p:nvSpPr>
          <p:cNvPr id="10" name="Rounded Rectangle 9"/>
          <p:cNvSpPr/>
          <p:nvPr/>
        </p:nvSpPr>
        <p:spPr>
          <a:xfrm>
            <a:off x="4297680" y="1280160"/>
            <a:ext cx="3611880" cy="384048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389888"/>
            <a:ext cx="82296" cy="38404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353312"/>
            <a:ext cx="3337560" cy="50292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Suspicious reviews</a:t>
            </a:r>
          </a:p>
        </p:txBody>
      </p:sp>
      <p:sp>
        <p:nvSpPr>
          <p:cNvPr id="13" name="TextBox 12"/>
          <p:cNvSpPr txBox="1"/>
          <p:nvPr/>
        </p:nvSpPr>
        <p:spPr>
          <a:xfrm>
            <a:off x="4425696" y="1901952"/>
            <a:ext cx="3355848" cy="3145536"/>
          </a:xfrm>
          <a:prstGeom prst="rect">
            <a:avLst/>
          </a:prstGeom>
          <a:noFill/>
        </p:spPr>
        <p:txBody>
          <a:bodyPr wrap="square" lIns="73152" rIns="73152" tIns="27432" bIns="27432" anchor="t">
            <a:spAutoFit/>
          </a:bodyPr>
          <a:lstStyle/>
          <a:p>
            <a:pPr algn="l" marL="223520" indent="-223520">
              <a:spcAft>
                <a:spcPts val="600"/>
              </a:spcAft>
              <a:buChar char="•"/>
            </a:pPr>
            <a:r>
              <a:rPr sz="1600" b="1">
                <a:solidFill>
                  <a:srgbClr val="1F2937"/>
                </a:solidFill>
                <a:latin typeface="Arial"/>
              </a:rPr>
              <a:t>4,999</a:t>
            </a:r>
            <a:r>
              <a:rPr sz="1600" b="0">
                <a:solidFill>
                  <a:srgbClr val="1F2937"/>
                </a:solidFill>
                <a:latin typeface="Arial"/>
              </a:rPr>
              <a:t> flagged (10%), </a:t>
            </a:r>
            <a:r>
              <a:rPr sz="1600" b="1">
                <a:solidFill>
                  <a:srgbClr val="1F2937"/>
                </a:solidFill>
                <a:latin typeface="Arial"/>
              </a:rPr>
              <a:t>36</a:t>
            </a:r>
            <a:r>
              <a:rPr sz="1600" b="0">
                <a:solidFill>
                  <a:srgbClr val="1F2937"/>
                </a:solidFill>
                <a:latin typeface="Arial"/>
              </a:rPr>
              <a:t> near-duplicates</a:t>
            </a:r>
          </a:p>
          <a:p>
            <a:pPr algn="l" marL="223520" indent="-223520">
              <a:spcAft>
                <a:spcPts val="600"/>
              </a:spcAft>
              <a:buChar char="•"/>
            </a:pPr>
            <a:r>
              <a:rPr sz="1600" b="0">
                <a:solidFill>
                  <a:srgbClr val="1F2937"/>
                </a:solidFill>
                <a:latin typeface="Arial"/>
              </a:rPr>
              <a:t>Dashboard: threshold slider and a table of flag, score, review and signals</a:t>
            </a:r>
          </a:p>
          <a:p>
            <a:pPr algn="l" marL="223520" indent="-223520">
              <a:spcAft>
                <a:spcPts val="600"/>
              </a:spcAft>
              <a:buChar char="•"/>
            </a:pPr>
            <a:r>
              <a:rPr sz="1600" b="0">
                <a:solidFill>
                  <a:srgbClr val="1F2937"/>
                </a:solidFill>
                <a:latin typeface="Arial"/>
              </a:rPr>
              <a:t>Worded as "potentially suspicious based on automated pattern analysis". Never "fake"</a:t>
            </a:r>
          </a:p>
        </p:txBody>
      </p:sp>
      <p:sp>
        <p:nvSpPr>
          <p:cNvPr id="14" name="Rounded Rectangle 13"/>
          <p:cNvSpPr/>
          <p:nvPr/>
        </p:nvSpPr>
        <p:spPr>
          <a:xfrm>
            <a:off x="8046720" y="1280160"/>
            <a:ext cx="3611880" cy="384048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89888"/>
            <a:ext cx="82296" cy="38404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353312"/>
            <a:ext cx="3337560" cy="50292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Label noise in errors</a:t>
            </a:r>
          </a:p>
        </p:txBody>
      </p:sp>
      <p:sp>
        <p:nvSpPr>
          <p:cNvPr id="17" name="TextBox 16"/>
          <p:cNvSpPr txBox="1"/>
          <p:nvPr/>
        </p:nvSpPr>
        <p:spPr>
          <a:xfrm>
            <a:off x="8174736" y="1901952"/>
            <a:ext cx="3355848" cy="3145536"/>
          </a:xfrm>
          <a:prstGeom prst="rect">
            <a:avLst/>
          </a:prstGeom>
          <a:noFill/>
        </p:spPr>
        <p:txBody>
          <a:bodyPr wrap="square" lIns="73152" rIns="73152" tIns="27432" bIns="27432" anchor="t">
            <a:spAutoFit/>
          </a:bodyPr>
          <a:lstStyle/>
          <a:p>
            <a:pPr algn="l" marL="209550" indent="-209550">
              <a:spcAft>
                <a:spcPts val="600"/>
              </a:spcAft>
              <a:buChar char="•"/>
            </a:pPr>
            <a:r>
              <a:rPr sz="1500" b="0">
                <a:solidFill>
                  <a:srgbClr val="1F2937"/>
                </a:solidFill>
                <a:latin typeface="Arial"/>
              </a:rPr>
              <a:t>155 of 1,116 test errors are confident</a:t>
            </a:r>
          </a:p>
          <a:p>
            <a:pPr algn="l" marL="209550" indent="-209550">
              <a:spcAft>
                <a:spcPts val="600"/>
              </a:spcAft>
              <a:buChar char="•"/>
            </a:pPr>
            <a:r>
              <a:rPr sz="1500" b="1">
                <a:solidFill>
                  <a:srgbClr val="1F2937"/>
                </a:solidFill>
                <a:latin typeface="Arial"/>
              </a:rPr>
              <a:t>5 stars, predicted negative:</a:t>
            </a:r>
            <a:r>
              <a:rPr sz="1500" b="0">
                <a:solidFill>
                  <a:srgbClr val="1F2937"/>
                </a:solidFill>
                <a:latin typeface="Arial"/>
              </a:rPr>
              <a:t> "Piece of junk !!! Poor quality, high price .. it lasted 10weeks"</a:t>
            </a:r>
          </a:p>
          <a:p>
            <a:pPr algn="l" marL="209550" indent="-209550">
              <a:spcAft>
                <a:spcPts val="600"/>
              </a:spcAft>
              <a:buChar char="•"/>
            </a:pPr>
            <a:r>
              <a:rPr sz="1500" b="1">
                <a:solidFill>
                  <a:srgbClr val="1F2937"/>
                </a:solidFill>
                <a:latin typeface="Arial"/>
              </a:rPr>
              <a:t>1 star, predicted positive:</a:t>
            </a:r>
            <a:r>
              <a:rPr sz="1500" b="0">
                <a:solidFill>
                  <a:srgbClr val="1F2937"/>
                </a:solidFill>
                <a:latin typeface="Arial"/>
              </a:rPr>
              <a:t> "Worked out of the box. love it"</a:t>
            </a:r>
          </a:p>
          <a:p>
            <a:pPr algn="l" marL="209550" indent="-209550">
              <a:spcAft>
                <a:spcPts val="600"/>
              </a:spcAft>
              <a:buChar char="•"/>
            </a:pPr>
            <a:r>
              <a:rPr sz="1500" b="0">
                <a:solidFill>
                  <a:srgbClr val="1F2937"/>
                </a:solidFill>
                <a:latin typeface="Arial"/>
              </a:rPr>
              <a:t>The stars contradict the text, so part of the error is label noise</a:t>
            </a:r>
          </a:p>
        </p:txBody>
      </p:sp>
      <p:sp>
        <p:nvSpPr>
          <p:cNvPr id="18" name="Rounded Rectangle 17"/>
          <p:cNvSpPr/>
          <p:nvPr/>
        </p:nvSpPr>
        <p:spPr>
          <a:xfrm>
            <a:off x="548640" y="5349240"/>
            <a:ext cx="11109960" cy="822960"/>
          </a:xfrm>
          <a:prstGeom prst="roundRect">
            <a:avLst>
              <a:gd name="adj" fmla="val 5000"/>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49240"/>
            <a:ext cx="10835640" cy="822960"/>
          </a:xfrm>
          <a:prstGeom prst="rect">
            <a:avLst/>
          </a:prstGeom>
          <a:noFill/>
        </p:spPr>
        <p:txBody>
          <a:bodyPr wrap="square" lIns="73152" rIns="73152" tIns="27432" bIns="27432" anchor="ctr">
            <a:spAutoFit/>
          </a:bodyPr>
          <a:lstStyle/>
          <a:p>
            <a:pPr algn="l">
              <a:spcAft>
                <a:spcPts val="0"/>
              </a:spcAft>
            </a:pPr>
            <a:r>
              <a:rPr sz="1700" b="0">
                <a:solidFill>
                  <a:srgbClr val="FFFFFF"/>
                </a:solidFill>
                <a:latin typeface="Arial"/>
              </a:rPr>
              <a:t>Takeaway: accuracy here measures agreement with star ratings. Some errors are label noise, and flagged reviews are anomalies, not proven fakes.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The dashboard (1 of 2)</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14 / 19</a:t>
            </a:r>
          </a:p>
        </p:txBody>
      </p:sp>
      <p:sp>
        <p:nvSpPr>
          <p:cNvPr id="6" name="Rounded Rectangle 5"/>
          <p:cNvSpPr/>
          <p:nvPr/>
        </p:nvSpPr>
        <p:spPr>
          <a:xfrm>
            <a:off x="548640" y="1234440"/>
            <a:ext cx="5486400" cy="434340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b_home_pillars.png"/>
          <p:cNvPicPr>
            <a:picLocks noChangeAspect="1"/>
          </p:cNvPicPr>
          <p:nvPr/>
        </p:nvPicPr>
        <p:blipFill>
          <a:blip r:embed="rId2"/>
          <a:stretch>
            <a:fillRect/>
          </a:stretch>
        </p:blipFill>
        <p:spPr>
          <a:xfrm>
            <a:off x="731520" y="1371600"/>
            <a:ext cx="5120640" cy="3200400"/>
          </a:xfrm>
          <a:prstGeom prst="rect">
            <a:avLst/>
          </a:prstGeom>
        </p:spPr>
      </p:pic>
      <p:sp>
        <p:nvSpPr>
          <p:cNvPr id="8" name="TextBox 7"/>
          <p:cNvSpPr txBox="1"/>
          <p:nvPr/>
        </p:nvSpPr>
        <p:spPr>
          <a:xfrm>
            <a:off x="548640" y="4754880"/>
            <a:ext cx="5486400" cy="502920"/>
          </a:xfrm>
          <a:prstGeom prst="rect">
            <a:avLst/>
          </a:prstGeom>
          <a:noFill/>
        </p:spPr>
        <p:txBody>
          <a:bodyPr wrap="square" lIns="73152" rIns="73152" tIns="27432" bIns="27432" anchor="ctr">
            <a:spAutoFit/>
          </a:bodyPr>
          <a:lstStyle/>
          <a:p>
            <a:pPr algn="ctr">
              <a:spcAft>
                <a:spcPts val="0"/>
              </a:spcAft>
            </a:pPr>
            <a:r>
              <a:rPr sz="1400" b="1">
                <a:solidFill>
                  <a:srgbClr val="131A2B"/>
                </a:solidFill>
                <a:latin typeface="Arial"/>
              </a:rPr>
              <a:t>Home: the three pillars and the pipeline</a:t>
            </a:r>
          </a:p>
        </p:txBody>
      </p:sp>
      <p:sp>
        <p:nvSpPr>
          <p:cNvPr id="9" name="Rounded Rectangle 8"/>
          <p:cNvSpPr/>
          <p:nvPr/>
        </p:nvSpPr>
        <p:spPr>
          <a:xfrm>
            <a:off x="6172200" y="1234440"/>
            <a:ext cx="5486400" cy="434340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b_insights_aspects_crop.png"/>
          <p:cNvPicPr>
            <a:picLocks noChangeAspect="1"/>
          </p:cNvPicPr>
          <p:nvPr/>
        </p:nvPicPr>
        <p:blipFill>
          <a:blip r:embed="rId3"/>
          <a:stretch>
            <a:fillRect/>
          </a:stretch>
        </p:blipFill>
        <p:spPr>
          <a:xfrm>
            <a:off x="6675120" y="1371600"/>
            <a:ext cx="4480560" cy="3346443"/>
          </a:xfrm>
          <a:prstGeom prst="rect">
            <a:avLst/>
          </a:prstGeom>
        </p:spPr>
      </p:pic>
      <p:sp>
        <p:nvSpPr>
          <p:cNvPr id="11" name="TextBox 10"/>
          <p:cNvSpPr txBox="1"/>
          <p:nvPr/>
        </p:nvSpPr>
        <p:spPr>
          <a:xfrm>
            <a:off x="6172200" y="4754880"/>
            <a:ext cx="5486400" cy="502920"/>
          </a:xfrm>
          <a:prstGeom prst="rect">
            <a:avLst/>
          </a:prstGeom>
          <a:noFill/>
        </p:spPr>
        <p:txBody>
          <a:bodyPr wrap="square" lIns="73152" rIns="73152" tIns="27432" bIns="27432" anchor="ctr">
            <a:spAutoFit/>
          </a:bodyPr>
          <a:lstStyle/>
          <a:p>
            <a:pPr algn="ctr">
              <a:spcAft>
                <a:spcPts val="0"/>
              </a:spcAft>
            </a:pPr>
            <a:r>
              <a:rPr sz="1400" b="1">
                <a:solidFill>
                  <a:srgbClr val="131A2B"/>
                </a:solidFill>
                <a:latin typeface="Arial"/>
              </a:rPr>
              <a:t>Product Insights: aspects with supporting evidence</a:t>
            </a:r>
          </a:p>
        </p:txBody>
      </p:sp>
      <p:sp>
        <p:nvSpPr>
          <p:cNvPr id="12" name="Rounded Rectangle 11"/>
          <p:cNvSpPr/>
          <p:nvPr/>
        </p:nvSpPr>
        <p:spPr>
          <a:xfrm>
            <a:off x="548640" y="5715000"/>
            <a:ext cx="11109960" cy="594360"/>
          </a:xfrm>
          <a:prstGeom prst="roundRect">
            <a:avLst>
              <a:gd name="adj" fmla="val 5000"/>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715000"/>
            <a:ext cx="10835640" cy="594360"/>
          </a:xfrm>
          <a:prstGeom prst="rect">
            <a:avLst/>
          </a:prstGeom>
          <a:noFill/>
        </p:spPr>
        <p:txBody>
          <a:bodyPr wrap="square" lIns="73152" rIns="73152" tIns="27432" bIns="27432" anchor="ctr">
            <a:spAutoFit/>
          </a:bodyPr>
          <a:lstStyle/>
          <a:p>
            <a:pPr algn="l">
              <a:spcAft>
                <a:spcPts val="0"/>
              </a:spcAft>
            </a:pPr>
            <a:r>
              <a:rPr sz="1600" b="0">
                <a:solidFill>
                  <a:srgbClr val="FFFFFF"/>
                </a:solidFill>
                <a:latin typeface="Arial"/>
              </a:rPr>
              <a:t>Every insight links to the reviews behind it, so users can check the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The dashboard (2 of 2)</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15 / 19</a:t>
            </a:r>
          </a:p>
        </p:txBody>
      </p:sp>
      <p:sp>
        <p:nvSpPr>
          <p:cNvPr id="6" name="Rounded Rectangle 5"/>
          <p:cNvSpPr/>
          <p:nvPr/>
        </p:nvSpPr>
        <p:spPr>
          <a:xfrm>
            <a:off x="548640" y="1280160"/>
            <a:ext cx="3611880" cy="388620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c_insights_trust_crop.png"/>
          <p:cNvPicPr>
            <a:picLocks noChangeAspect="1"/>
          </p:cNvPicPr>
          <p:nvPr/>
        </p:nvPicPr>
        <p:blipFill>
          <a:blip r:embed="rId2"/>
          <a:stretch>
            <a:fillRect/>
          </a:stretch>
        </p:blipFill>
        <p:spPr>
          <a:xfrm>
            <a:off x="621792" y="1371600"/>
            <a:ext cx="3465576" cy="2588371"/>
          </a:xfrm>
          <a:prstGeom prst="rect">
            <a:avLst/>
          </a:prstGeom>
        </p:spPr>
      </p:pic>
      <p:sp>
        <p:nvSpPr>
          <p:cNvPr id="8" name="TextBox 7"/>
          <p:cNvSpPr txBox="1"/>
          <p:nvPr/>
        </p:nvSpPr>
        <p:spPr>
          <a:xfrm>
            <a:off x="548640" y="4114800"/>
            <a:ext cx="3611880" cy="548640"/>
          </a:xfrm>
          <a:prstGeom prst="rect">
            <a:avLst/>
          </a:prstGeom>
          <a:noFill/>
        </p:spPr>
        <p:txBody>
          <a:bodyPr wrap="square" lIns="73152" rIns="73152" tIns="27432" bIns="27432" anchor="ctr">
            <a:spAutoFit/>
          </a:bodyPr>
          <a:lstStyle/>
          <a:p>
            <a:pPr algn="ctr">
              <a:spcAft>
                <a:spcPts val="0"/>
              </a:spcAft>
            </a:pPr>
            <a:r>
              <a:rPr sz="1400" b="1">
                <a:solidFill>
                  <a:srgbClr val="131A2B"/>
                </a:solidFill>
                <a:latin typeface="Arial"/>
              </a:rPr>
              <a:t>Review Trust: slider and flag table</a:t>
            </a:r>
          </a:p>
        </p:txBody>
      </p:sp>
      <p:sp>
        <p:nvSpPr>
          <p:cNvPr id="9" name="Rounded Rectangle 8"/>
          <p:cNvSpPr/>
          <p:nvPr/>
        </p:nvSpPr>
        <p:spPr>
          <a:xfrm>
            <a:off x="4297679" y="1280160"/>
            <a:ext cx="3611880" cy="388620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ask_crop.png"/>
          <p:cNvPicPr>
            <a:picLocks noChangeAspect="1"/>
          </p:cNvPicPr>
          <p:nvPr/>
        </p:nvPicPr>
        <p:blipFill>
          <a:blip r:embed="rId3"/>
          <a:stretch>
            <a:fillRect/>
          </a:stretch>
        </p:blipFill>
        <p:spPr>
          <a:xfrm>
            <a:off x="4370831" y="1371600"/>
            <a:ext cx="3465576" cy="2588371"/>
          </a:xfrm>
          <a:prstGeom prst="rect">
            <a:avLst/>
          </a:prstGeom>
        </p:spPr>
      </p:pic>
      <p:sp>
        <p:nvSpPr>
          <p:cNvPr id="11" name="TextBox 10"/>
          <p:cNvSpPr txBox="1"/>
          <p:nvPr/>
        </p:nvSpPr>
        <p:spPr>
          <a:xfrm>
            <a:off x="4297679" y="4114800"/>
            <a:ext cx="3611880" cy="548640"/>
          </a:xfrm>
          <a:prstGeom prst="rect">
            <a:avLst/>
          </a:prstGeom>
          <a:noFill/>
        </p:spPr>
        <p:txBody>
          <a:bodyPr wrap="square" lIns="73152" rIns="73152" tIns="27432" bIns="27432" anchor="ctr">
            <a:spAutoFit/>
          </a:bodyPr>
          <a:lstStyle/>
          <a:p>
            <a:pPr algn="ctr">
              <a:spcAft>
                <a:spcPts val="0"/>
              </a:spcAft>
            </a:pPr>
            <a:r>
              <a:rPr sz="1400" b="1">
                <a:solidFill>
                  <a:srgbClr val="131A2B"/>
                </a:solidFill>
                <a:latin typeface="Arial"/>
              </a:rPr>
              <a:t>Ask ReviewIQ: answer with evidence</a:t>
            </a:r>
          </a:p>
        </p:txBody>
      </p:sp>
      <p:sp>
        <p:nvSpPr>
          <p:cNvPr id="12" name="Rounded Rectangle 11"/>
          <p:cNvSpPr/>
          <p:nvPr/>
        </p:nvSpPr>
        <p:spPr>
          <a:xfrm>
            <a:off x="8046719" y="1280160"/>
            <a:ext cx="3611880" cy="388620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7d_dl_live_crop.png"/>
          <p:cNvPicPr>
            <a:picLocks noChangeAspect="1"/>
          </p:cNvPicPr>
          <p:nvPr/>
        </p:nvPicPr>
        <p:blipFill>
          <a:blip r:embed="rId4"/>
          <a:stretch>
            <a:fillRect/>
          </a:stretch>
        </p:blipFill>
        <p:spPr>
          <a:xfrm>
            <a:off x="8119871" y="1371600"/>
            <a:ext cx="3465576" cy="2588371"/>
          </a:xfrm>
          <a:prstGeom prst="rect">
            <a:avLst/>
          </a:prstGeom>
        </p:spPr>
      </p:pic>
      <p:sp>
        <p:nvSpPr>
          <p:cNvPr id="14" name="TextBox 13"/>
          <p:cNvSpPr txBox="1"/>
          <p:nvPr/>
        </p:nvSpPr>
        <p:spPr>
          <a:xfrm>
            <a:off x="8046719" y="4114800"/>
            <a:ext cx="3611880" cy="548640"/>
          </a:xfrm>
          <a:prstGeom prst="rect">
            <a:avLst/>
          </a:prstGeom>
          <a:noFill/>
        </p:spPr>
        <p:txBody>
          <a:bodyPr wrap="square" lIns="73152" rIns="73152" tIns="27432" bIns="27432" anchor="ctr">
            <a:spAutoFit/>
          </a:bodyPr>
          <a:lstStyle/>
          <a:p>
            <a:pPr algn="ctr">
              <a:spcAft>
                <a:spcPts val="0"/>
              </a:spcAft>
            </a:pPr>
            <a:r>
              <a:rPr sz="1400" b="1">
                <a:solidFill>
                  <a:srgbClr val="131A2B"/>
                </a:solidFill>
                <a:latin typeface="Arial"/>
              </a:rPr>
              <a:t>Deep Learning Lab: live classifier</a:t>
            </a:r>
          </a:p>
        </p:txBody>
      </p:sp>
      <p:sp>
        <p:nvSpPr>
          <p:cNvPr id="15" name="Rounded Rectangle 14"/>
          <p:cNvSpPr/>
          <p:nvPr/>
        </p:nvSpPr>
        <p:spPr>
          <a:xfrm>
            <a:off x="548640" y="5394960"/>
            <a:ext cx="11109960" cy="777240"/>
          </a:xfrm>
          <a:prstGeom prst="roundRect">
            <a:avLst>
              <a:gd name="adj" fmla="val 5000"/>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394960"/>
            <a:ext cx="10835640" cy="777240"/>
          </a:xfrm>
          <a:prstGeom prst="rect">
            <a:avLst/>
          </a:prstGeom>
          <a:noFill/>
        </p:spPr>
        <p:txBody>
          <a:bodyPr wrap="square" lIns="73152" rIns="73152" tIns="27432" bIns="27432" anchor="ctr">
            <a:spAutoFit/>
          </a:bodyPr>
          <a:lstStyle/>
          <a:p>
            <a:pPr algn="l">
              <a:spcAft>
                <a:spcPts val="0"/>
              </a:spcAft>
            </a:pPr>
            <a:r>
              <a:rPr sz="1700" b="0">
                <a:solidFill>
                  <a:srgbClr val="FFFFFF"/>
                </a:solidFill>
                <a:latin typeface="Arial"/>
              </a:rPr>
              <a:t>Live classifier: the three models can disagree on a mixed review, which is exactly why aspect-level analysis exists.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Problems we found and fixed</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16 / 19</a:t>
            </a:r>
          </a:p>
        </p:txBody>
      </p:sp>
      <p:sp>
        <p:nvSpPr>
          <p:cNvPr id="6" name="Rounded Rectangle 5"/>
          <p:cNvSpPr/>
          <p:nvPr/>
        </p:nvSpPr>
        <p:spPr>
          <a:xfrm>
            <a:off x="548640" y="1280160"/>
            <a:ext cx="5486400" cy="1481328"/>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17319"/>
            <a:ext cx="82296" cy="120700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53312"/>
            <a:ext cx="5212080" cy="45720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Backwards trust features</a:t>
            </a:r>
          </a:p>
        </p:txBody>
      </p:sp>
      <p:sp>
        <p:nvSpPr>
          <p:cNvPr id="9" name="TextBox 8"/>
          <p:cNvSpPr txBox="1"/>
          <p:nvPr/>
        </p:nvSpPr>
        <p:spPr>
          <a:xfrm>
            <a:off x="749808" y="1828800"/>
            <a:ext cx="5212080" cy="914400"/>
          </a:xfrm>
          <a:prstGeom prst="rect">
            <a:avLst/>
          </a:prstGeom>
          <a:noFill/>
        </p:spPr>
        <p:txBody>
          <a:bodyPr wrap="square" lIns="73152" rIns="73152" tIns="27432" bIns="27432" anchor="t">
            <a:spAutoFit/>
          </a:bodyPr>
          <a:lstStyle/>
          <a:p>
            <a:pPr algn="l">
              <a:spcAft>
                <a:spcPts val="0"/>
              </a:spcAft>
            </a:pPr>
            <a:r>
              <a:rPr sz="1400" b="0">
                <a:solidFill>
                  <a:srgbClr val="5B6475"/>
                </a:solidFill>
                <a:latin typeface="Arial"/>
              </a:rPr>
              <a:t>Raw length and rating flagged long, negative reviews. Switched to directional features and account volume.</a:t>
            </a:r>
          </a:p>
        </p:txBody>
      </p:sp>
      <p:sp>
        <p:nvSpPr>
          <p:cNvPr id="10" name="Rounded Rectangle 9"/>
          <p:cNvSpPr/>
          <p:nvPr/>
        </p:nvSpPr>
        <p:spPr>
          <a:xfrm>
            <a:off x="6172200" y="1280160"/>
            <a:ext cx="5486400" cy="1481328"/>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417319"/>
            <a:ext cx="82296" cy="120700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353312"/>
            <a:ext cx="5212080" cy="45720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Ungrounded answers</a:t>
            </a:r>
          </a:p>
        </p:txBody>
      </p:sp>
      <p:sp>
        <p:nvSpPr>
          <p:cNvPr id="13" name="TextBox 12"/>
          <p:cNvSpPr txBox="1"/>
          <p:nvPr/>
        </p:nvSpPr>
        <p:spPr>
          <a:xfrm>
            <a:off x="6373368" y="1828800"/>
            <a:ext cx="5212080" cy="914400"/>
          </a:xfrm>
          <a:prstGeom prst="rect">
            <a:avLst/>
          </a:prstGeom>
          <a:noFill/>
        </p:spPr>
        <p:txBody>
          <a:bodyPr wrap="square" lIns="73152" rIns="73152" tIns="27432" bIns="27432" anchor="t">
            <a:spAutoFit/>
          </a:bodyPr>
          <a:lstStyle/>
          <a:p>
            <a:pPr algn="l">
              <a:spcAft>
                <a:spcPts val="0"/>
              </a:spcAft>
            </a:pPr>
            <a:r>
              <a:rPr sz="1400" b="0">
                <a:solidFill>
                  <a:srgbClr val="5B6475"/>
                </a:solidFill>
                <a:latin typeface="Arial"/>
              </a:rPr>
              <a:t>A warranty question got a confident "No" at low similarity. Added the similarity floor.</a:t>
            </a:r>
          </a:p>
        </p:txBody>
      </p:sp>
      <p:sp>
        <p:nvSpPr>
          <p:cNvPr id="14" name="Rounded Rectangle 13"/>
          <p:cNvSpPr/>
          <p:nvPr/>
        </p:nvSpPr>
        <p:spPr>
          <a:xfrm>
            <a:off x="548640" y="2907791"/>
            <a:ext cx="5486400" cy="1481328"/>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1"/>
            <a:ext cx="82296" cy="120700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2980944"/>
            <a:ext cx="5212080" cy="45720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Slow, dimmed pages</a:t>
            </a:r>
          </a:p>
        </p:txBody>
      </p:sp>
      <p:sp>
        <p:nvSpPr>
          <p:cNvPr id="17" name="TextBox 16"/>
          <p:cNvSpPr txBox="1"/>
          <p:nvPr/>
        </p:nvSpPr>
        <p:spPr>
          <a:xfrm>
            <a:off x="749808" y="3456432"/>
            <a:ext cx="5212080" cy="914400"/>
          </a:xfrm>
          <a:prstGeom prst="rect">
            <a:avLst/>
          </a:prstGeom>
          <a:noFill/>
        </p:spPr>
        <p:txBody>
          <a:bodyPr wrap="square" lIns="73152" rIns="73152" tIns="27432" bIns="27432" anchor="t">
            <a:spAutoFit/>
          </a:bodyPr>
          <a:lstStyle/>
          <a:p>
            <a:pPr algn="l">
              <a:spcAft>
                <a:spcPts val="0"/>
              </a:spcAft>
            </a:pPr>
            <a:r>
              <a:rPr sz="1400" b="0">
                <a:solidFill>
                  <a:srgbClr val="5B6475"/>
                </a:solidFill>
                <a:latin typeface="Arial"/>
              </a:rPr>
              <a:t>VADER features for 50,000 reviews were rebuilt on every click (23 s). Cached.</a:t>
            </a:r>
          </a:p>
        </p:txBody>
      </p:sp>
      <p:sp>
        <p:nvSpPr>
          <p:cNvPr id="18" name="Rounded Rectangle 17"/>
          <p:cNvSpPr/>
          <p:nvPr/>
        </p:nvSpPr>
        <p:spPr>
          <a:xfrm>
            <a:off x="6172200" y="2907791"/>
            <a:ext cx="5486400" cy="1481328"/>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044951"/>
            <a:ext cx="82296" cy="120700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3368" y="2980944"/>
            <a:ext cx="5212080" cy="45720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Missing product images</a:t>
            </a:r>
          </a:p>
        </p:txBody>
      </p:sp>
      <p:sp>
        <p:nvSpPr>
          <p:cNvPr id="21" name="TextBox 20"/>
          <p:cNvSpPr txBox="1"/>
          <p:nvPr/>
        </p:nvSpPr>
        <p:spPr>
          <a:xfrm>
            <a:off x="6373368" y="3456432"/>
            <a:ext cx="5212080" cy="914400"/>
          </a:xfrm>
          <a:prstGeom prst="rect">
            <a:avLst/>
          </a:prstGeom>
          <a:noFill/>
        </p:spPr>
        <p:txBody>
          <a:bodyPr wrap="square" lIns="73152" rIns="73152" tIns="27432" bIns="27432" anchor="t">
            <a:spAutoFit/>
          </a:bodyPr>
          <a:lstStyle/>
          <a:p>
            <a:pPr algn="l">
              <a:spcAft>
                <a:spcPts val="0"/>
              </a:spcAft>
            </a:pPr>
            <a:r>
              <a:rPr sz="1400" b="0">
                <a:solidFill>
                  <a:srgbClr val="5B6475"/>
                </a:solidFill>
                <a:latin typeface="Arial"/>
              </a:rPr>
              <a:t>20 images used an unread field and the fallback link was blocked. Fixed the parser, built-in fallback.</a:t>
            </a:r>
          </a:p>
        </p:txBody>
      </p:sp>
      <p:sp>
        <p:nvSpPr>
          <p:cNvPr id="22" name="Rounded Rectangle 21"/>
          <p:cNvSpPr/>
          <p:nvPr/>
        </p:nvSpPr>
        <p:spPr>
          <a:xfrm>
            <a:off x="548640" y="4535424"/>
            <a:ext cx="5486400" cy="1481328"/>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672584"/>
            <a:ext cx="82296" cy="120700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4608576"/>
            <a:ext cx="5212080" cy="45720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Ignored sidebar clicks</a:t>
            </a:r>
          </a:p>
        </p:txBody>
      </p:sp>
      <p:sp>
        <p:nvSpPr>
          <p:cNvPr id="25" name="TextBox 24"/>
          <p:cNvSpPr txBox="1"/>
          <p:nvPr/>
        </p:nvSpPr>
        <p:spPr>
          <a:xfrm>
            <a:off x="749808" y="5084064"/>
            <a:ext cx="5212080" cy="914400"/>
          </a:xfrm>
          <a:prstGeom prst="rect">
            <a:avLst/>
          </a:prstGeom>
          <a:noFill/>
        </p:spPr>
        <p:txBody>
          <a:bodyPr wrap="square" lIns="73152" rIns="73152" tIns="27432" bIns="27432" anchor="t">
            <a:spAutoFit/>
          </a:bodyPr>
          <a:lstStyle/>
          <a:p>
            <a:pPr algn="l">
              <a:spcAft>
                <a:spcPts val="0"/>
              </a:spcAft>
            </a:pPr>
            <a:r>
              <a:rPr sz="1400" b="0">
                <a:solidFill>
                  <a:srgbClr val="5B6475"/>
                </a:solidFill>
                <a:latin typeface="Arial"/>
              </a:rPr>
              <a:t>The radio's identity changed each page, so the first click was dropped. Stable key and callbacks.</a:t>
            </a:r>
          </a:p>
        </p:txBody>
      </p:sp>
      <p:sp>
        <p:nvSpPr>
          <p:cNvPr id="26" name="Rounded Rectangle 25"/>
          <p:cNvSpPr/>
          <p:nvPr/>
        </p:nvSpPr>
        <p:spPr>
          <a:xfrm>
            <a:off x="6172200" y="4535424"/>
            <a:ext cx="5486400" cy="1481328"/>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4672584"/>
            <a:ext cx="82296" cy="120700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4608576"/>
            <a:ext cx="5212080" cy="457200"/>
          </a:xfrm>
          <a:prstGeom prst="rect">
            <a:avLst/>
          </a:prstGeom>
          <a:noFill/>
        </p:spPr>
        <p:txBody>
          <a:bodyPr wrap="square" lIns="73152" rIns="73152" tIns="27432" bIns="27432" anchor="ctr">
            <a:spAutoFit/>
          </a:bodyPr>
          <a:lstStyle/>
          <a:p>
            <a:pPr algn="l">
              <a:spcAft>
                <a:spcPts val="0"/>
              </a:spcAft>
            </a:pPr>
            <a:r>
              <a:rPr sz="1800" b="1">
                <a:solidFill>
                  <a:srgbClr val="131A2B"/>
                </a:solidFill>
                <a:latin typeface="Arial"/>
              </a:rPr>
              <a:t>Duplicate navigation</a:t>
            </a:r>
          </a:p>
        </p:txBody>
      </p:sp>
      <p:sp>
        <p:nvSpPr>
          <p:cNvPr id="29" name="TextBox 28"/>
          <p:cNvSpPr txBox="1"/>
          <p:nvPr/>
        </p:nvSpPr>
        <p:spPr>
          <a:xfrm>
            <a:off x="6373368" y="5084064"/>
            <a:ext cx="5212080" cy="914400"/>
          </a:xfrm>
          <a:prstGeom prst="rect">
            <a:avLst/>
          </a:prstGeom>
          <a:noFill/>
        </p:spPr>
        <p:txBody>
          <a:bodyPr wrap="square" lIns="73152" rIns="73152" tIns="27432" bIns="27432" anchor="t">
            <a:spAutoFit/>
          </a:bodyPr>
          <a:lstStyle/>
          <a:p>
            <a:pPr algn="l">
              <a:spcAft>
                <a:spcPts val="0"/>
              </a:spcAft>
            </a:pPr>
            <a:r>
              <a:rPr sz="1400" b="0">
                <a:solidFill>
                  <a:srgbClr val="5B6475"/>
                </a:solidFill>
                <a:latin typeface="Arial"/>
              </a:rPr>
              <a:t>Streamlit read a folder named pages as its own menu. Renamed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Limitations and future scope</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17 / 19</a:t>
            </a:r>
          </a:p>
        </p:txBody>
      </p:sp>
      <p:sp>
        <p:nvSpPr>
          <p:cNvPr id="6" name="Rounded Rectangle 5"/>
          <p:cNvSpPr/>
          <p:nvPr/>
        </p:nvSpPr>
        <p:spPr>
          <a:xfrm>
            <a:off x="548640" y="1280160"/>
            <a:ext cx="548640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89888"/>
            <a:ext cx="82296" cy="384048"/>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353312"/>
            <a:ext cx="521208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Limitations</a:t>
            </a:r>
          </a:p>
        </p:txBody>
      </p:sp>
      <p:sp>
        <p:nvSpPr>
          <p:cNvPr id="9" name="TextBox 8"/>
          <p:cNvSpPr txBox="1"/>
          <p:nvPr/>
        </p:nvSpPr>
        <p:spPr>
          <a:xfrm>
            <a:off x="676656" y="1901952"/>
            <a:ext cx="5230368" cy="4151376"/>
          </a:xfrm>
          <a:prstGeom prst="rect">
            <a:avLst/>
          </a:prstGeom>
          <a:noFill/>
        </p:spPr>
        <p:txBody>
          <a:bodyPr wrap="square" lIns="73152" rIns="73152" tIns="27432" bIns="27432" anchor="t">
            <a:spAutoFit/>
          </a:bodyPr>
          <a:lstStyle/>
          <a:p>
            <a:pPr algn="l" marL="237490" indent="-237490">
              <a:spcAft>
                <a:spcPts val="600"/>
              </a:spcAft>
              <a:buChar char="•"/>
            </a:pPr>
            <a:r>
              <a:rPr sz="1700" b="0">
                <a:solidFill>
                  <a:srgbClr val="1F2937"/>
                </a:solidFill>
                <a:latin typeface="Arial"/>
              </a:rPr>
              <a:t>Labels come from star ratings, so some are noisy</a:t>
            </a:r>
          </a:p>
          <a:p>
            <a:pPr algn="l" marL="237490" indent="-237490">
              <a:spcAft>
                <a:spcPts val="600"/>
              </a:spcAft>
              <a:buChar char="•"/>
            </a:pPr>
            <a:r>
              <a:rPr sz="1700" b="0">
                <a:solidFill>
                  <a:srgbClr val="1F2937"/>
                </a:solidFill>
                <a:latin typeface="Arial"/>
              </a:rPr>
              <a:t>Sample is a reviewer-grouped block of one English category</a:t>
            </a:r>
          </a:p>
          <a:p>
            <a:pPr algn="l" marL="237490" indent="-237490">
              <a:spcAft>
                <a:spcPts val="600"/>
              </a:spcAft>
              <a:buChar char="•"/>
            </a:pPr>
            <a:r>
              <a:rPr sz="1700" b="0">
                <a:solidFill>
                  <a:srgbClr val="1F2937"/>
                </a:solidFill>
                <a:latin typeface="Arial"/>
              </a:rPr>
              <a:t>DistilBERT saw one-sixth of the LSTM's data and no class weights</a:t>
            </a:r>
          </a:p>
          <a:p>
            <a:pPr algn="l" marL="237490" indent="-237490">
              <a:spcAft>
                <a:spcPts val="600"/>
              </a:spcAft>
              <a:buChar char="•"/>
            </a:pPr>
            <a:r>
              <a:rPr sz="1700" b="0">
                <a:solidFill>
                  <a:srgbClr val="1F2937"/>
                </a:solidFill>
                <a:latin typeface="Arial"/>
              </a:rPr>
              <a:t>Aspects use keyword lexicons: implicit aspects and sarcasm are missed</a:t>
            </a:r>
          </a:p>
          <a:p>
            <a:pPr algn="l" marL="237490" indent="-237490">
              <a:spcAft>
                <a:spcPts val="600"/>
              </a:spcAft>
              <a:buChar char="•"/>
            </a:pPr>
            <a:r>
              <a:rPr sz="1700" b="0">
                <a:solidFill>
                  <a:srgbClr val="1F2937"/>
                </a:solidFill>
                <a:latin typeface="Arial"/>
              </a:rPr>
              <a:t>Flagged reviews are anomalies, not confirmed fakes</a:t>
            </a:r>
          </a:p>
          <a:p>
            <a:pPr algn="l" marL="237490" indent="-237490">
              <a:spcAft>
                <a:spcPts val="600"/>
              </a:spcAft>
              <a:buChar char="•"/>
            </a:pPr>
            <a:r>
              <a:rPr sz="1700" b="0">
                <a:solidFill>
                  <a:srgbClr val="1F2937"/>
                </a:solidFill>
                <a:latin typeface="Arial"/>
              </a:rPr>
              <a:t>Answer faithfulness was not measured</a:t>
            </a:r>
          </a:p>
        </p:txBody>
      </p:sp>
      <p:sp>
        <p:nvSpPr>
          <p:cNvPr id="10" name="Rounded Rectangle 9"/>
          <p:cNvSpPr/>
          <p:nvPr/>
        </p:nvSpPr>
        <p:spPr>
          <a:xfrm>
            <a:off x="6172200" y="1280160"/>
            <a:ext cx="5486400" cy="4846320"/>
          </a:xfrm>
          <a:prstGeom prst="roundRect">
            <a:avLst>
              <a:gd name="adj" fmla="val 5000"/>
            </a:avLst>
          </a:prstGeom>
          <a:solidFill>
            <a:srgbClr val="FFFF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389888"/>
            <a:ext cx="82296" cy="3840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353312"/>
            <a:ext cx="5212080" cy="502920"/>
          </a:xfrm>
          <a:prstGeom prst="rect">
            <a:avLst/>
          </a:prstGeom>
          <a:noFill/>
        </p:spPr>
        <p:txBody>
          <a:bodyPr wrap="square" lIns="73152" rIns="73152" tIns="27432" bIns="27432" anchor="ctr">
            <a:spAutoFit/>
          </a:bodyPr>
          <a:lstStyle/>
          <a:p>
            <a:pPr algn="l">
              <a:spcAft>
                <a:spcPts val="0"/>
              </a:spcAft>
            </a:pPr>
            <a:r>
              <a:rPr sz="2000" b="1">
                <a:solidFill>
                  <a:srgbClr val="131A2B"/>
                </a:solidFill>
                <a:latin typeface="Arial"/>
              </a:rPr>
              <a:t>Future scope</a:t>
            </a:r>
          </a:p>
        </p:txBody>
      </p:sp>
      <p:sp>
        <p:nvSpPr>
          <p:cNvPr id="13" name="TextBox 12"/>
          <p:cNvSpPr txBox="1"/>
          <p:nvPr/>
        </p:nvSpPr>
        <p:spPr>
          <a:xfrm>
            <a:off x="6300216" y="1901952"/>
            <a:ext cx="5230368" cy="4151376"/>
          </a:xfrm>
          <a:prstGeom prst="rect">
            <a:avLst/>
          </a:prstGeom>
          <a:noFill/>
        </p:spPr>
        <p:txBody>
          <a:bodyPr wrap="square" lIns="73152" rIns="73152" tIns="27432" bIns="27432" anchor="t">
            <a:spAutoFit/>
          </a:bodyPr>
          <a:lstStyle/>
          <a:p>
            <a:pPr algn="l" marL="237490" indent="-237490">
              <a:spcAft>
                <a:spcPts val="600"/>
              </a:spcAft>
              <a:buChar char="•"/>
            </a:pPr>
            <a:r>
              <a:rPr sz="1700" b="0">
                <a:solidFill>
                  <a:srgbClr val="1F2937"/>
                </a:solidFill>
                <a:latin typeface="Arial"/>
              </a:rPr>
              <a:t>Train DistilBERT on the full data with matched class weights</a:t>
            </a:r>
          </a:p>
          <a:p>
            <a:pPr algn="l" marL="237490" indent="-237490">
              <a:spcAft>
                <a:spcPts val="600"/>
              </a:spcAft>
              <a:buChar char="•"/>
            </a:pPr>
            <a:r>
              <a:rPr sz="1700" b="0">
                <a:solidFill>
                  <a:srgbClr val="1F2937"/>
                </a:solidFill>
                <a:latin typeface="Arial"/>
              </a:rPr>
              <a:t>Learned aspect extraction instead of keyword lists</a:t>
            </a:r>
          </a:p>
          <a:p>
            <a:pPr algn="l" marL="237490" indent="-237490">
              <a:spcAft>
                <a:spcPts val="600"/>
              </a:spcAft>
              <a:buChar char="•"/>
            </a:pPr>
            <a:r>
              <a:rPr sz="1700" b="0">
                <a:solidFill>
                  <a:srgbClr val="1F2937"/>
                </a:solidFill>
                <a:latin typeface="Arial"/>
              </a:rPr>
              <a:t>Human-annotated neutral and suspicious subsets</a:t>
            </a:r>
          </a:p>
          <a:p>
            <a:pPr algn="l" marL="237490" indent="-237490">
              <a:spcAft>
                <a:spcPts val="600"/>
              </a:spcAft>
              <a:buChar char="•"/>
            </a:pPr>
            <a:r>
              <a:rPr sz="1700" b="0">
                <a:solidFill>
                  <a:srgbClr val="1F2937"/>
                </a:solidFill>
                <a:latin typeface="Arial"/>
              </a:rPr>
              <a:t>Random sampling across several categories and languages</a:t>
            </a:r>
          </a:p>
          <a:p>
            <a:pPr algn="l" marL="237490" indent="-237490">
              <a:spcAft>
                <a:spcPts val="600"/>
              </a:spcAft>
              <a:buChar char="•"/>
            </a:pPr>
            <a:r>
              <a:rPr sz="1700" b="0">
                <a:solidFill>
                  <a:srgbClr val="1F2937"/>
                </a:solidFill>
                <a:latin typeface="Arial"/>
              </a:rPr>
              <a:t>Evaluate answer faithfulness, try larger generators</a:t>
            </a:r>
          </a:p>
          <a:p>
            <a:pPr algn="l" marL="237490" indent="-237490">
              <a:spcAft>
                <a:spcPts val="600"/>
              </a:spcAft>
              <a:buChar char="•"/>
            </a:pPr>
            <a:r>
              <a:rPr sz="1700" b="0">
                <a:solidFill>
                  <a:srgbClr val="1F2937"/>
                </a:solidFill>
                <a:latin typeface="Arial"/>
              </a:rPr>
              <a:t>Seller view that tracks complaint areas over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84048"/>
            <a:ext cx="109728" cy="566928"/>
          </a:xfrm>
          <a:prstGeom prst="rect">
            <a:avLst/>
          </a:prstGeom>
          <a:solidFill>
            <a:srgbClr val="E862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4320"/>
            <a:ext cx="10789920" cy="777240"/>
          </a:xfrm>
          <a:prstGeom prst="rect">
            <a:avLst/>
          </a:prstGeom>
          <a:noFill/>
        </p:spPr>
        <p:txBody>
          <a:bodyPr wrap="square" anchor="ctr">
            <a:spAutoFit/>
          </a:bodyPr>
          <a:lstStyle/>
          <a:p>
            <a:r>
              <a:rPr sz="3000" b="1">
                <a:solidFill>
                  <a:srgbClr val="131A2B"/>
                </a:solidFill>
                <a:latin typeface="Arial"/>
              </a:rPr>
              <a:t>Conclusion</a:t>
            </a:r>
          </a:p>
        </p:txBody>
      </p:sp>
      <p:sp>
        <p:nvSpPr>
          <p:cNvPr id="4" name="TextBox 3"/>
          <p:cNvSpPr txBox="1"/>
          <p:nvPr/>
        </p:nvSpPr>
        <p:spPr>
          <a:xfrm>
            <a:off x="548640" y="6446520"/>
            <a:ext cx="8229600" cy="320040"/>
          </a:xfrm>
          <a:prstGeom prst="rect">
            <a:avLst/>
          </a:prstGeom>
          <a:noFill/>
        </p:spPr>
        <p:txBody>
          <a:bodyPr wrap="none">
            <a:spAutoFit/>
          </a:bodyPr>
          <a:lstStyle/>
          <a:p>
            <a:r>
              <a:rPr sz="1100" b="0">
                <a:solidFill>
                  <a:srgbClr val="5B6475"/>
                </a:solidFill>
                <a:latin typeface="Arial"/>
              </a:rPr>
              <a:t>ReviewIQ  |  Vidyalankar Institute of Technology</a:t>
            </a:r>
          </a:p>
        </p:txBody>
      </p:sp>
      <p:sp>
        <p:nvSpPr>
          <p:cNvPr id="5" name="TextBox 4"/>
          <p:cNvSpPr txBox="1"/>
          <p:nvPr/>
        </p:nvSpPr>
        <p:spPr>
          <a:xfrm>
            <a:off x="10698480" y="6446520"/>
            <a:ext cx="1005840" cy="320040"/>
          </a:xfrm>
          <a:prstGeom prst="rect">
            <a:avLst/>
          </a:prstGeom>
          <a:noFill/>
        </p:spPr>
        <p:txBody>
          <a:bodyPr wrap="none">
            <a:spAutoFit/>
          </a:bodyPr>
          <a:lstStyle/>
          <a:p>
            <a:pPr algn="r"/>
            <a:r>
              <a:rPr sz="1100" b="0">
                <a:solidFill>
                  <a:srgbClr val="5B6475"/>
                </a:solidFill>
                <a:latin typeface="Arial"/>
              </a:rPr>
              <a:t>18 / 19</a:t>
            </a:r>
          </a:p>
        </p:txBody>
      </p:sp>
      <p:sp>
        <p:nvSpPr>
          <p:cNvPr id="6" name="Rounded Rectangle 5"/>
          <p:cNvSpPr/>
          <p:nvPr/>
        </p:nvSpPr>
        <p:spPr>
          <a:xfrm>
            <a:off x="548640" y="1280160"/>
            <a:ext cx="3611880" cy="1737360"/>
          </a:xfrm>
          <a:prstGeom prst="roundRect">
            <a:avLst>
              <a:gd name="adj" fmla="val 5000"/>
            </a:avLst>
          </a:prstGeom>
          <a:solidFill>
            <a:srgbClr val="FFF4EC"/>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53312"/>
            <a:ext cx="3611880" cy="955547"/>
          </a:xfrm>
          <a:prstGeom prst="rect">
            <a:avLst/>
          </a:prstGeom>
          <a:noFill/>
        </p:spPr>
        <p:txBody>
          <a:bodyPr wrap="square" lIns="73152" rIns="73152" tIns="27432" bIns="27432" anchor="ctr">
            <a:spAutoFit/>
          </a:bodyPr>
          <a:lstStyle/>
          <a:p>
            <a:pPr algn="ctr">
              <a:spcAft>
                <a:spcPts val="0"/>
              </a:spcAft>
            </a:pPr>
            <a:r>
              <a:rPr sz="3400" b="1">
                <a:solidFill>
                  <a:srgbClr val="E8622C"/>
                </a:solidFill>
                <a:latin typeface="Arial"/>
              </a:rPr>
              <a:t>0.718</a:t>
            </a:r>
          </a:p>
        </p:txBody>
      </p:sp>
      <p:sp>
        <p:nvSpPr>
          <p:cNvPr id="8" name="TextBox 7"/>
          <p:cNvSpPr txBox="1"/>
          <p:nvPr/>
        </p:nvSpPr>
        <p:spPr>
          <a:xfrm>
            <a:off x="640080" y="2235708"/>
            <a:ext cx="3429000" cy="729691"/>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best macro-F1 (BiLSTM), 88.8% accuracy</a:t>
            </a:r>
          </a:p>
        </p:txBody>
      </p:sp>
      <p:sp>
        <p:nvSpPr>
          <p:cNvPr id="9" name="Rounded Rectangle 8"/>
          <p:cNvSpPr/>
          <p:nvPr/>
        </p:nvSpPr>
        <p:spPr>
          <a:xfrm>
            <a:off x="4297680" y="1280160"/>
            <a:ext cx="3611880" cy="1737360"/>
          </a:xfrm>
          <a:prstGeom prst="roundRect">
            <a:avLst>
              <a:gd name="adj" fmla="val 5000"/>
            </a:avLst>
          </a:prstGeom>
          <a:solidFill>
            <a:srgbClr val="EFF6FF"/>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353312"/>
            <a:ext cx="3611880" cy="955547"/>
          </a:xfrm>
          <a:prstGeom prst="rect">
            <a:avLst/>
          </a:prstGeom>
          <a:noFill/>
        </p:spPr>
        <p:txBody>
          <a:bodyPr wrap="square" lIns="73152" rIns="73152" tIns="27432" bIns="27432" anchor="ctr">
            <a:spAutoFit/>
          </a:bodyPr>
          <a:lstStyle/>
          <a:p>
            <a:pPr algn="ctr">
              <a:spcAft>
                <a:spcPts val="0"/>
              </a:spcAft>
            </a:pPr>
            <a:r>
              <a:rPr sz="3400" b="1">
                <a:solidFill>
                  <a:srgbClr val="2563EB"/>
                </a:solidFill>
                <a:latin typeface="Arial"/>
              </a:rPr>
              <a:t>57x</a:t>
            </a:r>
          </a:p>
        </p:txBody>
      </p:sp>
      <p:sp>
        <p:nvSpPr>
          <p:cNvPr id="11" name="TextBox 10"/>
          <p:cNvSpPr txBox="1"/>
          <p:nvPr/>
        </p:nvSpPr>
        <p:spPr>
          <a:xfrm>
            <a:off x="4389120" y="2235708"/>
            <a:ext cx="3429000" cy="729691"/>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faster than DistilBERT on CPU</a:t>
            </a:r>
          </a:p>
        </p:txBody>
      </p:sp>
      <p:sp>
        <p:nvSpPr>
          <p:cNvPr id="12" name="Rounded Rectangle 11"/>
          <p:cNvSpPr/>
          <p:nvPr/>
        </p:nvSpPr>
        <p:spPr>
          <a:xfrm>
            <a:off x="8046720" y="1280160"/>
            <a:ext cx="3611880" cy="1737360"/>
          </a:xfrm>
          <a:prstGeom prst="roundRect">
            <a:avLst>
              <a:gd name="adj" fmla="val 5000"/>
            </a:avLst>
          </a:prstGeom>
          <a:solidFill>
            <a:srgbClr val="F0FDFA"/>
          </a:solidFill>
          <a:ln w="12700">
            <a:solidFill>
              <a:srgbClr val="E4E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353312"/>
            <a:ext cx="3611880" cy="955547"/>
          </a:xfrm>
          <a:prstGeom prst="rect">
            <a:avLst/>
          </a:prstGeom>
          <a:noFill/>
        </p:spPr>
        <p:txBody>
          <a:bodyPr wrap="square" lIns="73152" rIns="73152" tIns="27432" bIns="27432" anchor="ctr">
            <a:spAutoFit/>
          </a:bodyPr>
          <a:lstStyle/>
          <a:p>
            <a:pPr algn="ctr">
              <a:spcAft>
                <a:spcPts val="0"/>
              </a:spcAft>
            </a:pPr>
            <a:r>
              <a:rPr sz="3400" b="1">
                <a:solidFill>
                  <a:srgbClr val="0F766E"/>
                </a:solidFill>
                <a:latin typeface="Arial"/>
              </a:rPr>
              <a:t>20.2%</a:t>
            </a:r>
          </a:p>
        </p:txBody>
      </p:sp>
      <p:sp>
        <p:nvSpPr>
          <p:cNvPr id="14" name="TextBox 13"/>
          <p:cNvSpPr txBox="1"/>
          <p:nvPr/>
        </p:nvSpPr>
        <p:spPr>
          <a:xfrm>
            <a:off x="8138160" y="2235708"/>
            <a:ext cx="3429000" cy="729691"/>
          </a:xfrm>
          <a:prstGeom prst="rect">
            <a:avLst/>
          </a:prstGeom>
          <a:noFill/>
        </p:spPr>
        <p:txBody>
          <a:bodyPr wrap="square" lIns="73152" rIns="73152" tIns="27432" bIns="27432" anchor="t">
            <a:spAutoFit/>
          </a:bodyPr>
          <a:lstStyle/>
          <a:p>
            <a:pPr algn="ctr">
              <a:spcAft>
                <a:spcPts val="0"/>
              </a:spcAft>
            </a:pPr>
            <a:r>
              <a:rPr sz="1300" b="0">
                <a:solidFill>
                  <a:srgbClr val="5B6475"/>
                </a:solidFill>
                <a:latin typeface="Arial"/>
              </a:rPr>
              <a:t>of battery mentions are negative: top complaint</a:t>
            </a:r>
          </a:p>
        </p:txBody>
      </p:sp>
      <p:sp>
        <p:nvSpPr>
          <p:cNvPr id="15" name="TextBox 14"/>
          <p:cNvSpPr txBox="1"/>
          <p:nvPr/>
        </p:nvSpPr>
        <p:spPr>
          <a:xfrm>
            <a:off x="548640" y="3291840"/>
            <a:ext cx="11064240" cy="2834640"/>
          </a:xfrm>
          <a:prstGeom prst="rect">
            <a:avLst/>
          </a:prstGeom>
          <a:noFill/>
        </p:spPr>
        <p:txBody>
          <a:bodyPr wrap="square" lIns="73152" rIns="73152" tIns="27432" bIns="27432" anchor="t">
            <a:spAutoFit/>
          </a:bodyPr>
          <a:lstStyle/>
          <a:p>
            <a:pPr algn="l" marL="265430" indent="-265430">
              <a:spcAft>
                <a:spcPts val="800"/>
              </a:spcAft>
              <a:buChar char="•"/>
            </a:pPr>
            <a:r>
              <a:rPr sz="1900" b="0">
                <a:solidFill>
                  <a:srgbClr val="1F2937"/>
                </a:solidFill>
                <a:latin typeface="Arial"/>
              </a:rPr>
              <a:t>NLP, deep learning and advanced ML on </a:t>
            </a:r>
            <a:r>
              <a:rPr sz="1900" b="1">
                <a:solidFill>
                  <a:srgbClr val="1F2937"/>
                </a:solidFill>
                <a:latin typeface="Arial"/>
              </a:rPr>
              <a:t>one corpus</a:t>
            </a:r>
            <a:r>
              <a:rPr sz="1900" b="0">
                <a:solidFill>
                  <a:srgbClr val="1F2937"/>
                </a:solidFill>
                <a:latin typeface="Arial"/>
              </a:rPr>
              <a:t> give buyers evidence-linked insight and sellers a ranked list of problems.</a:t>
            </a:r>
          </a:p>
          <a:p>
            <a:pPr algn="l" marL="265430" indent="-265430">
              <a:spcAft>
                <a:spcPts val="800"/>
              </a:spcAft>
              <a:buChar char="•"/>
            </a:pPr>
            <a:r>
              <a:rPr sz="1900" b="0">
                <a:solidFill>
                  <a:srgbClr val="1F2937"/>
                </a:solidFill>
                <a:latin typeface="Arial"/>
              </a:rPr>
              <a:t>A BiLSTM trained from scratch </a:t>
            </a:r>
            <a:r>
              <a:rPr sz="1900" b="1">
                <a:solidFill>
                  <a:srgbClr val="1F2937"/>
                </a:solidFill>
                <a:latin typeface="Arial"/>
              </a:rPr>
              <a:t>matches DistilBERT's accuracy</a:t>
            </a:r>
            <a:r>
              <a:rPr sz="1900" b="0">
                <a:solidFill>
                  <a:srgbClr val="1F2937"/>
                </a:solidFill>
                <a:latin typeface="Arial"/>
              </a:rPr>
              <a:t> once class weights are removed and is far cheaper to run.</a:t>
            </a:r>
          </a:p>
          <a:p>
            <a:pPr algn="l" marL="265430" indent="-265430">
              <a:spcAft>
                <a:spcPts val="800"/>
              </a:spcAft>
              <a:buChar char="•"/>
            </a:pPr>
            <a:r>
              <a:rPr sz="1900" b="0">
                <a:solidFill>
                  <a:srgbClr val="1F2937"/>
                </a:solidFill>
                <a:latin typeface="Arial"/>
              </a:rPr>
              <a:t>A </a:t>
            </a:r>
            <a:r>
              <a:rPr sz="1900" b="1">
                <a:solidFill>
                  <a:srgbClr val="1F2937"/>
                </a:solidFill>
                <a:latin typeface="Arial"/>
              </a:rPr>
              <a:t>similarity floor</a:t>
            </a:r>
            <a:r>
              <a:rPr sz="1900" b="0">
                <a:solidFill>
                  <a:srgbClr val="1F2937"/>
                </a:solidFill>
                <a:latin typeface="Arial"/>
              </a:rPr>
              <a:t> makes question answering decline unsupported questions instead of guessing.</a:t>
            </a:r>
          </a:p>
          <a:p>
            <a:pPr algn="l" marL="265430" indent="-265430">
              <a:spcAft>
                <a:spcPts val="600"/>
              </a:spcAft>
              <a:buChar char="•"/>
            </a:pPr>
            <a:r>
              <a:rPr sz="1900" b="0">
                <a:solidFill>
                  <a:srgbClr val="1F2937"/>
                </a:solidFill>
                <a:latin typeface="Arial"/>
              </a:rPr>
              <a:t>Results, limits and fixes are reported </a:t>
            </a:r>
            <a:r>
              <a:rPr sz="1900" b="1">
                <a:solidFill>
                  <a:srgbClr val="1F2937"/>
                </a:solidFill>
                <a:latin typeface="Arial"/>
              </a:rPr>
              <a:t>honestly</a:t>
            </a:r>
            <a:r>
              <a:rPr sz="1900" b="0">
                <a:solidFill>
                  <a:srgbClr val="1F2937"/>
                </a:solidFill>
                <a:latin typeface="Arial"/>
              </a:rPr>
              <a:t>, with confidence intervals and an ablation.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82296"/>
          </a:xfrm>
          <a:prstGeom prst="rect">
            <a:avLst/>
          </a:prstGeom>
          <a:solidFill>
            <a:srgbClr val="E86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10881360" cy="1280160"/>
          </a:xfrm>
          <a:prstGeom prst="rect">
            <a:avLst/>
          </a:prstGeom>
          <a:noFill/>
        </p:spPr>
        <p:txBody>
          <a:bodyPr wrap="square" lIns="73152" rIns="73152" tIns="27432" bIns="27432" anchor="t">
            <a:spAutoFit/>
          </a:bodyPr>
          <a:lstStyle/>
          <a:p>
            <a:pPr algn="l">
              <a:spcAft>
                <a:spcPts val="0"/>
              </a:spcAft>
            </a:pPr>
            <a:r>
              <a:rPr sz="6400" b="1">
                <a:solidFill>
                  <a:srgbClr val="FFFFFF"/>
                </a:solidFill>
                <a:latin typeface="Arial"/>
              </a:rPr>
              <a:t>Thank you</a:t>
            </a:r>
          </a:p>
        </p:txBody>
      </p:sp>
      <p:sp>
        <p:nvSpPr>
          <p:cNvPr id="5" name="TextBox 4"/>
          <p:cNvSpPr txBox="1"/>
          <p:nvPr/>
        </p:nvSpPr>
        <p:spPr>
          <a:xfrm>
            <a:off x="640080" y="2468880"/>
            <a:ext cx="10881360" cy="822960"/>
          </a:xfrm>
          <a:prstGeom prst="rect">
            <a:avLst/>
          </a:prstGeom>
          <a:noFill/>
        </p:spPr>
        <p:txBody>
          <a:bodyPr wrap="square" lIns="73152" rIns="73152" tIns="27432" bIns="27432" anchor="t">
            <a:spAutoFit/>
          </a:bodyPr>
          <a:lstStyle/>
          <a:p>
            <a:pPr algn="l">
              <a:spcAft>
                <a:spcPts val="0"/>
              </a:spcAft>
            </a:pPr>
            <a:r>
              <a:rPr sz="3400" b="0">
                <a:solidFill>
                  <a:srgbClr val="FFB48F"/>
                </a:solidFill>
                <a:latin typeface="Arial"/>
              </a:rPr>
              <a:t>Questions?</a:t>
            </a:r>
          </a:p>
        </p:txBody>
      </p:sp>
      <p:sp>
        <p:nvSpPr>
          <p:cNvPr id="6" name="TextBox 5"/>
          <p:cNvSpPr txBox="1"/>
          <p:nvPr/>
        </p:nvSpPr>
        <p:spPr>
          <a:xfrm>
            <a:off x="640080" y="3291840"/>
            <a:ext cx="10881360" cy="548640"/>
          </a:xfrm>
          <a:prstGeom prst="rect">
            <a:avLst/>
          </a:prstGeom>
          <a:noFill/>
        </p:spPr>
        <p:txBody>
          <a:bodyPr wrap="square" lIns="73152" rIns="73152" tIns="27432" bIns="27432" anchor="t">
            <a:spAutoFit/>
          </a:bodyPr>
          <a:lstStyle/>
          <a:p>
            <a:pPr algn="l">
              <a:spcAft>
                <a:spcPts val="0"/>
              </a:spcAft>
            </a:pPr>
            <a:r>
              <a:rPr sz="2000" b="0">
                <a:solidFill>
                  <a:srgbClr val="DBE3F3"/>
                </a:solidFill>
                <a:latin typeface="Arial"/>
              </a:rPr>
              <a:t>ReviewIQ: AI-Based Product Review Intelligence and Consumer Insight System</a:t>
            </a:r>
          </a:p>
        </p:txBody>
      </p:sp>
      <p:sp>
        <p:nvSpPr>
          <p:cNvPr id="7" name="TextBox 6"/>
          <p:cNvSpPr txBox="1"/>
          <p:nvPr/>
        </p:nvSpPr>
        <p:spPr>
          <a:xfrm>
            <a:off x="640080" y="4846320"/>
            <a:ext cx="3291840" cy="365760"/>
          </a:xfrm>
          <a:prstGeom prst="rect">
            <a:avLst/>
          </a:prstGeom>
          <a:noFill/>
        </p:spPr>
        <p:txBody>
          <a:bodyPr wrap="square" lIns="73152" rIns="73152" tIns="27432" bIns="27432" anchor="ctr">
            <a:spAutoFit/>
          </a:bodyPr>
          <a:lstStyle/>
          <a:p>
            <a:pPr algn="l">
              <a:spcAft>
                <a:spcPts val="0"/>
              </a:spcAft>
            </a:pPr>
            <a:r>
              <a:rPr sz="1800" b="1">
                <a:solidFill>
                  <a:srgbClr val="FFFFFF"/>
                </a:solidFill>
                <a:latin typeface="Arial"/>
              </a:rPr>
              <a:t>Nidhi Bhawari</a:t>
            </a:r>
          </a:p>
        </p:txBody>
      </p:sp>
      <p:sp>
        <p:nvSpPr>
          <p:cNvPr id="8" name="TextBox 7"/>
          <p:cNvSpPr txBox="1"/>
          <p:nvPr/>
        </p:nvSpPr>
        <p:spPr>
          <a:xfrm>
            <a:off x="3840480" y="4846320"/>
            <a:ext cx="2377440" cy="365760"/>
          </a:xfrm>
          <a:prstGeom prst="rect">
            <a:avLst/>
          </a:prstGeom>
          <a:noFill/>
        </p:spPr>
        <p:txBody>
          <a:bodyPr wrap="square" lIns="73152" rIns="73152" tIns="27432" bIns="27432" anchor="ctr">
            <a:spAutoFit/>
          </a:bodyPr>
          <a:lstStyle/>
          <a:p>
            <a:pPr algn="l">
              <a:spcAft>
                <a:spcPts val="0"/>
              </a:spcAft>
            </a:pPr>
            <a:r>
              <a:rPr sz="1800" b="0">
                <a:solidFill>
                  <a:srgbClr val="C8D2E6"/>
                </a:solidFill>
                <a:latin typeface="Arial"/>
              </a:rPr>
              <a:t>23102A0006</a:t>
            </a:r>
          </a:p>
        </p:txBody>
      </p:sp>
      <p:sp>
        <p:nvSpPr>
          <p:cNvPr id="9" name="TextBox 8"/>
          <p:cNvSpPr txBox="1"/>
          <p:nvPr/>
        </p:nvSpPr>
        <p:spPr>
          <a:xfrm>
            <a:off x="640080" y="5212080"/>
            <a:ext cx="3291840" cy="365760"/>
          </a:xfrm>
          <a:prstGeom prst="rect">
            <a:avLst/>
          </a:prstGeom>
          <a:noFill/>
        </p:spPr>
        <p:txBody>
          <a:bodyPr wrap="square" lIns="73152" rIns="73152" tIns="27432" bIns="27432" anchor="ctr">
            <a:spAutoFit/>
          </a:bodyPr>
          <a:lstStyle/>
          <a:p>
            <a:pPr algn="l">
              <a:spcAft>
                <a:spcPts val="0"/>
              </a:spcAft>
            </a:pPr>
            <a:r>
              <a:rPr sz="1800" b="1">
                <a:solidFill>
                  <a:srgbClr val="FFFFFF"/>
                </a:solidFill>
                <a:latin typeface="Arial"/>
              </a:rPr>
              <a:t>Aarti Sakpal</a:t>
            </a:r>
          </a:p>
        </p:txBody>
      </p:sp>
      <p:sp>
        <p:nvSpPr>
          <p:cNvPr id="10" name="TextBox 9"/>
          <p:cNvSpPr txBox="1"/>
          <p:nvPr/>
        </p:nvSpPr>
        <p:spPr>
          <a:xfrm>
            <a:off x="3840480" y="5212080"/>
            <a:ext cx="2377440" cy="365760"/>
          </a:xfrm>
          <a:prstGeom prst="rect">
            <a:avLst/>
          </a:prstGeom>
          <a:noFill/>
        </p:spPr>
        <p:txBody>
          <a:bodyPr wrap="square" lIns="73152" rIns="73152" tIns="27432" bIns="27432" anchor="ctr">
            <a:spAutoFit/>
          </a:bodyPr>
          <a:lstStyle/>
          <a:p>
            <a:pPr algn="l">
              <a:spcAft>
                <a:spcPts val="0"/>
              </a:spcAft>
            </a:pPr>
            <a:r>
              <a:rPr sz="1800" b="0">
                <a:solidFill>
                  <a:srgbClr val="C8D2E6"/>
                </a:solidFill>
                <a:latin typeface="Arial"/>
              </a:rPr>
              <a:t>23102A0007</a:t>
            </a:r>
          </a:p>
        </p:txBody>
      </p:sp>
      <p:sp>
        <p:nvSpPr>
          <p:cNvPr id="11" name="TextBox 10"/>
          <p:cNvSpPr txBox="1"/>
          <p:nvPr/>
        </p:nvSpPr>
        <p:spPr>
          <a:xfrm>
            <a:off x="640080" y="5577840"/>
            <a:ext cx="3291840" cy="365760"/>
          </a:xfrm>
          <a:prstGeom prst="rect">
            <a:avLst/>
          </a:prstGeom>
          <a:noFill/>
        </p:spPr>
        <p:txBody>
          <a:bodyPr wrap="square" lIns="73152" rIns="73152" tIns="27432" bIns="27432" anchor="ctr">
            <a:spAutoFit/>
          </a:bodyPr>
          <a:lstStyle/>
          <a:p>
            <a:pPr algn="l">
              <a:spcAft>
                <a:spcPts val="0"/>
              </a:spcAft>
            </a:pPr>
            <a:r>
              <a:rPr sz="1800" b="1">
                <a:solidFill>
                  <a:srgbClr val="FFFFFF"/>
                </a:solidFill>
                <a:latin typeface="Arial"/>
              </a:rPr>
              <a:t>Gayatri Patil</a:t>
            </a:r>
          </a:p>
        </p:txBody>
      </p:sp>
      <p:sp>
        <p:nvSpPr>
          <p:cNvPr id="12" name="TextBox 11"/>
          <p:cNvSpPr txBox="1"/>
          <p:nvPr/>
        </p:nvSpPr>
        <p:spPr>
          <a:xfrm>
            <a:off x="3840480" y="5577840"/>
            <a:ext cx="2377440" cy="365760"/>
          </a:xfrm>
          <a:prstGeom prst="rect">
            <a:avLst/>
          </a:prstGeom>
          <a:noFill/>
        </p:spPr>
        <p:txBody>
          <a:bodyPr wrap="square" lIns="73152" rIns="73152" tIns="27432" bIns="27432" anchor="ctr">
            <a:spAutoFit/>
          </a:bodyPr>
          <a:lstStyle/>
          <a:p>
            <a:pPr algn="l">
              <a:spcAft>
                <a:spcPts val="0"/>
              </a:spcAft>
            </a:pPr>
            <a:r>
              <a:rPr sz="1800" b="0">
                <a:solidFill>
                  <a:srgbClr val="C8D2E6"/>
                </a:solidFill>
                <a:latin typeface="Arial"/>
              </a:rPr>
              <a:t>23102A0016</a:t>
            </a:r>
          </a:p>
        </p:txBody>
      </p:sp>
      <p:sp>
        <p:nvSpPr>
          <p:cNvPr id="13" name="TextBox 12"/>
          <p:cNvSpPr txBox="1"/>
          <p:nvPr/>
        </p:nvSpPr>
        <p:spPr>
          <a:xfrm>
            <a:off x="640080" y="5943600"/>
            <a:ext cx="3291840" cy="365760"/>
          </a:xfrm>
          <a:prstGeom prst="rect">
            <a:avLst/>
          </a:prstGeom>
          <a:noFill/>
        </p:spPr>
        <p:txBody>
          <a:bodyPr wrap="square" lIns="73152" rIns="73152" tIns="27432" bIns="27432" anchor="ctr">
            <a:spAutoFit/>
          </a:bodyPr>
          <a:lstStyle/>
          <a:p>
            <a:pPr algn="l">
              <a:spcAft>
                <a:spcPts val="0"/>
              </a:spcAft>
            </a:pPr>
            <a:r>
              <a:rPr sz="1800" b="1">
                <a:solidFill>
                  <a:srgbClr val="FFFFFF"/>
                </a:solidFill>
                <a:latin typeface="Arial"/>
              </a:rPr>
              <a:t>Prachi Wakode</a:t>
            </a:r>
          </a:p>
        </p:txBody>
      </p:sp>
      <p:sp>
        <p:nvSpPr>
          <p:cNvPr id="14" name="TextBox 13"/>
          <p:cNvSpPr txBox="1"/>
          <p:nvPr/>
        </p:nvSpPr>
        <p:spPr>
          <a:xfrm>
            <a:off x="3840480" y="5943600"/>
            <a:ext cx="2377440" cy="365760"/>
          </a:xfrm>
          <a:prstGeom prst="rect">
            <a:avLst/>
          </a:prstGeom>
          <a:noFill/>
        </p:spPr>
        <p:txBody>
          <a:bodyPr wrap="square" lIns="73152" rIns="73152" tIns="27432" bIns="27432" anchor="ctr">
            <a:spAutoFit/>
          </a:bodyPr>
          <a:lstStyle/>
          <a:p>
            <a:pPr algn="l">
              <a:spcAft>
                <a:spcPts val="0"/>
              </a:spcAft>
            </a:pPr>
            <a:r>
              <a:rPr sz="1800" b="0">
                <a:solidFill>
                  <a:srgbClr val="C8D2E6"/>
                </a:solidFill>
                <a:latin typeface="Arial"/>
              </a:rPr>
              <a:t>23102A0020</a:t>
            </a:r>
          </a:p>
        </p:txBody>
      </p:sp>
      <p:sp>
        <p:nvSpPr>
          <p:cNvPr id="15" name="TextBox 14"/>
          <p:cNvSpPr txBox="1"/>
          <p:nvPr/>
        </p:nvSpPr>
        <p:spPr>
          <a:xfrm>
            <a:off x="7498079" y="4846320"/>
            <a:ext cx="4389120" cy="457200"/>
          </a:xfrm>
          <a:prstGeom prst="rect">
            <a:avLst/>
          </a:prstGeom>
          <a:noFill/>
        </p:spPr>
        <p:txBody>
          <a:bodyPr wrap="square" lIns="73152" rIns="73152" tIns="27432" bIns="27432" anchor="ctr">
            <a:spAutoFit/>
          </a:bodyPr>
          <a:lstStyle/>
          <a:p>
            <a:pPr algn="l">
              <a:spcAft>
                <a:spcPts val="0"/>
              </a:spcAft>
            </a:pPr>
            <a:r>
              <a:rPr sz="2200" b="1">
                <a:solidFill>
                  <a:srgbClr val="FFFFFF"/>
                </a:solidFill>
                <a:latin typeface="Arial"/>
              </a:rPr>
              <a:t>Prof. Sneha Annappanavar</a:t>
            </a:r>
          </a:p>
        </p:txBody>
      </p:sp>
      <p:sp>
        <p:nvSpPr>
          <p:cNvPr id="16" name="TextBox 15"/>
          <p:cNvSpPr txBox="1"/>
          <p:nvPr/>
        </p:nvSpPr>
        <p:spPr>
          <a:xfrm>
            <a:off x="7498079" y="5303520"/>
            <a:ext cx="4389120" cy="365760"/>
          </a:xfrm>
          <a:prstGeom prst="rect">
            <a:avLst/>
          </a:prstGeom>
          <a:noFill/>
        </p:spPr>
        <p:txBody>
          <a:bodyPr wrap="square" lIns="73152" rIns="73152" tIns="27432" bIns="27432" anchor="t">
            <a:spAutoFit/>
          </a:bodyPr>
          <a:lstStyle/>
          <a:p>
            <a:pPr algn="l">
              <a:spcAft>
                <a:spcPts val="0"/>
              </a:spcAft>
            </a:pPr>
            <a:r>
              <a:rPr sz="1500" b="0">
                <a:solidFill>
                  <a:srgbClr val="C8D2E6"/>
                </a:solidFill>
                <a:latin typeface="Arial"/>
              </a:rPr>
              <a:t>Project Guide</a:t>
            </a:r>
          </a:p>
        </p:txBody>
      </p:sp>
      <p:sp>
        <p:nvSpPr>
          <p:cNvPr id="17" name="TextBox 16"/>
          <p:cNvSpPr txBox="1"/>
          <p:nvPr/>
        </p:nvSpPr>
        <p:spPr>
          <a:xfrm>
            <a:off x="7498079" y="5760720"/>
            <a:ext cx="4389120" cy="365760"/>
          </a:xfrm>
          <a:prstGeom prst="rect">
            <a:avLst/>
          </a:prstGeom>
          <a:noFill/>
        </p:spPr>
        <p:txBody>
          <a:bodyPr wrap="square" lIns="73152" rIns="73152" tIns="27432" bIns="27432" anchor="t">
            <a:spAutoFit/>
          </a:bodyPr>
          <a:lstStyle/>
          <a:p>
            <a:pPr algn="l">
              <a:spcAft>
                <a:spcPts val="0"/>
              </a:spcAft>
            </a:pPr>
            <a:r>
              <a:rPr sz="1600" b="0">
                <a:solidFill>
                  <a:srgbClr val="C8D2E6"/>
                </a:solidFill>
                <a:latin typeface="Arial"/>
              </a:rPr>
              <a:t>Vidyalankar Institute of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ReviewIQ: AI-Based Product Review Intelligence and Consumer Insight System</dc:title>
  <dc:subject>Project presentation, Vidyalankar Institute of Technology. Guide: Prof. Sneha Annappanavar</dc:subject>
  <dc:creator>Nidhi Bhawari, Aarti Sakpal, Gayatri Patil, Prachi Wakode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